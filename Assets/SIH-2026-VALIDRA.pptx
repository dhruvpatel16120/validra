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1DDB09A3-46EE-4FC2-9951-C45A2BB2D505}">
          <p14:sldIdLst>
            <p14:sldId id="256"/>
            <p14:sldId id="257"/>
            <p14:sldId id="258"/>
            <p14:sldId id="259"/>
          </p14:sldIdLst>
        </p14:section>
        <p14:section name="Untitled Section" id="{5DC1EB70-739F-496E-9C47-30469691258B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569" autoAdjust="0"/>
  </p:normalViewPr>
  <p:slideViewPr>
    <p:cSldViewPr>
      <p:cViewPr varScale="1">
        <p:scale>
          <a:sx n="107" d="100"/>
          <a:sy n="107" d="100"/>
        </p:scale>
        <p:origin x="71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1ABF4-2A27-4B4A-B42C-D07480745A19}" type="datetimeFigureOut">
              <a:rPr lang="en-IN" smtClean="0"/>
              <a:t>17-09-2026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75297-6F1F-46C5-99ED-6568FE697B1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7684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75297-6F1F-46C5-99ED-6568FE697B18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798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75297-6F1F-46C5-99ED-6568FE697B18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1583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F38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Template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F38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Template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F38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Template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F38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Template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Template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78440" y="91439"/>
            <a:ext cx="1463040" cy="51206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20039" y="146304"/>
            <a:ext cx="1600200" cy="384175"/>
          </a:xfrm>
          <a:custGeom>
            <a:avLst/>
            <a:gdLst/>
            <a:ahLst/>
            <a:cxnLst/>
            <a:rect l="l" t="t" r="r" b="b"/>
            <a:pathLst>
              <a:path w="1600200" h="384175">
                <a:moveTo>
                  <a:pt x="1408176" y="0"/>
                </a:moveTo>
                <a:lnTo>
                  <a:pt x="192023" y="0"/>
                </a:lnTo>
                <a:lnTo>
                  <a:pt x="148218" y="5108"/>
                </a:lnTo>
                <a:lnTo>
                  <a:pt x="107887" y="19641"/>
                </a:lnTo>
                <a:lnTo>
                  <a:pt x="72221" y="42409"/>
                </a:lnTo>
                <a:lnTo>
                  <a:pt x="42409" y="72221"/>
                </a:lnTo>
                <a:lnTo>
                  <a:pt x="19641" y="107887"/>
                </a:lnTo>
                <a:lnTo>
                  <a:pt x="5108" y="148218"/>
                </a:lnTo>
                <a:lnTo>
                  <a:pt x="0" y="192024"/>
                </a:lnTo>
                <a:lnTo>
                  <a:pt x="5108" y="235829"/>
                </a:lnTo>
                <a:lnTo>
                  <a:pt x="19641" y="276160"/>
                </a:lnTo>
                <a:lnTo>
                  <a:pt x="42409" y="311826"/>
                </a:lnTo>
                <a:lnTo>
                  <a:pt x="72221" y="341638"/>
                </a:lnTo>
                <a:lnTo>
                  <a:pt x="107887" y="364406"/>
                </a:lnTo>
                <a:lnTo>
                  <a:pt x="148218" y="378939"/>
                </a:lnTo>
                <a:lnTo>
                  <a:pt x="192024" y="384048"/>
                </a:lnTo>
                <a:lnTo>
                  <a:pt x="1408176" y="384048"/>
                </a:lnTo>
                <a:lnTo>
                  <a:pt x="1451981" y="378939"/>
                </a:lnTo>
                <a:lnTo>
                  <a:pt x="1492312" y="364406"/>
                </a:lnTo>
                <a:lnTo>
                  <a:pt x="1527978" y="341638"/>
                </a:lnTo>
                <a:lnTo>
                  <a:pt x="1557790" y="311826"/>
                </a:lnTo>
                <a:lnTo>
                  <a:pt x="1580558" y="276160"/>
                </a:lnTo>
                <a:lnTo>
                  <a:pt x="1595091" y="235829"/>
                </a:lnTo>
                <a:lnTo>
                  <a:pt x="1600200" y="192024"/>
                </a:lnTo>
                <a:lnTo>
                  <a:pt x="1595091" y="148218"/>
                </a:lnTo>
                <a:lnTo>
                  <a:pt x="1580558" y="107887"/>
                </a:lnTo>
                <a:lnTo>
                  <a:pt x="1557790" y="72221"/>
                </a:lnTo>
                <a:lnTo>
                  <a:pt x="1527978" y="42409"/>
                </a:lnTo>
                <a:lnTo>
                  <a:pt x="1492312" y="19641"/>
                </a:lnTo>
                <a:lnTo>
                  <a:pt x="1451981" y="5108"/>
                </a:lnTo>
                <a:lnTo>
                  <a:pt x="1408176" y="0"/>
                </a:lnTo>
                <a:close/>
              </a:path>
            </a:pathLst>
          </a:custGeom>
          <a:solidFill>
            <a:srgbClr val="1F386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320039" y="146304"/>
            <a:ext cx="1600200" cy="384175"/>
          </a:xfrm>
          <a:custGeom>
            <a:avLst/>
            <a:gdLst/>
            <a:ahLst/>
            <a:cxnLst/>
            <a:rect l="l" t="t" r="r" b="b"/>
            <a:pathLst>
              <a:path w="1600200" h="384175">
                <a:moveTo>
                  <a:pt x="0" y="192024"/>
                </a:moveTo>
                <a:lnTo>
                  <a:pt x="5108" y="148218"/>
                </a:lnTo>
                <a:lnTo>
                  <a:pt x="19641" y="107887"/>
                </a:lnTo>
                <a:lnTo>
                  <a:pt x="42409" y="72221"/>
                </a:lnTo>
                <a:lnTo>
                  <a:pt x="72221" y="42409"/>
                </a:lnTo>
                <a:lnTo>
                  <a:pt x="107887" y="19641"/>
                </a:lnTo>
                <a:lnTo>
                  <a:pt x="148218" y="5108"/>
                </a:lnTo>
                <a:lnTo>
                  <a:pt x="192023" y="0"/>
                </a:lnTo>
                <a:lnTo>
                  <a:pt x="1408176" y="0"/>
                </a:lnTo>
                <a:lnTo>
                  <a:pt x="1451981" y="5108"/>
                </a:lnTo>
                <a:lnTo>
                  <a:pt x="1492312" y="19641"/>
                </a:lnTo>
                <a:lnTo>
                  <a:pt x="1527978" y="42409"/>
                </a:lnTo>
                <a:lnTo>
                  <a:pt x="1557790" y="72221"/>
                </a:lnTo>
                <a:lnTo>
                  <a:pt x="1580558" y="107887"/>
                </a:lnTo>
                <a:lnTo>
                  <a:pt x="1595091" y="148218"/>
                </a:lnTo>
                <a:lnTo>
                  <a:pt x="1600200" y="192024"/>
                </a:lnTo>
                <a:lnTo>
                  <a:pt x="1595091" y="235829"/>
                </a:lnTo>
                <a:lnTo>
                  <a:pt x="1580558" y="276160"/>
                </a:lnTo>
                <a:lnTo>
                  <a:pt x="1557790" y="311826"/>
                </a:lnTo>
                <a:lnTo>
                  <a:pt x="1527978" y="341638"/>
                </a:lnTo>
                <a:lnTo>
                  <a:pt x="1492312" y="364406"/>
                </a:lnTo>
                <a:lnTo>
                  <a:pt x="1451981" y="378939"/>
                </a:lnTo>
                <a:lnTo>
                  <a:pt x="1408176" y="384048"/>
                </a:lnTo>
                <a:lnTo>
                  <a:pt x="192024" y="384048"/>
                </a:lnTo>
                <a:lnTo>
                  <a:pt x="148218" y="378939"/>
                </a:lnTo>
                <a:lnTo>
                  <a:pt x="107887" y="364406"/>
                </a:lnTo>
                <a:lnTo>
                  <a:pt x="72221" y="341638"/>
                </a:lnTo>
                <a:lnTo>
                  <a:pt x="42409" y="311826"/>
                </a:lnTo>
                <a:lnTo>
                  <a:pt x="19641" y="276160"/>
                </a:lnTo>
                <a:lnTo>
                  <a:pt x="5108" y="235829"/>
                </a:lnTo>
                <a:lnTo>
                  <a:pt x="0" y="192024"/>
                </a:lnTo>
                <a:close/>
              </a:path>
            </a:pathLst>
          </a:custGeom>
          <a:ln w="15874">
            <a:solidFill>
              <a:srgbClr val="E7720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46861" y="77215"/>
            <a:ext cx="4769484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F38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4524" y="3148330"/>
            <a:ext cx="6142355" cy="2192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26779" y="6558863"/>
            <a:ext cx="4505325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Template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44499" y="6558863"/>
            <a:ext cx="183896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08907" y="6553606"/>
            <a:ext cx="1663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audio" Target="../media/audio2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3.wav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126" cy="6400800"/>
            <a:chOff x="0" y="0"/>
            <a:chExt cx="12192126" cy="6400800"/>
          </a:xfrm>
        </p:grpSpPr>
        <p:sp>
          <p:nvSpPr>
            <p:cNvPr id="3" name="object 3"/>
            <p:cNvSpPr/>
            <p:nvPr/>
          </p:nvSpPr>
          <p:spPr>
            <a:xfrm>
              <a:off x="256031" y="0"/>
              <a:ext cx="11936095" cy="6400800"/>
            </a:xfrm>
            <a:custGeom>
              <a:avLst/>
              <a:gdLst/>
              <a:ahLst/>
              <a:cxnLst/>
              <a:rect l="l" t="t" r="r" b="b"/>
              <a:pathLst>
                <a:path w="11936095" h="6400800">
                  <a:moveTo>
                    <a:pt x="0" y="6400800"/>
                  </a:moveTo>
                  <a:lnTo>
                    <a:pt x="11935662" y="6400800"/>
                  </a:lnTo>
                  <a:lnTo>
                    <a:pt x="11935662" y="0"/>
                  </a:lnTo>
                  <a:lnTo>
                    <a:pt x="0" y="0"/>
                  </a:lnTo>
                  <a:lnTo>
                    <a:pt x="0" y="6400800"/>
                  </a:lnTo>
                  <a:close/>
                </a:path>
              </a:pathLst>
            </a:custGeom>
            <a:solidFill>
              <a:srgbClr val="FAFCF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03719" y="1234439"/>
              <a:ext cx="3657600" cy="48006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286000"/>
              <a:ext cx="256540" cy="2286000"/>
            </a:xfrm>
            <a:custGeom>
              <a:avLst/>
              <a:gdLst/>
              <a:ahLst/>
              <a:cxnLst/>
              <a:rect l="l" t="t" r="r" b="b"/>
              <a:pathLst>
                <a:path w="256540" h="2286000">
                  <a:moveTo>
                    <a:pt x="0" y="2286000"/>
                  </a:moveTo>
                  <a:lnTo>
                    <a:pt x="256032" y="2286000"/>
                  </a:lnTo>
                  <a:lnTo>
                    <a:pt x="256032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256540" cy="2286000"/>
            </a:xfrm>
            <a:custGeom>
              <a:avLst/>
              <a:gdLst/>
              <a:ahLst/>
              <a:cxnLst/>
              <a:rect l="l" t="t" r="r" b="b"/>
              <a:pathLst>
                <a:path w="256540" h="2286000">
                  <a:moveTo>
                    <a:pt x="256032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56032" y="2286000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572000"/>
              <a:ext cx="256540" cy="1828800"/>
            </a:xfrm>
            <a:custGeom>
              <a:avLst/>
              <a:gdLst/>
              <a:ahLst/>
              <a:cxnLst/>
              <a:rect l="l" t="t" r="r" b="b"/>
              <a:pathLst>
                <a:path w="256540" h="1828800">
                  <a:moveTo>
                    <a:pt x="0" y="1828800"/>
                  </a:moveTo>
                  <a:lnTo>
                    <a:pt x="256032" y="1828800"/>
                  </a:lnTo>
                  <a:lnTo>
                    <a:pt x="256032" y="0"/>
                  </a:lnTo>
                  <a:lnTo>
                    <a:pt x="0" y="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764539" y="557274"/>
            <a:ext cx="53371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SMART</a:t>
            </a:r>
            <a:r>
              <a:rPr spc="340" dirty="0"/>
              <a:t> </a:t>
            </a:r>
            <a:r>
              <a:rPr dirty="0"/>
              <a:t>INDIA</a:t>
            </a:r>
            <a:r>
              <a:rPr spc="345" dirty="0"/>
              <a:t> </a:t>
            </a:r>
            <a:r>
              <a:rPr dirty="0"/>
              <a:t>HACKATHON</a:t>
            </a:r>
            <a:r>
              <a:rPr spc="340" dirty="0"/>
              <a:t> </a:t>
            </a:r>
            <a:r>
              <a:rPr spc="-20" dirty="0"/>
              <a:t>2026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718483" y="1179574"/>
            <a:ext cx="2161540" cy="360680"/>
            <a:chOff x="706881" y="1182369"/>
            <a:chExt cx="2161540" cy="360680"/>
          </a:xfrm>
        </p:grpSpPr>
        <p:sp>
          <p:nvSpPr>
            <p:cNvPr id="11" name="object 11"/>
            <p:cNvSpPr/>
            <p:nvPr/>
          </p:nvSpPr>
          <p:spPr>
            <a:xfrm>
              <a:off x="713231" y="1188719"/>
              <a:ext cx="2148840" cy="347980"/>
            </a:xfrm>
            <a:custGeom>
              <a:avLst/>
              <a:gdLst/>
              <a:ahLst/>
              <a:cxnLst/>
              <a:rect l="l" t="t" r="r" b="b"/>
              <a:pathLst>
                <a:path w="2148840" h="347980">
                  <a:moveTo>
                    <a:pt x="1975104" y="0"/>
                  </a:moveTo>
                  <a:lnTo>
                    <a:pt x="173735" y="0"/>
                  </a:lnTo>
                  <a:lnTo>
                    <a:pt x="127773" y="6250"/>
                  </a:lnTo>
                  <a:lnTo>
                    <a:pt x="86333" y="23862"/>
                  </a:lnTo>
                  <a:lnTo>
                    <a:pt x="51127" y="51127"/>
                  </a:lnTo>
                  <a:lnTo>
                    <a:pt x="23862" y="86333"/>
                  </a:lnTo>
                  <a:lnTo>
                    <a:pt x="6250" y="127773"/>
                  </a:lnTo>
                  <a:lnTo>
                    <a:pt x="0" y="173735"/>
                  </a:lnTo>
                  <a:lnTo>
                    <a:pt x="6250" y="219698"/>
                  </a:lnTo>
                  <a:lnTo>
                    <a:pt x="23862" y="261138"/>
                  </a:lnTo>
                  <a:lnTo>
                    <a:pt x="51127" y="296344"/>
                  </a:lnTo>
                  <a:lnTo>
                    <a:pt x="86333" y="323609"/>
                  </a:lnTo>
                  <a:lnTo>
                    <a:pt x="127773" y="341221"/>
                  </a:lnTo>
                  <a:lnTo>
                    <a:pt x="173735" y="347472"/>
                  </a:lnTo>
                  <a:lnTo>
                    <a:pt x="1975104" y="347472"/>
                  </a:lnTo>
                  <a:lnTo>
                    <a:pt x="2021066" y="341221"/>
                  </a:lnTo>
                  <a:lnTo>
                    <a:pt x="2062506" y="323609"/>
                  </a:lnTo>
                  <a:lnTo>
                    <a:pt x="2097712" y="296344"/>
                  </a:lnTo>
                  <a:lnTo>
                    <a:pt x="2124977" y="261138"/>
                  </a:lnTo>
                  <a:lnTo>
                    <a:pt x="2142589" y="219698"/>
                  </a:lnTo>
                  <a:lnTo>
                    <a:pt x="2148840" y="173735"/>
                  </a:lnTo>
                  <a:lnTo>
                    <a:pt x="2142589" y="127773"/>
                  </a:lnTo>
                  <a:lnTo>
                    <a:pt x="2124977" y="86333"/>
                  </a:lnTo>
                  <a:lnTo>
                    <a:pt x="2097712" y="51127"/>
                  </a:lnTo>
                  <a:lnTo>
                    <a:pt x="2062506" y="23862"/>
                  </a:lnTo>
                  <a:lnTo>
                    <a:pt x="2021066" y="6250"/>
                  </a:lnTo>
                  <a:lnTo>
                    <a:pt x="1975104" y="0"/>
                  </a:lnTo>
                  <a:close/>
                </a:path>
              </a:pathLst>
            </a:custGeom>
            <a:solidFill>
              <a:srgbClr val="EDF2F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713231" y="1188719"/>
              <a:ext cx="2148840" cy="347980"/>
            </a:xfrm>
            <a:custGeom>
              <a:avLst/>
              <a:gdLst/>
              <a:ahLst/>
              <a:cxnLst/>
              <a:rect l="l" t="t" r="r" b="b"/>
              <a:pathLst>
                <a:path w="2148840" h="347980">
                  <a:moveTo>
                    <a:pt x="0" y="173735"/>
                  </a:moveTo>
                  <a:lnTo>
                    <a:pt x="6250" y="127773"/>
                  </a:lnTo>
                  <a:lnTo>
                    <a:pt x="23862" y="86333"/>
                  </a:lnTo>
                  <a:lnTo>
                    <a:pt x="51127" y="51127"/>
                  </a:lnTo>
                  <a:lnTo>
                    <a:pt x="86333" y="23862"/>
                  </a:lnTo>
                  <a:lnTo>
                    <a:pt x="127773" y="6250"/>
                  </a:lnTo>
                  <a:lnTo>
                    <a:pt x="173735" y="0"/>
                  </a:lnTo>
                  <a:lnTo>
                    <a:pt x="1975104" y="0"/>
                  </a:lnTo>
                  <a:lnTo>
                    <a:pt x="2021066" y="6250"/>
                  </a:lnTo>
                  <a:lnTo>
                    <a:pt x="2062506" y="23862"/>
                  </a:lnTo>
                  <a:lnTo>
                    <a:pt x="2097712" y="51127"/>
                  </a:lnTo>
                  <a:lnTo>
                    <a:pt x="2124977" y="86333"/>
                  </a:lnTo>
                  <a:lnTo>
                    <a:pt x="2142589" y="127773"/>
                  </a:lnTo>
                  <a:lnTo>
                    <a:pt x="2148840" y="173735"/>
                  </a:lnTo>
                  <a:lnTo>
                    <a:pt x="2142589" y="219698"/>
                  </a:lnTo>
                  <a:lnTo>
                    <a:pt x="2124977" y="261138"/>
                  </a:lnTo>
                  <a:lnTo>
                    <a:pt x="2097712" y="296344"/>
                  </a:lnTo>
                  <a:lnTo>
                    <a:pt x="2062506" y="323609"/>
                  </a:lnTo>
                  <a:lnTo>
                    <a:pt x="2021066" y="341221"/>
                  </a:lnTo>
                  <a:lnTo>
                    <a:pt x="1975104" y="347472"/>
                  </a:lnTo>
                  <a:lnTo>
                    <a:pt x="173735" y="347472"/>
                  </a:lnTo>
                  <a:lnTo>
                    <a:pt x="127773" y="341221"/>
                  </a:lnTo>
                  <a:lnTo>
                    <a:pt x="86333" y="323609"/>
                  </a:lnTo>
                  <a:lnTo>
                    <a:pt x="51127" y="296344"/>
                  </a:lnTo>
                  <a:lnTo>
                    <a:pt x="23862" y="261138"/>
                  </a:lnTo>
                  <a:lnTo>
                    <a:pt x="6250" y="219698"/>
                  </a:lnTo>
                  <a:lnTo>
                    <a:pt x="0" y="173735"/>
                  </a:lnTo>
                  <a:close/>
                </a:path>
              </a:pathLst>
            </a:custGeom>
            <a:ln w="1269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49705" y="1256994"/>
            <a:ext cx="12636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75" dirty="0">
                <a:solidFill>
                  <a:srgbClr val="0070BF"/>
                </a:solidFill>
                <a:latin typeface="Calibri"/>
                <a:cs typeface="Calibri"/>
              </a:rPr>
              <a:t>IDEA</a:t>
            </a:r>
            <a:r>
              <a:rPr sz="1100" b="1" spc="200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100" b="1" spc="75" dirty="0">
                <a:solidFill>
                  <a:srgbClr val="0070BF"/>
                </a:solidFill>
                <a:latin typeface="Calibri"/>
                <a:cs typeface="Calibri"/>
              </a:rPr>
              <a:t>SUBMISSION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4539" y="1596440"/>
            <a:ext cx="317436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400" b="1" spc="140" dirty="0">
                <a:solidFill>
                  <a:srgbClr val="1F4D79"/>
                </a:solidFill>
                <a:latin typeface="Calibri"/>
                <a:cs typeface="Calibri"/>
              </a:rPr>
              <a:t>VALIDRA</a:t>
            </a:r>
            <a:endParaRPr sz="64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0259" y="2649728"/>
            <a:ext cx="48361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10" dirty="0">
                <a:solidFill>
                  <a:srgbClr val="44536A"/>
                </a:solidFill>
                <a:latin typeface="Calibri"/>
                <a:cs typeface="Calibri"/>
              </a:rPr>
              <a:t>Evidence-</a:t>
            </a:r>
            <a:r>
              <a:rPr sz="1500" i="1" dirty="0">
                <a:solidFill>
                  <a:srgbClr val="44536A"/>
                </a:solidFill>
                <a:latin typeface="Calibri"/>
                <a:cs typeface="Calibri"/>
              </a:rPr>
              <a:t>first</a:t>
            </a:r>
            <a:r>
              <a:rPr sz="1500" i="1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44536A"/>
                </a:solidFill>
                <a:latin typeface="Calibri"/>
                <a:cs typeface="Calibri"/>
              </a:rPr>
              <a:t>AI</a:t>
            </a:r>
            <a:r>
              <a:rPr sz="1500" i="1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44536A"/>
                </a:solidFill>
                <a:latin typeface="Calibri"/>
                <a:cs typeface="Calibri"/>
              </a:rPr>
              <a:t>compliance</a:t>
            </a:r>
            <a:r>
              <a:rPr sz="1500" i="1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44536A"/>
                </a:solidFill>
                <a:latin typeface="Calibri"/>
                <a:cs typeface="Calibri"/>
              </a:rPr>
              <a:t>engine</a:t>
            </a:r>
            <a:r>
              <a:rPr sz="1500" i="1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44536A"/>
                </a:solidFill>
                <a:latin typeface="Calibri"/>
                <a:cs typeface="Calibri"/>
              </a:rPr>
              <a:t>for</a:t>
            </a:r>
            <a:r>
              <a:rPr sz="1500" i="1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44536A"/>
                </a:solidFill>
                <a:latin typeface="Calibri"/>
                <a:cs typeface="Calibri"/>
              </a:rPr>
              <a:t>packaged</a:t>
            </a:r>
            <a:r>
              <a:rPr sz="1500" i="1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44536A"/>
                </a:solidFill>
                <a:latin typeface="Calibri"/>
                <a:cs typeface="Calibri"/>
              </a:rPr>
              <a:t>commodities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5799" y="3154679"/>
            <a:ext cx="6035040" cy="329565"/>
          </a:xfrm>
          <a:custGeom>
            <a:avLst/>
            <a:gdLst/>
            <a:ahLst/>
            <a:cxnLst/>
            <a:rect l="l" t="t" r="r" b="b"/>
            <a:pathLst>
              <a:path w="6035040" h="329564">
                <a:moveTo>
                  <a:pt x="6035039" y="0"/>
                </a:moveTo>
                <a:lnTo>
                  <a:pt x="0" y="0"/>
                </a:lnTo>
                <a:lnTo>
                  <a:pt x="0" y="329183"/>
                </a:lnTo>
                <a:lnTo>
                  <a:pt x="6035039" y="329183"/>
                </a:lnTo>
                <a:lnTo>
                  <a:pt x="6035039" y="0"/>
                </a:lnTo>
                <a:close/>
              </a:path>
            </a:pathLst>
          </a:custGeom>
          <a:solidFill>
            <a:srgbClr val="F4F7F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685799" y="4251959"/>
            <a:ext cx="6035040" cy="329565"/>
          </a:xfrm>
          <a:custGeom>
            <a:avLst/>
            <a:gdLst/>
            <a:ahLst/>
            <a:cxnLst/>
            <a:rect l="l" t="t" r="r" b="b"/>
            <a:pathLst>
              <a:path w="6035040" h="329564">
                <a:moveTo>
                  <a:pt x="6035039" y="0"/>
                </a:moveTo>
                <a:lnTo>
                  <a:pt x="0" y="0"/>
                </a:lnTo>
                <a:lnTo>
                  <a:pt x="0" y="329183"/>
                </a:lnTo>
                <a:lnTo>
                  <a:pt x="6035039" y="329183"/>
                </a:lnTo>
                <a:lnTo>
                  <a:pt x="6035039" y="0"/>
                </a:lnTo>
                <a:close/>
              </a:path>
            </a:pathLst>
          </a:custGeom>
          <a:solidFill>
            <a:srgbClr val="F4F7F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685799" y="5020055"/>
            <a:ext cx="6035040" cy="329565"/>
          </a:xfrm>
          <a:custGeom>
            <a:avLst/>
            <a:gdLst/>
            <a:ahLst/>
            <a:cxnLst/>
            <a:rect l="l" t="t" r="r" b="b"/>
            <a:pathLst>
              <a:path w="6035040" h="329564">
                <a:moveTo>
                  <a:pt x="6035039" y="0"/>
                </a:moveTo>
                <a:lnTo>
                  <a:pt x="0" y="0"/>
                </a:lnTo>
                <a:lnTo>
                  <a:pt x="0" y="329183"/>
                </a:lnTo>
                <a:lnTo>
                  <a:pt x="6035039" y="329183"/>
                </a:lnTo>
                <a:lnTo>
                  <a:pt x="6035039" y="0"/>
                </a:lnTo>
                <a:close/>
              </a:path>
            </a:pathLst>
          </a:custGeom>
          <a:solidFill>
            <a:srgbClr val="F4F7F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682624" y="3148330"/>
          <a:ext cx="6019165" cy="2192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Problem</a:t>
                      </a:r>
                      <a:r>
                        <a:rPr sz="1100" b="1" spc="-15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Statement</a:t>
                      </a:r>
                      <a:r>
                        <a:rPr sz="1100" b="1" spc="-15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57150">
                      <a:solidFill>
                        <a:srgbClr val="0070B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050" spc="-1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26034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4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21018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Problem</a:t>
                      </a:r>
                      <a:r>
                        <a:rPr sz="1100" b="1" spc="-15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Statement</a:t>
                      </a:r>
                      <a:r>
                        <a:rPr sz="1100" b="1" spc="-15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57150">
                      <a:solidFill>
                        <a:srgbClr val="E7720C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0665" marR="422275">
                        <a:lnSpc>
                          <a:spcPts val="1200"/>
                        </a:lnSpc>
                        <a:spcBef>
                          <a:spcPts val="994"/>
                        </a:spcBef>
                      </a:pP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check</a:t>
                      </a:r>
                      <a:r>
                        <a:rPr sz="1050" spc="-3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compliance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Packaged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Commodities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under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Legal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Metrology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(Packaged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Commodities)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Rules,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2011</a:t>
                      </a:r>
                      <a:r>
                        <a:rPr sz="1050" spc="-3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by </a:t>
                      </a:r>
                      <a:r>
                        <a:rPr sz="1050" spc="-1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scanning</a:t>
                      </a:r>
                      <a:r>
                        <a:rPr sz="1050" spc="-2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products,</a:t>
                      </a:r>
                      <a:r>
                        <a:rPr sz="1050" spc="-2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images</a:t>
                      </a:r>
                      <a:r>
                        <a:rPr sz="1050" spc="-2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050" spc="-2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labels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26364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100" b="1" spc="-10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Theme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L w="57150">
                      <a:solidFill>
                        <a:srgbClr val="0070BF"/>
                      </a:solidFill>
                      <a:prstDash val="solid"/>
                    </a:lnL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050" spc="-1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Miscellaneous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1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PS</a:t>
                      </a:r>
                      <a:r>
                        <a:rPr sz="1100" b="1" spc="-20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Category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102235" marB="0">
                    <a:lnL w="57150">
                      <a:solidFill>
                        <a:srgbClr val="0070B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50" spc="-1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Software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02235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060"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1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Team</a:t>
                      </a:r>
                      <a:r>
                        <a:rPr sz="1100" b="1" spc="-45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L w="57150">
                      <a:solidFill>
                        <a:srgbClr val="0070B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050" spc="-1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VisionMinds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0" name="object 20"/>
          <p:cNvGrpSpPr/>
          <p:nvPr/>
        </p:nvGrpSpPr>
        <p:grpSpPr>
          <a:xfrm>
            <a:off x="0" y="6355079"/>
            <a:ext cx="12192000" cy="502920"/>
            <a:chOff x="0" y="6355079"/>
            <a:chExt cx="12192000" cy="502920"/>
          </a:xfrm>
        </p:grpSpPr>
        <p:sp>
          <p:nvSpPr>
            <p:cNvPr id="21" name="object 21"/>
            <p:cNvSpPr/>
            <p:nvPr/>
          </p:nvSpPr>
          <p:spPr>
            <a:xfrm>
              <a:off x="0" y="6355079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20">
                  <a:moveTo>
                    <a:pt x="12191694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2191694" y="45720"/>
                  </a:lnTo>
                  <a:lnTo>
                    <a:pt x="12191694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6355079"/>
              <a:ext cx="6099175" cy="45720"/>
            </a:xfrm>
            <a:custGeom>
              <a:avLst/>
              <a:gdLst/>
              <a:ahLst/>
              <a:cxnLst/>
              <a:rect l="l" t="t" r="r" b="b"/>
              <a:pathLst>
                <a:path w="6099175" h="45720">
                  <a:moveTo>
                    <a:pt x="6099048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6099048" y="45720"/>
                  </a:lnTo>
                  <a:lnTo>
                    <a:pt x="6099048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3"/>
            <p:cNvSpPr/>
            <p:nvPr/>
          </p:nvSpPr>
          <p:spPr>
            <a:xfrm>
              <a:off x="4206240" y="6400799"/>
              <a:ext cx="7985759" cy="457200"/>
            </a:xfrm>
            <a:custGeom>
              <a:avLst/>
              <a:gdLst/>
              <a:ahLst/>
              <a:cxnLst/>
              <a:rect l="l" t="t" r="r" b="b"/>
              <a:pathLst>
                <a:path w="7985759" h="457200">
                  <a:moveTo>
                    <a:pt x="0" y="457200"/>
                  </a:moveTo>
                  <a:lnTo>
                    <a:pt x="7985454" y="457200"/>
                  </a:lnTo>
                  <a:lnTo>
                    <a:pt x="7985454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6400799"/>
              <a:ext cx="4206240" cy="457200"/>
            </a:xfrm>
            <a:custGeom>
              <a:avLst/>
              <a:gdLst/>
              <a:ahLst/>
              <a:cxnLst/>
              <a:rect l="l" t="t" r="r" b="b"/>
              <a:pathLst>
                <a:path w="4206240" h="457200">
                  <a:moveTo>
                    <a:pt x="420624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206240" y="457200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25"/>
            <p:cNvSpPr/>
            <p:nvPr/>
          </p:nvSpPr>
          <p:spPr>
            <a:xfrm>
              <a:off x="11430000" y="6473951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447" y="0"/>
                  </a:moveTo>
                  <a:lnTo>
                    <a:pt x="106535" y="7980"/>
                  </a:lnTo>
                  <a:lnTo>
                    <a:pt x="63890" y="30158"/>
                  </a:lnTo>
                  <a:lnTo>
                    <a:pt x="30158" y="63890"/>
                  </a:lnTo>
                  <a:lnTo>
                    <a:pt x="7980" y="106535"/>
                  </a:lnTo>
                  <a:lnTo>
                    <a:pt x="0" y="155448"/>
                  </a:lnTo>
                  <a:lnTo>
                    <a:pt x="7980" y="204360"/>
                  </a:lnTo>
                  <a:lnTo>
                    <a:pt x="30158" y="247004"/>
                  </a:lnTo>
                  <a:lnTo>
                    <a:pt x="63890" y="280737"/>
                  </a:lnTo>
                  <a:lnTo>
                    <a:pt x="106535" y="302915"/>
                  </a:lnTo>
                  <a:lnTo>
                    <a:pt x="155447" y="310896"/>
                  </a:lnTo>
                  <a:lnTo>
                    <a:pt x="204360" y="302915"/>
                  </a:lnTo>
                  <a:lnTo>
                    <a:pt x="247004" y="280737"/>
                  </a:lnTo>
                  <a:lnTo>
                    <a:pt x="280737" y="247004"/>
                  </a:lnTo>
                  <a:lnTo>
                    <a:pt x="302915" y="204360"/>
                  </a:lnTo>
                  <a:lnTo>
                    <a:pt x="310895" y="155448"/>
                  </a:lnTo>
                  <a:lnTo>
                    <a:pt x="302915" y="106535"/>
                  </a:lnTo>
                  <a:lnTo>
                    <a:pt x="280737" y="63890"/>
                  </a:lnTo>
                  <a:lnTo>
                    <a:pt x="247004" y="30158"/>
                  </a:lnTo>
                  <a:lnTo>
                    <a:pt x="204360" y="7980"/>
                  </a:lnTo>
                  <a:lnTo>
                    <a:pt x="155447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xfrm>
            <a:off x="5426779" y="6558863"/>
            <a:ext cx="4505325" cy="143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9916"/>
          <a:stretch/>
        </p:blipFill>
        <p:spPr>
          <a:xfrm>
            <a:off x="7959089" y="1651626"/>
            <a:ext cx="3203509" cy="342623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A910E4A-CF2C-34F4-3D2F-15AC8FA410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119" y="26105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6" name="chimes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5389" y="224434"/>
            <a:ext cx="808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VisionMinds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IDEA</a:t>
            </a:r>
            <a:r>
              <a:rPr spc="185" dirty="0"/>
              <a:t> </a:t>
            </a:r>
            <a:r>
              <a:rPr dirty="0"/>
              <a:t>/</a:t>
            </a:r>
            <a:r>
              <a:rPr spc="185" dirty="0"/>
              <a:t> </a:t>
            </a:r>
            <a:r>
              <a:rPr spc="45" dirty="0"/>
              <a:t>PROPOSED</a:t>
            </a:r>
            <a:r>
              <a:rPr spc="190" dirty="0"/>
              <a:t> </a:t>
            </a:r>
            <a:r>
              <a:rPr spc="35" dirty="0"/>
              <a:t>SOLUTION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20039" y="640080"/>
            <a:ext cx="11549380" cy="32384"/>
            <a:chOff x="320039" y="640080"/>
            <a:chExt cx="11549380" cy="32384"/>
          </a:xfrm>
        </p:grpSpPr>
        <p:sp>
          <p:nvSpPr>
            <p:cNvPr id="5" name="object 5"/>
            <p:cNvSpPr/>
            <p:nvPr/>
          </p:nvSpPr>
          <p:spPr>
            <a:xfrm>
              <a:off x="320039" y="640080"/>
              <a:ext cx="11549380" cy="32384"/>
            </a:xfrm>
            <a:custGeom>
              <a:avLst/>
              <a:gdLst/>
              <a:ahLst/>
              <a:cxnLst/>
              <a:rect l="l" t="t" r="r" b="b"/>
              <a:pathLst>
                <a:path w="11549380" h="32384">
                  <a:moveTo>
                    <a:pt x="11548872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1548872" y="32003"/>
                  </a:lnTo>
                  <a:lnTo>
                    <a:pt x="11548872" y="0"/>
                  </a:lnTo>
                  <a:close/>
                </a:path>
              </a:pathLst>
            </a:custGeom>
            <a:solidFill>
              <a:srgbClr val="C6D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320040" y="640080"/>
              <a:ext cx="1371600" cy="32384"/>
            </a:xfrm>
            <a:custGeom>
              <a:avLst/>
              <a:gdLst/>
              <a:ahLst/>
              <a:cxnLst/>
              <a:rect l="l" t="t" r="r" b="b"/>
              <a:pathLst>
                <a:path w="1371600" h="32384">
                  <a:moveTo>
                    <a:pt x="1371600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71600" y="3200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1691640" y="640080"/>
              <a:ext cx="1371600" cy="32384"/>
            </a:xfrm>
            <a:custGeom>
              <a:avLst/>
              <a:gdLst/>
              <a:ahLst/>
              <a:cxnLst/>
              <a:rect l="l" t="t" r="r" b="b"/>
              <a:pathLst>
                <a:path w="1371600" h="32384">
                  <a:moveTo>
                    <a:pt x="1371600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71600" y="3200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57478" y="814249"/>
            <a:ext cx="11235155" cy="1653539"/>
            <a:chOff x="313690" y="816610"/>
            <a:chExt cx="3716020" cy="1653539"/>
          </a:xfrm>
        </p:grpSpPr>
        <p:sp>
          <p:nvSpPr>
            <p:cNvPr id="9" name="object 9"/>
            <p:cNvSpPr/>
            <p:nvPr/>
          </p:nvSpPr>
          <p:spPr>
            <a:xfrm>
              <a:off x="313690" y="829309"/>
              <a:ext cx="3716020" cy="1640839"/>
            </a:xfrm>
            <a:custGeom>
              <a:avLst/>
              <a:gdLst/>
              <a:ahLst/>
              <a:cxnLst/>
              <a:rect l="l" t="t" r="r" b="b"/>
              <a:pathLst>
                <a:path w="3716020" h="1640839">
                  <a:moveTo>
                    <a:pt x="3660724" y="0"/>
                  </a:moveTo>
                  <a:lnTo>
                    <a:pt x="55295" y="0"/>
                  </a:lnTo>
                  <a:lnTo>
                    <a:pt x="33858" y="4374"/>
                  </a:lnTo>
                  <a:lnTo>
                    <a:pt x="16272" y="16272"/>
                  </a:lnTo>
                  <a:lnTo>
                    <a:pt x="4374" y="33857"/>
                  </a:lnTo>
                  <a:lnTo>
                    <a:pt x="0" y="55294"/>
                  </a:lnTo>
                  <a:lnTo>
                    <a:pt x="0" y="1585036"/>
                  </a:lnTo>
                  <a:lnTo>
                    <a:pt x="4374" y="1606473"/>
                  </a:lnTo>
                  <a:lnTo>
                    <a:pt x="16272" y="1624059"/>
                  </a:lnTo>
                  <a:lnTo>
                    <a:pt x="33858" y="1635957"/>
                  </a:lnTo>
                  <a:lnTo>
                    <a:pt x="55295" y="1640331"/>
                  </a:lnTo>
                  <a:lnTo>
                    <a:pt x="3660724" y="1640331"/>
                  </a:lnTo>
                  <a:lnTo>
                    <a:pt x="3682161" y="1635957"/>
                  </a:lnTo>
                  <a:lnTo>
                    <a:pt x="3699747" y="1624059"/>
                  </a:lnTo>
                  <a:lnTo>
                    <a:pt x="3711645" y="1606473"/>
                  </a:lnTo>
                  <a:lnTo>
                    <a:pt x="3716019" y="1585036"/>
                  </a:lnTo>
                  <a:lnTo>
                    <a:pt x="3716019" y="55294"/>
                  </a:lnTo>
                  <a:lnTo>
                    <a:pt x="3711645" y="33857"/>
                  </a:lnTo>
                  <a:lnTo>
                    <a:pt x="3699747" y="16272"/>
                  </a:lnTo>
                  <a:lnTo>
                    <a:pt x="3682161" y="4374"/>
                  </a:lnTo>
                  <a:lnTo>
                    <a:pt x="3660724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822960"/>
              <a:ext cx="3703320" cy="1628139"/>
            </a:xfrm>
            <a:custGeom>
              <a:avLst/>
              <a:gdLst/>
              <a:ahLst/>
              <a:cxnLst/>
              <a:rect l="l" t="t" r="r" b="b"/>
              <a:pathLst>
                <a:path w="3703320" h="1628139">
                  <a:moveTo>
                    <a:pt x="3648452" y="0"/>
                  </a:moveTo>
                  <a:lnTo>
                    <a:pt x="54867" y="0"/>
                  </a:lnTo>
                  <a:lnTo>
                    <a:pt x="33596" y="4340"/>
                  </a:lnTo>
                  <a:lnTo>
                    <a:pt x="16146" y="16146"/>
                  </a:lnTo>
                  <a:lnTo>
                    <a:pt x="4340" y="33595"/>
                  </a:lnTo>
                  <a:lnTo>
                    <a:pt x="0" y="54866"/>
                  </a:lnTo>
                  <a:lnTo>
                    <a:pt x="0" y="1572764"/>
                  </a:lnTo>
                  <a:lnTo>
                    <a:pt x="4340" y="1594035"/>
                  </a:lnTo>
                  <a:lnTo>
                    <a:pt x="16146" y="1611485"/>
                  </a:lnTo>
                  <a:lnTo>
                    <a:pt x="33596" y="1623291"/>
                  </a:lnTo>
                  <a:lnTo>
                    <a:pt x="54867" y="1627632"/>
                  </a:lnTo>
                  <a:lnTo>
                    <a:pt x="3648452" y="1627632"/>
                  </a:lnTo>
                  <a:lnTo>
                    <a:pt x="3669723" y="1623291"/>
                  </a:lnTo>
                  <a:lnTo>
                    <a:pt x="3687173" y="1611485"/>
                  </a:lnTo>
                  <a:lnTo>
                    <a:pt x="3698979" y="1594035"/>
                  </a:lnTo>
                  <a:lnTo>
                    <a:pt x="3703320" y="1572764"/>
                  </a:lnTo>
                  <a:lnTo>
                    <a:pt x="3703320" y="54866"/>
                  </a:lnTo>
                  <a:lnTo>
                    <a:pt x="3698979" y="33595"/>
                  </a:lnTo>
                  <a:lnTo>
                    <a:pt x="3687173" y="16146"/>
                  </a:lnTo>
                  <a:lnTo>
                    <a:pt x="3669723" y="4340"/>
                  </a:lnTo>
                  <a:lnTo>
                    <a:pt x="36484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320040" y="822960"/>
              <a:ext cx="3703320" cy="1628139"/>
            </a:xfrm>
            <a:custGeom>
              <a:avLst/>
              <a:gdLst/>
              <a:ahLst/>
              <a:cxnLst/>
              <a:rect l="l" t="t" r="r" b="b"/>
              <a:pathLst>
                <a:path w="3703320" h="1628139">
                  <a:moveTo>
                    <a:pt x="0" y="54866"/>
                  </a:moveTo>
                  <a:lnTo>
                    <a:pt x="4340" y="33595"/>
                  </a:lnTo>
                  <a:lnTo>
                    <a:pt x="16146" y="16146"/>
                  </a:lnTo>
                  <a:lnTo>
                    <a:pt x="33596" y="4340"/>
                  </a:lnTo>
                  <a:lnTo>
                    <a:pt x="54867" y="0"/>
                  </a:lnTo>
                  <a:lnTo>
                    <a:pt x="3648452" y="0"/>
                  </a:lnTo>
                  <a:lnTo>
                    <a:pt x="3669723" y="4340"/>
                  </a:lnTo>
                  <a:lnTo>
                    <a:pt x="3687173" y="16146"/>
                  </a:lnTo>
                  <a:lnTo>
                    <a:pt x="3698979" y="33595"/>
                  </a:lnTo>
                  <a:lnTo>
                    <a:pt x="3703320" y="54866"/>
                  </a:lnTo>
                  <a:lnTo>
                    <a:pt x="3703320" y="1572764"/>
                  </a:lnTo>
                  <a:lnTo>
                    <a:pt x="3698979" y="1594035"/>
                  </a:lnTo>
                  <a:lnTo>
                    <a:pt x="3687173" y="1611485"/>
                  </a:lnTo>
                  <a:lnTo>
                    <a:pt x="3669723" y="1623291"/>
                  </a:lnTo>
                  <a:lnTo>
                    <a:pt x="3648452" y="1627632"/>
                  </a:lnTo>
                  <a:lnTo>
                    <a:pt x="54867" y="1627632"/>
                  </a:lnTo>
                  <a:lnTo>
                    <a:pt x="33596" y="1623291"/>
                  </a:lnTo>
                  <a:lnTo>
                    <a:pt x="16146" y="1611485"/>
                  </a:lnTo>
                  <a:lnTo>
                    <a:pt x="4340" y="1594035"/>
                  </a:lnTo>
                  <a:lnTo>
                    <a:pt x="0" y="1572764"/>
                  </a:lnTo>
                  <a:lnTo>
                    <a:pt x="0" y="54866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040" y="822960"/>
              <a:ext cx="50800" cy="1628139"/>
            </a:xfrm>
            <a:custGeom>
              <a:avLst/>
              <a:gdLst/>
              <a:ahLst/>
              <a:cxnLst/>
              <a:rect l="l" t="t" r="r" b="b"/>
              <a:pathLst>
                <a:path w="50800" h="1628139">
                  <a:moveTo>
                    <a:pt x="50292" y="0"/>
                  </a:moveTo>
                  <a:lnTo>
                    <a:pt x="0" y="0"/>
                  </a:lnTo>
                  <a:lnTo>
                    <a:pt x="0" y="1627632"/>
                  </a:lnTo>
                  <a:lnTo>
                    <a:pt x="50292" y="1627632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BF392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57783" y="883512"/>
            <a:ext cx="173736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300" b="1" dirty="0">
                <a:solidFill>
                  <a:srgbClr val="BF392B"/>
                </a:solidFill>
                <a:latin typeface="Calibri"/>
                <a:cs typeface="Calibri"/>
              </a:rPr>
              <a:t>THE PROBLEM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4359" y="1170202"/>
            <a:ext cx="3248025" cy="164789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42900" marR="177800" indent="-342900">
              <a:lnSpc>
                <a:spcPts val="1080"/>
              </a:lnSpc>
              <a:spcBef>
                <a:spcPts val="185"/>
              </a:spcBef>
              <a:buChar char="•"/>
              <a:tabLst>
                <a:tab pos="342900" algn="l"/>
              </a:tabLst>
            </a:pPr>
            <a:endParaRPr sz="950" dirty="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4118" y="2532451"/>
            <a:ext cx="3807460" cy="2714850"/>
            <a:chOff x="313690" y="2535681"/>
            <a:chExt cx="3716020" cy="2668270"/>
          </a:xfrm>
        </p:grpSpPr>
        <p:sp>
          <p:nvSpPr>
            <p:cNvPr id="16" name="object 16"/>
            <p:cNvSpPr/>
            <p:nvPr/>
          </p:nvSpPr>
          <p:spPr>
            <a:xfrm>
              <a:off x="313690" y="2548381"/>
              <a:ext cx="3716020" cy="2655570"/>
            </a:xfrm>
            <a:custGeom>
              <a:avLst/>
              <a:gdLst/>
              <a:ahLst/>
              <a:cxnLst/>
              <a:rect l="l" t="t" r="r" b="b"/>
              <a:pathLst>
                <a:path w="3716020" h="2655570">
                  <a:moveTo>
                    <a:pt x="3660895" y="0"/>
                  </a:moveTo>
                  <a:lnTo>
                    <a:pt x="55124" y="0"/>
                  </a:lnTo>
                  <a:lnTo>
                    <a:pt x="33753" y="4360"/>
                  </a:lnTo>
                  <a:lnTo>
                    <a:pt x="16221" y="16221"/>
                  </a:lnTo>
                  <a:lnTo>
                    <a:pt x="4360" y="33753"/>
                  </a:lnTo>
                  <a:lnTo>
                    <a:pt x="0" y="55124"/>
                  </a:lnTo>
                  <a:lnTo>
                    <a:pt x="0" y="2600191"/>
                  </a:lnTo>
                  <a:lnTo>
                    <a:pt x="4360" y="2621562"/>
                  </a:lnTo>
                  <a:lnTo>
                    <a:pt x="16221" y="2639093"/>
                  </a:lnTo>
                  <a:lnTo>
                    <a:pt x="33753" y="2650955"/>
                  </a:lnTo>
                  <a:lnTo>
                    <a:pt x="55124" y="2655316"/>
                  </a:lnTo>
                  <a:lnTo>
                    <a:pt x="3660895" y="2655316"/>
                  </a:lnTo>
                  <a:lnTo>
                    <a:pt x="3682266" y="2650955"/>
                  </a:lnTo>
                  <a:lnTo>
                    <a:pt x="3699797" y="2639093"/>
                  </a:lnTo>
                  <a:lnTo>
                    <a:pt x="3711659" y="2621562"/>
                  </a:lnTo>
                  <a:lnTo>
                    <a:pt x="3716019" y="2600191"/>
                  </a:lnTo>
                  <a:lnTo>
                    <a:pt x="3716019" y="55124"/>
                  </a:lnTo>
                  <a:lnTo>
                    <a:pt x="3711659" y="33753"/>
                  </a:lnTo>
                  <a:lnTo>
                    <a:pt x="3699797" y="16221"/>
                  </a:lnTo>
                  <a:lnTo>
                    <a:pt x="3682266" y="4360"/>
                  </a:lnTo>
                  <a:lnTo>
                    <a:pt x="3660895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17"/>
            <p:cNvSpPr/>
            <p:nvPr/>
          </p:nvSpPr>
          <p:spPr>
            <a:xfrm>
              <a:off x="320040" y="2542031"/>
              <a:ext cx="3703320" cy="2642870"/>
            </a:xfrm>
            <a:custGeom>
              <a:avLst/>
              <a:gdLst/>
              <a:ahLst/>
              <a:cxnLst/>
              <a:rect l="l" t="t" r="r" b="b"/>
              <a:pathLst>
                <a:path w="3703320" h="2642870">
                  <a:moveTo>
                    <a:pt x="3648459" y="0"/>
                  </a:moveTo>
                  <a:lnTo>
                    <a:pt x="54860" y="0"/>
                  </a:lnTo>
                  <a:lnTo>
                    <a:pt x="33591" y="4339"/>
                  </a:lnTo>
                  <a:lnTo>
                    <a:pt x="16144" y="16144"/>
                  </a:lnTo>
                  <a:lnTo>
                    <a:pt x="4339" y="33591"/>
                  </a:lnTo>
                  <a:lnTo>
                    <a:pt x="0" y="54860"/>
                  </a:lnTo>
                  <a:lnTo>
                    <a:pt x="0" y="2587755"/>
                  </a:lnTo>
                  <a:lnTo>
                    <a:pt x="4339" y="2609023"/>
                  </a:lnTo>
                  <a:lnTo>
                    <a:pt x="16144" y="2626471"/>
                  </a:lnTo>
                  <a:lnTo>
                    <a:pt x="33591" y="2638276"/>
                  </a:lnTo>
                  <a:lnTo>
                    <a:pt x="54860" y="2642616"/>
                  </a:lnTo>
                  <a:lnTo>
                    <a:pt x="3648459" y="2642616"/>
                  </a:lnTo>
                  <a:lnTo>
                    <a:pt x="3669728" y="2638276"/>
                  </a:lnTo>
                  <a:lnTo>
                    <a:pt x="3687175" y="2626471"/>
                  </a:lnTo>
                  <a:lnTo>
                    <a:pt x="3698980" y="2609023"/>
                  </a:lnTo>
                  <a:lnTo>
                    <a:pt x="3703320" y="2587755"/>
                  </a:lnTo>
                  <a:lnTo>
                    <a:pt x="3703320" y="54860"/>
                  </a:lnTo>
                  <a:lnTo>
                    <a:pt x="3698980" y="33591"/>
                  </a:lnTo>
                  <a:lnTo>
                    <a:pt x="3687175" y="16144"/>
                  </a:lnTo>
                  <a:lnTo>
                    <a:pt x="3669728" y="4339"/>
                  </a:lnTo>
                  <a:lnTo>
                    <a:pt x="3648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18"/>
            <p:cNvSpPr/>
            <p:nvPr/>
          </p:nvSpPr>
          <p:spPr>
            <a:xfrm>
              <a:off x="320040" y="2542031"/>
              <a:ext cx="3703320" cy="2642870"/>
            </a:xfrm>
            <a:custGeom>
              <a:avLst/>
              <a:gdLst/>
              <a:ahLst/>
              <a:cxnLst/>
              <a:rect l="l" t="t" r="r" b="b"/>
              <a:pathLst>
                <a:path w="3703320" h="2642870">
                  <a:moveTo>
                    <a:pt x="0" y="54860"/>
                  </a:moveTo>
                  <a:lnTo>
                    <a:pt x="4339" y="33591"/>
                  </a:lnTo>
                  <a:lnTo>
                    <a:pt x="16144" y="16144"/>
                  </a:lnTo>
                  <a:lnTo>
                    <a:pt x="33591" y="4339"/>
                  </a:lnTo>
                  <a:lnTo>
                    <a:pt x="54860" y="0"/>
                  </a:lnTo>
                  <a:lnTo>
                    <a:pt x="3648459" y="0"/>
                  </a:lnTo>
                  <a:lnTo>
                    <a:pt x="3669728" y="4339"/>
                  </a:lnTo>
                  <a:lnTo>
                    <a:pt x="3687175" y="16144"/>
                  </a:lnTo>
                  <a:lnTo>
                    <a:pt x="3698980" y="33591"/>
                  </a:lnTo>
                  <a:lnTo>
                    <a:pt x="3703320" y="54860"/>
                  </a:lnTo>
                  <a:lnTo>
                    <a:pt x="3703320" y="2587755"/>
                  </a:lnTo>
                  <a:lnTo>
                    <a:pt x="3698980" y="2609023"/>
                  </a:lnTo>
                  <a:lnTo>
                    <a:pt x="3687175" y="2626471"/>
                  </a:lnTo>
                  <a:lnTo>
                    <a:pt x="3669728" y="2638276"/>
                  </a:lnTo>
                  <a:lnTo>
                    <a:pt x="3648459" y="2642616"/>
                  </a:lnTo>
                  <a:lnTo>
                    <a:pt x="54860" y="2642616"/>
                  </a:lnTo>
                  <a:lnTo>
                    <a:pt x="33591" y="2638276"/>
                  </a:lnTo>
                  <a:lnTo>
                    <a:pt x="16144" y="2626471"/>
                  </a:lnTo>
                  <a:lnTo>
                    <a:pt x="4339" y="2609023"/>
                  </a:lnTo>
                  <a:lnTo>
                    <a:pt x="0" y="2587755"/>
                  </a:lnTo>
                  <a:lnTo>
                    <a:pt x="0" y="54860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320040" y="2542031"/>
              <a:ext cx="50800" cy="2642870"/>
            </a:xfrm>
            <a:custGeom>
              <a:avLst/>
              <a:gdLst/>
              <a:ahLst/>
              <a:cxnLst/>
              <a:rect l="l" t="t" r="r" b="b"/>
              <a:pathLst>
                <a:path w="50800" h="2642870">
                  <a:moveTo>
                    <a:pt x="50292" y="0"/>
                  </a:moveTo>
                  <a:lnTo>
                    <a:pt x="0" y="0"/>
                  </a:lnTo>
                  <a:lnTo>
                    <a:pt x="0" y="2642616"/>
                  </a:lnTo>
                  <a:lnTo>
                    <a:pt x="50292" y="2642616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0070B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0518" y="2622272"/>
            <a:ext cx="3132481" cy="46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070BF"/>
                </a:solidFill>
                <a:latin typeface="Calibri"/>
                <a:cs typeface="Calibri"/>
              </a:rPr>
              <a:t>OUR</a:t>
            </a:r>
            <a:r>
              <a:rPr sz="1300" b="1" spc="-20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70BF"/>
                </a:solidFill>
                <a:latin typeface="Calibri"/>
                <a:cs typeface="Calibri"/>
              </a:rPr>
              <a:t>SOLUTION</a:t>
            </a:r>
            <a:r>
              <a:rPr sz="1300" b="1" spc="-15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70BF"/>
                </a:solidFill>
                <a:latin typeface="Calibri"/>
                <a:cs typeface="Calibri"/>
              </a:rPr>
              <a:t>-</a:t>
            </a:r>
            <a:r>
              <a:rPr sz="1300" b="1" spc="-15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070BF"/>
                </a:solidFill>
                <a:latin typeface="Calibri"/>
                <a:cs typeface="Calibri"/>
              </a:rPr>
              <a:t>VALIDRA</a:t>
            </a:r>
            <a:endParaRPr sz="1300" dirty="0">
              <a:latin typeface="Calibri"/>
              <a:cs typeface="Calibri"/>
            </a:endParaRPr>
          </a:p>
          <a:p>
            <a:pPr marL="3600">
              <a:lnSpc>
                <a:spcPct val="100000"/>
              </a:lnSpc>
              <a:spcBef>
                <a:spcPts val="760"/>
              </a:spcBef>
            </a:pPr>
            <a:r>
              <a:rPr lang="en-US" sz="950" spc="-10" dirty="0">
                <a:solidFill>
                  <a:srgbClr val="2A3544"/>
                </a:solidFill>
                <a:latin typeface="Calibri"/>
                <a:cs typeface="Calibri"/>
              </a:rPr>
              <a:t>AI extracts </a:t>
            </a:r>
            <a:r>
              <a:rPr lang="en-US" sz="950" dirty="0">
                <a:latin typeface="Calibri"/>
                <a:cs typeface="Calibri"/>
              </a:rPr>
              <a:t>→ </a:t>
            </a:r>
            <a:r>
              <a:rPr lang="en-US" sz="950" spc="-10" dirty="0">
                <a:solidFill>
                  <a:srgbClr val="2A3544"/>
                </a:solidFill>
                <a:latin typeface="Calibri"/>
                <a:cs typeface="Calibri"/>
              </a:rPr>
              <a:t>Rule Engine validates </a:t>
            </a:r>
            <a:r>
              <a:rPr lang="en-US" sz="950" dirty="0">
                <a:latin typeface="Calibri"/>
                <a:cs typeface="Calibri"/>
              </a:rPr>
              <a:t>→ </a:t>
            </a:r>
            <a:r>
              <a:rPr lang="en-US" sz="950" spc="-10" dirty="0">
                <a:solidFill>
                  <a:srgbClr val="2A3544"/>
                </a:solidFill>
                <a:latin typeface="Calibri"/>
                <a:cs typeface="Calibri"/>
              </a:rPr>
              <a:t>Evidence-backed report</a:t>
            </a:r>
            <a:endParaRPr sz="950" spc="-10" dirty="0">
              <a:solidFill>
                <a:srgbClr val="2A3544"/>
              </a:solidFill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50518" y="3111423"/>
            <a:ext cx="211812" cy="1801009"/>
            <a:chOff x="499654" y="3175101"/>
            <a:chExt cx="210231" cy="1712564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0917" y="3175101"/>
              <a:ext cx="201167" cy="20116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718" y="3395579"/>
              <a:ext cx="201167" cy="20116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453" y="3646465"/>
              <a:ext cx="201167" cy="20116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9654" y="4033533"/>
              <a:ext cx="201167" cy="20116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8718" y="4346270"/>
              <a:ext cx="201167" cy="20116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138" y="4686498"/>
              <a:ext cx="201167" cy="20116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41326" y="3091882"/>
            <a:ext cx="3556451" cy="1898661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R="198120">
              <a:spcBef>
                <a:spcPts val="225"/>
              </a:spcBef>
            </a:pPr>
            <a:r>
              <a:rPr lang="en-US" sz="950" b="1" spc="-10" dirty="0">
                <a:solidFill>
                  <a:srgbClr val="1F3864"/>
                </a:solidFill>
                <a:latin typeface="Calibri"/>
                <a:cs typeface="Calibri"/>
              </a:rPr>
              <a:t>SCAN</a:t>
            </a:r>
            <a:r>
              <a:rPr lang="en-US" sz="950" b="1" spc="165" dirty="0">
                <a:solidFill>
                  <a:srgbClr val="1F3864"/>
                </a:solidFill>
                <a:latin typeface="Calibri"/>
                <a:cs typeface="Calibri"/>
              </a:rPr>
              <a:t>: </a:t>
            </a:r>
            <a:r>
              <a:rPr lang="en-US" sz="950" spc="-10" dirty="0">
                <a:solidFill>
                  <a:srgbClr val="2A3544"/>
                </a:solidFill>
                <a:latin typeface="Calibri"/>
                <a:cs typeface="Calibri"/>
              </a:rPr>
              <a:t>Upload or capture product label images for inspection.</a:t>
            </a:r>
          </a:p>
          <a:p>
            <a:pPr marR="198120">
              <a:spcBef>
                <a:spcPts val="225"/>
              </a:spcBef>
            </a:pPr>
            <a:endParaRPr lang="en-US" sz="200" spc="-10" dirty="0">
              <a:solidFill>
                <a:srgbClr val="2A3544"/>
              </a:solidFill>
              <a:latin typeface="Calibri"/>
              <a:cs typeface="Calibri"/>
            </a:endParaRPr>
          </a:p>
          <a:p>
            <a:pPr marR="198120">
              <a:lnSpc>
                <a:spcPts val="1030"/>
              </a:lnSpc>
              <a:spcBef>
                <a:spcPts val="225"/>
              </a:spcBef>
            </a:pPr>
            <a:r>
              <a:rPr lang="en-US" sz="950" b="1" spc="-10" dirty="0">
                <a:solidFill>
                  <a:srgbClr val="1F3864"/>
                </a:solidFill>
                <a:latin typeface="Calibri"/>
                <a:cs typeface="Calibri"/>
              </a:rPr>
              <a:t>EXTRACT</a:t>
            </a:r>
            <a:r>
              <a:rPr lang="en-US" sz="950" b="1" spc="204" dirty="0">
                <a:solidFill>
                  <a:srgbClr val="1F3864"/>
                </a:solidFill>
                <a:latin typeface="Calibri"/>
                <a:cs typeface="Calibri"/>
              </a:rPr>
              <a:t>: </a:t>
            </a:r>
            <a:r>
              <a:rPr lang="en-US" sz="950" spc="-10" dirty="0">
                <a:solidFill>
                  <a:srgbClr val="2A3544"/>
                </a:solidFill>
                <a:latin typeface="Calibri"/>
                <a:cs typeface="Calibri"/>
              </a:rPr>
              <a:t>Image preprocessing + OCR identify required declarations and their location.</a:t>
            </a:r>
          </a:p>
          <a:p>
            <a:pPr marR="198120">
              <a:lnSpc>
                <a:spcPts val="1030"/>
              </a:lnSpc>
              <a:spcBef>
                <a:spcPts val="225"/>
              </a:spcBef>
            </a:pPr>
            <a:r>
              <a:rPr lang="en-US" sz="950" b="1" spc="-10" dirty="0">
                <a:solidFill>
                  <a:srgbClr val="1F3864"/>
                </a:solidFill>
                <a:latin typeface="Calibri"/>
                <a:cs typeface="Calibri"/>
              </a:rPr>
              <a:t>VALIDATE: </a:t>
            </a:r>
            <a:r>
              <a:rPr lang="en-US" sz="950" spc="-10" dirty="0">
                <a:solidFill>
                  <a:srgbClr val="2A3544"/>
                </a:solidFill>
                <a:latin typeface="Calibri"/>
                <a:cs typeface="Calibri"/>
              </a:rPr>
              <a:t>A versioned rule engine checks presence, value, format, placement and font-size requirements against the applicable Legal Metrology rules</a:t>
            </a:r>
            <a:r>
              <a:rPr lang="en-US" sz="950" dirty="0">
                <a:solidFill>
                  <a:srgbClr val="2A3544"/>
                </a:solidFill>
                <a:latin typeface="Calibri"/>
                <a:cs typeface="Calibri"/>
              </a:rPr>
              <a:t>.</a:t>
            </a:r>
          </a:p>
          <a:p>
            <a:pPr marR="198120">
              <a:lnSpc>
                <a:spcPts val="1030"/>
              </a:lnSpc>
              <a:spcBef>
                <a:spcPts val="225"/>
              </a:spcBef>
            </a:pPr>
            <a:r>
              <a:rPr lang="en-IN" sz="950" b="1" spc="-10" dirty="0">
                <a:solidFill>
                  <a:srgbClr val="1F3864"/>
                </a:solidFill>
                <a:latin typeface="Calibri"/>
                <a:cs typeface="Calibri"/>
              </a:rPr>
              <a:t>CLASSIFY</a:t>
            </a:r>
            <a:r>
              <a:rPr lang="en-IN" sz="800" dirty="0"/>
              <a:t>: </a:t>
            </a:r>
            <a:r>
              <a:rPr lang="en-US" sz="950" spc="-10" dirty="0">
                <a:solidFill>
                  <a:srgbClr val="2A3544"/>
                </a:solidFill>
                <a:latin typeface="Calibri"/>
                <a:cs typeface="Calibri"/>
              </a:rPr>
              <a:t>Each declaration is classified as COMPLIANT, NON-COMPLIANT or NEEDS REVIEW based on validation and confidence.</a:t>
            </a:r>
          </a:p>
          <a:p>
            <a:pPr marR="181610">
              <a:lnSpc>
                <a:spcPts val="1030"/>
              </a:lnSpc>
              <a:spcBef>
                <a:spcPts val="680"/>
              </a:spcBef>
            </a:pPr>
            <a:r>
              <a:rPr lang="en-US" sz="950" b="1" spc="-10" dirty="0">
                <a:solidFill>
                  <a:srgbClr val="1F3864"/>
                </a:solidFill>
                <a:latin typeface="Calibri"/>
                <a:cs typeface="Calibri"/>
              </a:rPr>
              <a:t>REPORT: </a:t>
            </a:r>
            <a:r>
              <a:rPr lang="en-US" sz="950" spc="-10" dirty="0">
                <a:solidFill>
                  <a:srgbClr val="2A3544"/>
                </a:solidFill>
                <a:latin typeface="Calibri"/>
                <a:cs typeface="Calibri"/>
              </a:rPr>
              <a:t>Generate a compliance report containing detected values, evidence crops, violations, confidence and applicable rule references.</a:t>
            </a:r>
          </a:p>
          <a:p>
            <a:pPr marR="181610">
              <a:lnSpc>
                <a:spcPts val="1030"/>
              </a:lnSpc>
              <a:spcBef>
                <a:spcPts val="680"/>
              </a:spcBef>
            </a:pPr>
            <a:r>
              <a:rPr lang="en-US" sz="950" b="1" spc="-10" dirty="0">
                <a:solidFill>
                  <a:srgbClr val="1F3864"/>
                </a:solidFill>
                <a:latin typeface="Calibri"/>
                <a:cs typeface="Calibri"/>
              </a:rPr>
              <a:t>REVIEW:</a:t>
            </a:r>
            <a:r>
              <a:rPr lang="en-US" sz="950" b="1" spc="1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lang="en-US" sz="950" spc="-10" dirty="0">
                <a:solidFill>
                  <a:srgbClr val="2A3544"/>
                </a:solidFill>
                <a:latin typeface="Calibri"/>
                <a:cs typeface="Calibri"/>
              </a:rPr>
              <a:t>Officers can review flagged cases and access searchable inspection history</a:t>
            </a:r>
            <a:r>
              <a:rPr lang="en-US" sz="950" dirty="0">
                <a:solidFill>
                  <a:srgbClr val="2A3544"/>
                </a:solidFill>
                <a:latin typeface="Calibri"/>
                <a:cs typeface="Calibri"/>
              </a:rPr>
              <a:t>.</a:t>
            </a:r>
            <a:r>
              <a:rPr lang="en-US" sz="950" spc="-10" dirty="0">
                <a:solidFill>
                  <a:srgbClr val="2A3544"/>
                </a:solidFill>
                <a:latin typeface="Calibri"/>
                <a:cs typeface="Calibri"/>
              </a:rPr>
              <a:t>.</a:t>
            </a:r>
            <a:endParaRPr lang="en-US" sz="950" dirty="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166315" y="2519752"/>
            <a:ext cx="3807460" cy="2631440"/>
            <a:chOff x="4181602" y="816610"/>
            <a:chExt cx="3807460" cy="2631440"/>
          </a:xfrm>
        </p:grpSpPr>
        <p:sp>
          <p:nvSpPr>
            <p:cNvPr id="31" name="object 31"/>
            <p:cNvSpPr/>
            <p:nvPr/>
          </p:nvSpPr>
          <p:spPr>
            <a:xfrm>
              <a:off x="4181602" y="829309"/>
              <a:ext cx="3807460" cy="2618740"/>
            </a:xfrm>
            <a:custGeom>
              <a:avLst/>
              <a:gdLst/>
              <a:ahLst/>
              <a:cxnLst/>
              <a:rect l="l" t="t" r="r" b="b"/>
              <a:pathLst>
                <a:path w="3807459" h="2618740">
                  <a:moveTo>
                    <a:pt x="3752335" y="0"/>
                  </a:moveTo>
                  <a:lnTo>
                    <a:pt x="55124" y="0"/>
                  </a:lnTo>
                  <a:lnTo>
                    <a:pt x="33753" y="4360"/>
                  </a:lnTo>
                  <a:lnTo>
                    <a:pt x="16221" y="16221"/>
                  </a:lnTo>
                  <a:lnTo>
                    <a:pt x="4360" y="33753"/>
                  </a:lnTo>
                  <a:lnTo>
                    <a:pt x="0" y="55124"/>
                  </a:lnTo>
                  <a:lnTo>
                    <a:pt x="0" y="2563615"/>
                  </a:lnTo>
                  <a:lnTo>
                    <a:pt x="4360" y="2584986"/>
                  </a:lnTo>
                  <a:lnTo>
                    <a:pt x="16221" y="2602517"/>
                  </a:lnTo>
                  <a:lnTo>
                    <a:pt x="33753" y="2614378"/>
                  </a:lnTo>
                  <a:lnTo>
                    <a:pt x="55124" y="2618739"/>
                  </a:lnTo>
                  <a:lnTo>
                    <a:pt x="3752335" y="2618739"/>
                  </a:lnTo>
                  <a:lnTo>
                    <a:pt x="3773706" y="2614378"/>
                  </a:lnTo>
                  <a:lnTo>
                    <a:pt x="3791237" y="2602517"/>
                  </a:lnTo>
                  <a:lnTo>
                    <a:pt x="3803099" y="2584986"/>
                  </a:lnTo>
                  <a:lnTo>
                    <a:pt x="3807460" y="2563615"/>
                  </a:lnTo>
                  <a:lnTo>
                    <a:pt x="3807460" y="55124"/>
                  </a:lnTo>
                  <a:lnTo>
                    <a:pt x="3803099" y="33753"/>
                  </a:lnTo>
                  <a:lnTo>
                    <a:pt x="3791237" y="16221"/>
                  </a:lnTo>
                  <a:lnTo>
                    <a:pt x="3773706" y="4360"/>
                  </a:lnTo>
                  <a:lnTo>
                    <a:pt x="3752335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2" name="object 32"/>
            <p:cNvSpPr/>
            <p:nvPr/>
          </p:nvSpPr>
          <p:spPr>
            <a:xfrm>
              <a:off x="4187951" y="822960"/>
              <a:ext cx="3794760" cy="2606040"/>
            </a:xfrm>
            <a:custGeom>
              <a:avLst/>
              <a:gdLst/>
              <a:ahLst/>
              <a:cxnLst/>
              <a:rect l="l" t="t" r="r" b="b"/>
              <a:pathLst>
                <a:path w="3794759" h="2606040">
                  <a:moveTo>
                    <a:pt x="3739902" y="0"/>
                  </a:moveTo>
                  <a:lnTo>
                    <a:pt x="54856" y="0"/>
                  </a:lnTo>
                  <a:lnTo>
                    <a:pt x="33589" y="4339"/>
                  </a:lnTo>
                  <a:lnTo>
                    <a:pt x="16143" y="16143"/>
                  </a:lnTo>
                  <a:lnTo>
                    <a:pt x="4339" y="33589"/>
                  </a:lnTo>
                  <a:lnTo>
                    <a:pt x="0" y="54856"/>
                  </a:lnTo>
                  <a:lnTo>
                    <a:pt x="0" y="2551182"/>
                  </a:lnTo>
                  <a:lnTo>
                    <a:pt x="4339" y="2572449"/>
                  </a:lnTo>
                  <a:lnTo>
                    <a:pt x="16143" y="2589896"/>
                  </a:lnTo>
                  <a:lnTo>
                    <a:pt x="33589" y="2601700"/>
                  </a:lnTo>
                  <a:lnTo>
                    <a:pt x="54856" y="2606040"/>
                  </a:lnTo>
                  <a:lnTo>
                    <a:pt x="3739902" y="2606040"/>
                  </a:lnTo>
                  <a:lnTo>
                    <a:pt x="3761169" y="2601700"/>
                  </a:lnTo>
                  <a:lnTo>
                    <a:pt x="3778616" y="2589896"/>
                  </a:lnTo>
                  <a:lnTo>
                    <a:pt x="3790420" y="2572449"/>
                  </a:lnTo>
                  <a:lnTo>
                    <a:pt x="3794760" y="2551182"/>
                  </a:lnTo>
                  <a:lnTo>
                    <a:pt x="3794760" y="54856"/>
                  </a:lnTo>
                  <a:lnTo>
                    <a:pt x="3790420" y="33589"/>
                  </a:lnTo>
                  <a:lnTo>
                    <a:pt x="3778616" y="16143"/>
                  </a:lnTo>
                  <a:lnTo>
                    <a:pt x="3761169" y="4339"/>
                  </a:lnTo>
                  <a:lnTo>
                    <a:pt x="37399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3" name="object 33"/>
            <p:cNvSpPr/>
            <p:nvPr/>
          </p:nvSpPr>
          <p:spPr>
            <a:xfrm>
              <a:off x="4187951" y="822960"/>
              <a:ext cx="3794760" cy="2606040"/>
            </a:xfrm>
            <a:custGeom>
              <a:avLst/>
              <a:gdLst/>
              <a:ahLst/>
              <a:cxnLst/>
              <a:rect l="l" t="t" r="r" b="b"/>
              <a:pathLst>
                <a:path w="3794759" h="2606040">
                  <a:moveTo>
                    <a:pt x="0" y="54856"/>
                  </a:moveTo>
                  <a:lnTo>
                    <a:pt x="4339" y="33589"/>
                  </a:lnTo>
                  <a:lnTo>
                    <a:pt x="16143" y="16143"/>
                  </a:lnTo>
                  <a:lnTo>
                    <a:pt x="33589" y="4339"/>
                  </a:lnTo>
                  <a:lnTo>
                    <a:pt x="54856" y="0"/>
                  </a:lnTo>
                  <a:lnTo>
                    <a:pt x="3739902" y="0"/>
                  </a:lnTo>
                  <a:lnTo>
                    <a:pt x="3761169" y="4339"/>
                  </a:lnTo>
                  <a:lnTo>
                    <a:pt x="3778616" y="16143"/>
                  </a:lnTo>
                  <a:lnTo>
                    <a:pt x="3790420" y="33589"/>
                  </a:lnTo>
                  <a:lnTo>
                    <a:pt x="3794760" y="54856"/>
                  </a:lnTo>
                  <a:lnTo>
                    <a:pt x="3794760" y="2551182"/>
                  </a:lnTo>
                  <a:lnTo>
                    <a:pt x="3790420" y="2572449"/>
                  </a:lnTo>
                  <a:lnTo>
                    <a:pt x="3778616" y="2589896"/>
                  </a:lnTo>
                  <a:lnTo>
                    <a:pt x="3761169" y="2601700"/>
                  </a:lnTo>
                  <a:lnTo>
                    <a:pt x="3739902" y="2606040"/>
                  </a:lnTo>
                  <a:lnTo>
                    <a:pt x="54856" y="2606040"/>
                  </a:lnTo>
                  <a:lnTo>
                    <a:pt x="33589" y="2601700"/>
                  </a:lnTo>
                  <a:lnTo>
                    <a:pt x="16143" y="2589896"/>
                  </a:lnTo>
                  <a:lnTo>
                    <a:pt x="4339" y="2572449"/>
                  </a:lnTo>
                  <a:lnTo>
                    <a:pt x="0" y="2551182"/>
                  </a:lnTo>
                  <a:lnTo>
                    <a:pt x="0" y="54856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4" name="object 34"/>
            <p:cNvSpPr/>
            <p:nvPr/>
          </p:nvSpPr>
          <p:spPr>
            <a:xfrm>
              <a:off x="4187952" y="822959"/>
              <a:ext cx="219710" cy="2606040"/>
            </a:xfrm>
            <a:custGeom>
              <a:avLst/>
              <a:gdLst/>
              <a:ahLst/>
              <a:cxnLst/>
              <a:rect l="l" t="t" r="r" b="b"/>
              <a:pathLst>
                <a:path w="219710" h="2606040">
                  <a:moveTo>
                    <a:pt x="50292" y="0"/>
                  </a:moveTo>
                  <a:lnTo>
                    <a:pt x="0" y="0"/>
                  </a:lnTo>
                  <a:lnTo>
                    <a:pt x="0" y="2606040"/>
                  </a:lnTo>
                  <a:lnTo>
                    <a:pt x="50292" y="2606040"/>
                  </a:lnTo>
                  <a:lnTo>
                    <a:pt x="50292" y="0"/>
                  </a:lnTo>
                  <a:close/>
                </a:path>
                <a:path w="219710" h="2606040">
                  <a:moveTo>
                    <a:pt x="219456" y="2112264"/>
                  </a:moveTo>
                  <a:lnTo>
                    <a:pt x="155448" y="2112264"/>
                  </a:lnTo>
                  <a:lnTo>
                    <a:pt x="155448" y="2176272"/>
                  </a:lnTo>
                  <a:lnTo>
                    <a:pt x="219456" y="2176272"/>
                  </a:lnTo>
                  <a:lnTo>
                    <a:pt x="219456" y="2112264"/>
                  </a:lnTo>
                  <a:close/>
                </a:path>
                <a:path w="219710" h="2606040">
                  <a:moveTo>
                    <a:pt x="219456" y="1682496"/>
                  </a:moveTo>
                  <a:lnTo>
                    <a:pt x="155448" y="1682496"/>
                  </a:lnTo>
                  <a:lnTo>
                    <a:pt x="155448" y="1746504"/>
                  </a:lnTo>
                  <a:lnTo>
                    <a:pt x="219456" y="1746504"/>
                  </a:lnTo>
                  <a:lnTo>
                    <a:pt x="219456" y="1682496"/>
                  </a:lnTo>
                  <a:close/>
                </a:path>
                <a:path w="219710" h="2606040">
                  <a:moveTo>
                    <a:pt x="219456" y="1252728"/>
                  </a:moveTo>
                  <a:lnTo>
                    <a:pt x="155448" y="1252728"/>
                  </a:lnTo>
                  <a:lnTo>
                    <a:pt x="155448" y="1316736"/>
                  </a:lnTo>
                  <a:lnTo>
                    <a:pt x="219456" y="1316736"/>
                  </a:lnTo>
                  <a:lnTo>
                    <a:pt x="219456" y="1252728"/>
                  </a:lnTo>
                  <a:close/>
                </a:path>
                <a:path w="219710" h="2606040">
                  <a:moveTo>
                    <a:pt x="219456" y="822960"/>
                  </a:moveTo>
                  <a:lnTo>
                    <a:pt x="155448" y="822960"/>
                  </a:lnTo>
                  <a:lnTo>
                    <a:pt x="155448" y="886968"/>
                  </a:lnTo>
                  <a:lnTo>
                    <a:pt x="219456" y="886968"/>
                  </a:lnTo>
                  <a:lnTo>
                    <a:pt x="219456" y="822960"/>
                  </a:lnTo>
                  <a:close/>
                </a:path>
                <a:path w="219710" h="2606040">
                  <a:moveTo>
                    <a:pt x="219456" y="393192"/>
                  </a:moveTo>
                  <a:lnTo>
                    <a:pt x="155448" y="393192"/>
                  </a:lnTo>
                  <a:lnTo>
                    <a:pt x="155448" y="457200"/>
                  </a:lnTo>
                  <a:lnTo>
                    <a:pt x="219456" y="457200"/>
                  </a:lnTo>
                  <a:lnTo>
                    <a:pt x="219456" y="393192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194616" y="2493816"/>
            <a:ext cx="3919906" cy="2505238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975"/>
              </a:spcBef>
            </a:pP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UNIQUENESS</a:t>
            </a:r>
            <a:r>
              <a:rPr sz="1300" b="1" spc="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&amp;</a:t>
            </a:r>
            <a:r>
              <a:rPr sz="1300" b="1" spc="10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INNOVATION</a:t>
            </a:r>
            <a:endParaRPr sz="1300" dirty="0">
              <a:latin typeface="Calibri"/>
              <a:cs typeface="Calibri"/>
            </a:endParaRPr>
          </a:p>
          <a:p>
            <a:pPr marL="354965" marR="346075">
              <a:lnSpc>
                <a:spcPts val="1030"/>
              </a:lnSpc>
              <a:spcBef>
                <a:spcPts val="765"/>
              </a:spcBef>
            </a:pPr>
            <a:r>
              <a:rPr lang="en-US" sz="950" b="1" spc="-10" dirty="0">
                <a:solidFill>
                  <a:srgbClr val="1F3864"/>
                </a:solidFill>
                <a:latin typeface="Calibri"/>
                <a:cs typeface="Calibri"/>
              </a:rPr>
              <a:t>Evidence-first compliance — </a:t>
            </a:r>
            <a:r>
              <a:rPr lang="en-US" sz="950" spc="-10" dirty="0">
                <a:solidFill>
                  <a:srgbClr val="2A3544"/>
                </a:solidFill>
                <a:latin typeface="Calibri"/>
                <a:cs typeface="Calibri"/>
              </a:rPr>
              <a:t>Every decision is linked to the extracted value, image evidence and applicable rule.</a:t>
            </a:r>
          </a:p>
          <a:p>
            <a:pPr marL="354965" marR="346075">
              <a:lnSpc>
                <a:spcPts val="1030"/>
              </a:lnSpc>
              <a:spcBef>
                <a:spcPts val="765"/>
              </a:spcBef>
            </a:pPr>
            <a:r>
              <a:rPr lang="en-US" sz="950" b="1" spc="-10" dirty="0">
                <a:solidFill>
                  <a:srgbClr val="1F3864"/>
                </a:solidFill>
                <a:latin typeface="Calibri"/>
                <a:cs typeface="Calibri"/>
              </a:rPr>
              <a:t>Rule-based validation — </a:t>
            </a:r>
            <a:r>
              <a:rPr lang="en-US" sz="950" spc="-10" dirty="0">
                <a:solidFill>
                  <a:srgbClr val="2A3544"/>
                </a:solidFill>
                <a:latin typeface="Calibri"/>
                <a:cs typeface="Calibri"/>
              </a:rPr>
              <a:t>A dedicated rule engine checks presence, correctness, format, placement and font-size requirements instead of relying on an LLM for compliance decisions.</a:t>
            </a:r>
          </a:p>
          <a:p>
            <a:pPr marL="354965" marR="346075">
              <a:lnSpc>
                <a:spcPts val="1030"/>
              </a:lnSpc>
              <a:spcBef>
                <a:spcPts val="765"/>
              </a:spcBef>
            </a:pPr>
            <a:r>
              <a:rPr lang="en-US" sz="950" b="1" spc="-10" dirty="0">
                <a:solidFill>
                  <a:srgbClr val="1F3864"/>
                </a:solidFill>
                <a:latin typeface="Calibri"/>
                <a:cs typeface="Calibri"/>
              </a:rPr>
              <a:t>Confidence-aware pipeline — </a:t>
            </a:r>
            <a:r>
              <a:rPr lang="en-US" sz="950" spc="-10" dirty="0">
                <a:solidFill>
                  <a:srgbClr val="2A3544"/>
                </a:solidFill>
                <a:latin typeface="Calibri"/>
                <a:cs typeface="Calibri"/>
              </a:rPr>
              <a:t>Confidence is carried from OCR → extraction → validation; uncertain cases are automatically marked NEEDS REVIEW.</a:t>
            </a:r>
          </a:p>
          <a:p>
            <a:pPr marL="354965" marR="346075">
              <a:lnSpc>
                <a:spcPts val="1030"/>
              </a:lnSpc>
              <a:spcBef>
                <a:spcPts val="765"/>
              </a:spcBef>
            </a:pPr>
            <a:r>
              <a:rPr lang="en-IN" sz="950" b="1" spc="-10" dirty="0">
                <a:solidFill>
                  <a:srgbClr val="1F3864"/>
                </a:solidFill>
                <a:latin typeface="Calibri"/>
                <a:cs typeface="Calibri"/>
              </a:rPr>
              <a:t>Multi-parameter checking: </a:t>
            </a:r>
            <a:r>
              <a:rPr lang="en-US" sz="950" spc="-10" dirty="0">
                <a:solidFill>
                  <a:srgbClr val="2A3544"/>
                </a:solidFill>
                <a:latin typeface="Calibri"/>
                <a:cs typeface="Calibri"/>
              </a:rPr>
              <a:t>checks declarations across value, format, placement, readability and font size, not just text presence.</a:t>
            </a:r>
            <a:endParaRPr lang="en-IN" sz="950" spc="-10" dirty="0">
              <a:solidFill>
                <a:srgbClr val="2A3544"/>
              </a:solidFill>
              <a:latin typeface="Calibri"/>
              <a:cs typeface="Calibri"/>
            </a:endParaRPr>
          </a:p>
          <a:p>
            <a:pPr marL="354965" marR="346075">
              <a:lnSpc>
                <a:spcPts val="1030"/>
              </a:lnSpc>
              <a:spcBef>
                <a:spcPts val="765"/>
              </a:spcBef>
            </a:pPr>
            <a:r>
              <a:rPr lang="en-US" sz="950" b="1" spc="-10" dirty="0">
                <a:solidFill>
                  <a:srgbClr val="1F3864"/>
                </a:solidFill>
                <a:latin typeface="Calibri"/>
                <a:cs typeface="Calibri"/>
              </a:rPr>
              <a:t>Evidence-grade audit trail —</a:t>
            </a:r>
            <a:r>
              <a:rPr lang="en-US" sz="950" spc="-10" dirty="0">
                <a:solidFill>
                  <a:srgbClr val="2A3544"/>
                </a:solidFill>
                <a:latin typeface="Calibri"/>
                <a:cs typeface="Calibri"/>
              </a:rPr>
              <a:t> Original images, bounding boxes, extracted values, validation results and inspection records are preserved for traceability and review.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.</a:t>
            </a:r>
          </a:p>
        </p:txBody>
      </p:sp>
      <p:grpSp>
        <p:nvGrpSpPr>
          <p:cNvPr id="48" name="object 48"/>
          <p:cNvGrpSpPr/>
          <p:nvPr/>
        </p:nvGrpSpPr>
        <p:grpSpPr>
          <a:xfrm>
            <a:off x="8062162" y="2579327"/>
            <a:ext cx="3734435" cy="2600697"/>
            <a:chOff x="8140954" y="816610"/>
            <a:chExt cx="3734435" cy="2219960"/>
          </a:xfrm>
        </p:grpSpPr>
        <p:sp>
          <p:nvSpPr>
            <p:cNvPr id="49" name="object 49"/>
            <p:cNvSpPr/>
            <p:nvPr/>
          </p:nvSpPr>
          <p:spPr>
            <a:xfrm>
              <a:off x="8140954" y="829309"/>
              <a:ext cx="3734435" cy="2207260"/>
            </a:xfrm>
            <a:custGeom>
              <a:avLst/>
              <a:gdLst/>
              <a:ahLst/>
              <a:cxnLst/>
              <a:rect l="l" t="t" r="r" b="b"/>
              <a:pathLst>
                <a:path w="3734434" h="2207260">
                  <a:moveTo>
                    <a:pt x="3679126" y="0"/>
                  </a:moveTo>
                  <a:lnTo>
                    <a:pt x="55181" y="0"/>
                  </a:lnTo>
                  <a:lnTo>
                    <a:pt x="33788" y="4365"/>
                  </a:lnTo>
                  <a:lnTo>
                    <a:pt x="16238" y="16238"/>
                  </a:lnTo>
                  <a:lnTo>
                    <a:pt x="4365" y="33788"/>
                  </a:lnTo>
                  <a:lnTo>
                    <a:pt x="0" y="55181"/>
                  </a:lnTo>
                  <a:lnTo>
                    <a:pt x="0" y="2152078"/>
                  </a:lnTo>
                  <a:lnTo>
                    <a:pt x="4365" y="2173471"/>
                  </a:lnTo>
                  <a:lnTo>
                    <a:pt x="16238" y="2191020"/>
                  </a:lnTo>
                  <a:lnTo>
                    <a:pt x="33788" y="2202894"/>
                  </a:lnTo>
                  <a:lnTo>
                    <a:pt x="55181" y="2207260"/>
                  </a:lnTo>
                  <a:lnTo>
                    <a:pt x="3679126" y="2207260"/>
                  </a:lnTo>
                  <a:lnTo>
                    <a:pt x="3700519" y="2202894"/>
                  </a:lnTo>
                  <a:lnTo>
                    <a:pt x="3718069" y="2191020"/>
                  </a:lnTo>
                  <a:lnTo>
                    <a:pt x="3729942" y="2173471"/>
                  </a:lnTo>
                  <a:lnTo>
                    <a:pt x="3734307" y="2152078"/>
                  </a:lnTo>
                  <a:lnTo>
                    <a:pt x="3734307" y="55181"/>
                  </a:lnTo>
                  <a:lnTo>
                    <a:pt x="3729942" y="33788"/>
                  </a:lnTo>
                  <a:lnTo>
                    <a:pt x="3718069" y="16238"/>
                  </a:lnTo>
                  <a:lnTo>
                    <a:pt x="3700519" y="4365"/>
                  </a:lnTo>
                  <a:lnTo>
                    <a:pt x="3679126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0" name="object 50"/>
            <p:cNvSpPr/>
            <p:nvPr/>
          </p:nvSpPr>
          <p:spPr>
            <a:xfrm>
              <a:off x="8147304" y="822960"/>
              <a:ext cx="3721735" cy="2194560"/>
            </a:xfrm>
            <a:custGeom>
              <a:avLst/>
              <a:gdLst/>
              <a:ahLst/>
              <a:cxnLst/>
              <a:rect l="l" t="t" r="r" b="b"/>
              <a:pathLst>
                <a:path w="3721734" h="2194560">
                  <a:moveTo>
                    <a:pt x="3666744" y="0"/>
                  </a:moveTo>
                  <a:lnTo>
                    <a:pt x="54863" y="0"/>
                  </a:lnTo>
                  <a:lnTo>
                    <a:pt x="33593" y="4340"/>
                  </a:lnTo>
                  <a:lnTo>
                    <a:pt x="16145" y="16145"/>
                  </a:lnTo>
                  <a:lnTo>
                    <a:pt x="4339" y="33594"/>
                  </a:lnTo>
                  <a:lnTo>
                    <a:pt x="0" y="54864"/>
                  </a:lnTo>
                  <a:lnTo>
                    <a:pt x="0" y="2139696"/>
                  </a:lnTo>
                  <a:lnTo>
                    <a:pt x="4339" y="2160965"/>
                  </a:lnTo>
                  <a:lnTo>
                    <a:pt x="16145" y="2178414"/>
                  </a:lnTo>
                  <a:lnTo>
                    <a:pt x="33593" y="2190219"/>
                  </a:lnTo>
                  <a:lnTo>
                    <a:pt x="54864" y="2194560"/>
                  </a:lnTo>
                  <a:lnTo>
                    <a:pt x="3666744" y="2194560"/>
                  </a:lnTo>
                  <a:lnTo>
                    <a:pt x="3688013" y="2190219"/>
                  </a:lnTo>
                  <a:lnTo>
                    <a:pt x="3705462" y="2178414"/>
                  </a:lnTo>
                  <a:lnTo>
                    <a:pt x="3717267" y="2160965"/>
                  </a:lnTo>
                  <a:lnTo>
                    <a:pt x="3721608" y="2139696"/>
                  </a:lnTo>
                  <a:lnTo>
                    <a:pt x="3721608" y="54864"/>
                  </a:lnTo>
                  <a:lnTo>
                    <a:pt x="3717268" y="33594"/>
                  </a:lnTo>
                  <a:lnTo>
                    <a:pt x="3705462" y="16145"/>
                  </a:lnTo>
                  <a:lnTo>
                    <a:pt x="3688013" y="4340"/>
                  </a:lnTo>
                  <a:lnTo>
                    <a:pt x="3666744" y="0"/>
                  </a:lnTo>
                  <a:close/>
                </a:path>
              </a:pathLst>
            </a:custGeom>
            <a:solidFill>
              <a:srgbClr val="F4F7F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1" name="object 51"/>
            <p:cNvSpPr/>
            <p:nvPr/>
          </p:nvSpPr>
          <p:spPr>
            <a:xfrm>
              <a:off x="8147304" y="822960"/>
              <a:ext cx="3721735" cy="2194560"/>
            </a:xfrm>
            <a:custGeom>
              <a:avLst/>
              <a:gdLst/>
              <a:ahLst/>
              <a:cxnLst/>
              <a:rect l="l" t="t" r="r" b="b"/>
              <a:pathLst>
                <a:path w="3721734" h="2194560">
                  <a:moveTo>
                    <a:pt x="0" y="54864"/>
                  </a:moveTo>
                  <a:lnTo>
                    <a:pt x="4339" y="33594"/>
                  </a:lnTo>
                  <a:lnTo>
                    <a:pt x="16145" y="16145"/>
                  </a:lnTo>
                  <a:lnTo>
                    <a:pt x="33593" y="4340"/>
                  </a:lnTo>
                  <a:lnTo>
                    <a:pt x="54863" y="0"/>
                  </a:lnTo>
                  <a:lnTo>
                    <a:pt x="3666744" y="0"/>
                  </a:lnTo>
                  <a:lnTo>
                    <a:pt x="3688013" y="4339"/>
                  </a:lnTo>
                  <a:lnTo>
                    <a:pt x="3705462" y="16145"/>
                  </a:lnTo>
                  <a:lnTo>
                    <a:pt x="3717267" y="33593"/>
                  </a:lnTo>
                  <a:lnTo>
                    <a:pt x="3721608" y="54862"/>
                  </a:lnTo>
                  <a:lnTo>
                    <a:pt x="3721608" y="2139696"/>
                  </a:lnTo>
                  <a:lnTo>
                    <a:pt x="3717267" y="2160965"/>
                  </a:lnTo>
                  <a:lnTo>
                    <a:pt x="3705462" y="2178414"/>
                  </a:lnTo>
                  <a:lnTo>
                    <a:pt x="3688013" y="2190219"/>
                  </a:lnTo>
                  <a:lnTo>
                    <a:pt x="3666744" y="2194560"/>
                  </a:lnTo>
                  <a:lnTo>
                    <a:pt x="54864" y="2194560"/>
                  </a:lnTo>
                  <a:lnTo>
                    <a:pt x="33593" y="2190219"/>
                  </a:lnTo>
                  <a:lnTo>
                    <a:pt x="16145" y="2178414"/>
                  </a:lnTo>
                  <a:lnTo>
                    <a:pt x="4339" y="2160965"/>
                  </a:lnTo>
                  <a:lnTo>
                    <a:pt x="0" y="2139696"/>
                  </a:lnTo>
                  <a:lnTo>
                    <a:pt x="0" y="54864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7304" y="822960"/>
              <a:ext cx="50800" cy="2194560"/>
            </a:xfrm>
            <a:custGeom>
              <a:avLst/>
              <a:gdLst/>
              <a:ahLst/>
              <a:cxnLst/>
              <a:rect l="l" t="t" r="r" b="b"/>
              <a:pathLst>
                <a:path w="50800" h="2194560">
                  <a:moveTo>
                    <a:pt x="50292" y="0"/>
                  </a:moveTo>
                  <a:lnTo>
                    <a:pt x="0" y="0"/>
                  </a:lnTo>
                  <a:lnTo>
                    <a:pt x="0" y="2194560"/>
                  </a:lnTo>
                  <a:lnTo>
                    <a:pt x="50292" y="2194560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8306255" y="2646230"/>
            <a:ext cx="240601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F4D79"/>
                </a:solidFill>
                <a:latin typeface="Calibri"/>
                <a:cs typeface="Calibri"/>
              </a:rPr>
              <a:t>COMPLIANCE</a:t>
            </a:r>
            <a:r>
              <a:rPr sz="1300" b="1" spc="-60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F4D79"/>
                </a:solidFill>
                <a:latin typeface="Calibri"/>
                <a:cs typeface="Calibri"/>
              </a:rPr>
              <a:t>CHECKS</a:t>
            </a:r>
            <a:r>
              <a:rPr sz="1300" b="1" spc="-55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F4D79"/>
                </a:solidFill>
                <a:latin typeface="Calibri"/>
                <a:cs typeface="Calibri"/>
              </a:rPr>
              <a:t>PERFORMED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8236026" y="2958539"/>
            <a:ext cx="3386705" cy="1493770"/>
            <a:chOff x="8297989" y="1183957"/>
            <a:chExt cx="3367404" cy="1326515"/>
          </a:xfrm>
        </p:grpSpPr>
        <p:sp>
          <p:nvSpPr>
            <p:cNvPr id="55" name="object 55"/>
            <p:cNvSpPr/>
            <p:nvPr/>
          </p:nvSpPr>
          <p:spPr>
            <a:xfrm>
              <a:off x="8302752" y="1188720"/>
              <a:ext cx="454025" cy="274320"/>
            </a:xfrm>
            <a:custGeom>
              <a:avLst/>
              <a:gdLst/>
              <a:ahLst/>
              <a:cxnLst/>
              <a:rect l="l" t="t" r="r" b="b"/>
              <a:pathLst>
                <a:path w="454025" h="274319">
                  <a:moveTo>
                    <a:pt x="316381" y="0"/>
                  </a:moveTo>
                  <a:lnTo>
                    <a:pt x="137159" y="0"/>
                  </a:lnTo>
                  <a:lnTo>
                    <a:pt x="94001" y="7041"/>
                  </a:lnTo>
                  <a:lnTo>
                    <a:pt x="56374" y="26610"/>
                  </a:lnTo>
                  <a:lnTo>
                    <a:pt x="26610" y="56374"/>
                  </a:lnTo>
                  <a:lnTo>
                    <a:pt x="7041" y="94001"/>
                  </a:lnTo>
                  <a:lnTo>
                    <a:pt x="0" y="137159"/>
                  </a:lnTo>
                  <a:lnTo>
                    <a:pt x="7041" y="180318"/>
                  </a:lnTo>
                  <a:lnTo>
                    <a:pt x="26610" y="217945"/>
                  </a:lnTo>
                  <a:lnTo>
                    <a:pt x="56374" y="247709"/>
                  </a:lnTo>
                  <a:lnTo>
                    <a:pt x="94001" y="267278"/>
                  </a:lnTo>
                  <a:lnTo>
                    <a:pt x="137160" y="274320"/>
                  </a:lnTo>
                  <a:lnTo>
                    <a:pt x="316381" y="274320"/>
                  </a:lnTo>
                  <a:lnTo>
                    <a:pt x="359539" y="267278"/>
                  </a:lnTo>
                  <a:lnTo>
                    <a:pt x="397167" y="247709"/>
                  </a:lnTo>
                  <a:lnTo>
                    <a:pt x="426931" y="217945"/>
                  </a:lnTo>
                  <a:lnTo>
                    <a:pt x="446500" y="180318"/>
                  </a:lnTo>
                  <a:lnTo>
                    <a:pt x="453541" y="137159"/>
                  </a:lnTo>
                  <a:lnTo>
                    <a:pt x="446500" y="94001"/>
                  </a:lnTo>
                  <a:lnTo>
                    <a:pt x="426931" y="56374"/>
                  </a:lnTo>
                  <a:lnTo>
                    <a:pt x="397167" y="26610"/>
                  </a:lnTo>
                  <a:lnTo>
                    <a:pt x="359539" y="7041"/>
                  </a:lnTo>
                  <a:lnTo>
                    <a:pt x="3163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6" name="object 56"/>
            <p:cNvSpPr/>
            <p:nvPr/>
          </p:nvSpPr>
          <p:spPr>
            <a:xfrm>
              <a:off x="8302752" y="1188720"/>
              <a:ext cx="454025" cy="274320"/>
            </a:xfrm>
            <a:custGeom>
              <a:avLst/>
              <a:gdLst/>
              <a:ahLst/>
              <a:cxnLst/>
              <a:rect l="l" t="t" r="r" b="b"/>
              <a:pathLst>
                <a:path w="454025" h="274319">
                  <a:moveTo>
                    <a:pt x="0" y="137159"/>
                  </a:moveTo>
                  <a:lnTo>
                    <a:pt x="7041" y="94001"/>
                  </a:lnTo>
                  <a:lnTo>
                    <a:pt x="26610" y="56374"/>
                  </a:lnTo>
                  <a:lnTo>
                    <a:pt x="56374" y="26610"/>
                  </a:lnTo>
                  <a:lnTo>
                    <a:pt x="94001" y="7041"/>
                  </a:lnTo>
                  <a:lnTo>
                    <a:pt x="137159" y="0"/>
                  </a:lnTo>
                  <a:lnTo>
                    <a:pt x="316381" y="0"/>
                  </a:lnTo>
                  <a:lnTo>
                    <a:pt x="359539" y="7041"/>
                  </a:lnTo>
                  <a:lnTo>
                    <a:pt x="397167" y="26610"/>
                  </a:lnTo>
                  <a:lnTo>
                    <a:pt x="426931" y="56374"/>
                  </a:lnTo>
                  <a:lnTo>
                    <a:pt x="446500" y="94001"/>
                  </a:lnTo>
                  <a:lnTo>
                    <a:pt x="453541" y="137159"/>
                  </a:lnTo>
                  <a:lnTo>
                    <a:pt x="446500" y="180318"/>
                  </a:lnTo>
                  <a:lnTo>
                    <a:pt x="426931" y="217945"/>
                  </a:lnTo>
                  <a:lnTo>
                    <a:pt x="397167" y="247709"/>
                  </a:lnTo>
                  <a:lnTo>
                    <a:pt x="359539" y="267278"/>
                  </a:lnTo>
                  <a:lnTo>
                    <a:pt x="316381" y="274320"/>
                  </a:lnTo>
                  <a:lnTo>
                    <a:pt x="137160" y="274320"/>
                  </a:lnTo>
                  <a:lnTo>
                    <a:pt x="94001" y="267278"/>
                  </a:lnTo>
                  <a:lnTo>
                    <a:pt x="56374" y="247709"/>
                  </a:lnTo>
                  <a:lnTo>
                    <a:pt x="26610" y="217945"/>
                  </a:lnTo>
                  <a:lnTo>
                    <a:pt x="7041" y="180318"/>
                  </a:lnTo>
                  <a:lnTo>
                    <a:pt x="0" y="137159"/>
                  </a:lnTo>
                  <a:close/>
                </a:path>
              </a:pathLst>
            </a:custGeom>
            <a:ln w="952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7" name="object 57"/>
            <p:cNvSpPr/>
            <p:nvPr/>
          </p:nvSpPr>
          <p:spPr>
            <a:xfrm>
              <a:off x="8866021" y="1188720"/>
              <a:ext cx="1046480" cy="274320"/>
            </a:xfrm>
            <a:custGeom>
              <a:avLst/>
              <a:gdLst/>
              <a:ahLst/>
              <a:cxnLst/>
              <a:rect l="l" t="t" r="r" b="b"/>
              <a:pathLst>
                <a:path w="1046479" h="274319">
                  <a:moveTo>
                    <a:pt x="908913" y="0"/>
                  </a:moveTo>
                  <a:lnTo>
                    <a:pt x="137159" y="0"/>
                  </a:lnTo>
                  <a:lnTo>
                    <a:pt x="94001" y="7041"/>
                  </a:lnTo>
                  <a:lnTo>
                    <a:pt x="56374" y="26610"/>
                  </a:lnTo>
                  <a:lnTo>
                    <a:pt x="26610" y="56374"/>
                  </a:lnTo>
                  <a:lnTo>
                    <a:pt x="7041" y="94001"/>
                  </a:lnTo>
                  <a:lnTo>
                    <a:pt x="0" y="137159"/>
                  </a:lnTo>
                  <a:lnTo>
                    <a:pt x="7041" y="180318"/>
                  </a:lnTo>
                  <a:lnTo>
                    <a:pt x="26610" y="217945"/>
                  </a:lnTo>
                  <a:lnTo>
                    <a:pt x="56374" y="247709"/>
                  </a:lnTo>
                  <a:lnTo>
                    <a:pt x="94001" y="267278"/>
                  </a:lnTo>
                  <a:lnTo>
                    <a:pt x="137160" y="274320"/>
                  </a:lnTo>
                  <a:lnTo>
                    <a:pt x="908913" y="274320"/>
                  </a:lnTo>
                  <a:lnTo>
                    <a:pt x="952072" y="267278"/>
                  </a:lnTo>
                  <a:lnTo>
                    <a:pt x="989699" y="247709"/>
                  </a:lnTo>
                  <a:lnTo>
                    <a:pt x="1019463" y="217945"/>
                  </a:lnTo>
                  <a:lnTo>
                    <a:pt x="1039032" y="180318"/>
                  </a:lnTo>
                  <a:lnTo>
                    <a:pt x="1046073" y="137159"/>
                  </a:lnTo>
                  <a:lnTo>
                    <a:pt x="1039032" y="94001"/>
                  </a:lnTo>
                  <a:lnTo>
                    <a:pt x="1019463" y="56374"/>
                  </a:lnTo>
                  <a:lnTo>
                    <a:pt x="989699" y="26610"/>
                  </a:lnTo>
                  <a:lnTo>
                    <a:pt x="952072" y="7041"/>
                  </a:lnTo>
                  <a:lnTo>
                    <a:pt x="9089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8" name="object 58"/>
            <p:cNvSpPr/>
            <p:nvPr/>
          </p:nvSpPr>
          <p:spPr>
            <a:xfrm>
              <a:off x="8866021" y="1188720"/>
              <a:ext cx="1046480" cy="274320"/>
            </a:xfrm>
            <a:custGeom>
              <a:avLst/>
              <a:gdLst/>
              <a:ahLst/>
              <a:cxnLst/>
              <a:rect l="l" t="t" r="r" b="b"/>
              <a:pathLst>
                <a:path w="1046479" h="274319">
                  <a:moveTo>
                    <a:pt x="0" y="137159"/>
                  </a:moveTo>
                  <a:lnTo>
                    <a:pt x="7041" y="94001"/>
                  </a:lnTo>
                  <a:lnTo>
                    <a:pt x="26610" y="56374"/>
                  </a:lnTo>
                  <a:lnTo>
                    <a:pt x="56374" y="26610"/>
                  </a:lnTo>
                  <a:lnTo>
                    <a:pt x="94001" y="7041"/>
                  </a:lnTo>
                  <a:lnTo>
                    <a:pt x="137159" y="0"/>
                  </a:lnTo>
                  <a:lnTo>
                    <a:pt x="908913" y="0"/>
                  </a:lnTo>
                  <a:lnTo>
                    <a:pt x="952072" y="7041"/>
                  </a:lnTo>
                  <a:lnTo>
                    <a:pt x="989699" y="26610"/>
                  </a:lnTo>
                  <a:lnTo>
                    <a:pt x="1019463" y="56374"/>
                  </a:lnTo>
                  <a:lnTo>
                    <a:pt x="1039032" y="94001"/>
                  </a:lnTo>
                  <a:lnTo>
                    <a:pt x="1046073" y="137159"/>
                  </a:lnTo>
                  <a:lnTo>
                    <a:pt x="1039032" y="180318"/>
                  </a:lnTo>
                  <a:lnTo>
                    <a:pt x="1019463" y="217945"/>
                  </a:lnTo>
                  <a:lnTo>
                    <a:pt x="989699" y="247709"/>
                  </a:lnTo>
                  <a:lnTo>
                    <a:pt x="952072" y="267278"/>
                  </a:lnTo>
                  <a:lnTo>
                    <a:pt x="908913" y="274320"/>
                  </a:lnTo>
                  <a:lnTo>
                    <a:pt x="137160" y="274320"/>
                  </a:lnTo>
                  <a:lnTo>
                    <a:pt x="94001" y="267278"/>
                  </a:lnTo>
                  <a:lnTo>
                    <a:pt x="56374" y="247709"/>
                  </a:lnTo>
                  <a:lnTo>
                    <a:pt x="26610" y="217945"/>
                  </a:lnTo>
                  <a:lnTo>
                    <a:pt x="7041" y="180318"/>
                  </a:lnTo>
                  <a:lnTo>
                    <a:pt x="0" y="137159"/>
                  </a:lnTo>
                  <a:close/>
                </a:path>
              </a:pathLst>
            </a:custGeom>
            <a:ln w="952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9" name="object 59"/>
            <p:cNvSpPr/>
            <p:nvPr/>
          </p:nvSpPr>
          <p:spPr>
            <a:xfrm>
              <a:off x="10021824" y="1188720"/>
              <a:ext cx="1638935" cy="274320"/>
            </a:xfrm>
            <a:custGeom>
              <a:avLst/>
              <a:gdLst/>
              <a:ahLst/>
              <a:cxnLst/>
              <a:rect l="l" t="t" r="r" b="b"/>
              <a:pathLst>
                <a:path w="1638934" h="274319">
                  <a:moveTo>
                    <a:pt x="1501444" y="0"/>
                  </a:moveTo>
                  <a:lnTo>
                    <a:pt x="137159" y="0"/>
                  </a:lnTo>
                  <a:lnTo>
                    <a:pt x="94001" y="7041"/>
                  </a:lnTo>
                  <a:lnTo>
                    <a:pt x="56374" y="26610"/>
                  </a:lnTo>
                  <a:lnTo>
                    <a:pt x="26610" y="56374"/>
                  </a:lnTo>
                  <a:lnTo>
                    <a:pt x="7041" y="94001"/>
                  </a:lnTo>
                  <a:lnTo>
                    <a:pt x="0" y="137159"/>
                  </a:lnTo>
                  <a:lnTo>
                    <a:pt x="7041" y="180318"/>
                  </a:lnTo>
                  <a:lnTo>
                    <a:pt x="26610" y="217945"/>
                  </a:lnTo>
                  <a:lnTo>
                    <a:pt x="56374" y="247709"/>
                  </a:lnTo>
                  <a:lnTo>
                    <a:pt x="94001" y="267278"/>
                  </a:lnTo>
                  <a:lnTo>
                    <a:pt x="137160" y="274320"/>
                  </a:lnTo>
                  <a:lnTo>
                    <a:pt x="1501444" y="274320"/>
                  </a:lnTo>
                  <a:lnTo>
                    <a:pt x="1544602" y="267278"/>
                  </a:lnTo>
                  <a:lnTo>
                    <a:pt x="1582230" y="247709"/>
                  </a:lnTo>
                  <a:lnTo>
                    <a:pt x="1611994" y="217945"/>
                  </a:lnTo>
                  <a:lnTo>
                    <a:pt x="1631563" y="180318"/>
                  </a:lnTo>
                  <a:lnTo>
                    <a:pt x="1638604" y="137159"/>
                  </a:lnTo>
                  <a:lnTo>
                    <a:pt x="1631563" y="94001"/>
                  </a:lnTo>
                  <a:lnTo>
                    <a:pt x="1611994" y="56374"/>
                  </a:lnTo>
                  <a:lnTo>
                    <a:pt x="1582230" y="26610"/>
                  </a:lnTo>
                  <a:lnTo>
                    <a:pt x="1544602" y="7041"/>
                  </a:lnTo>
                  <a:lnTo>
                    <a:pt x="1501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0" name="object 60"/>
            <p:cNvSpPr/>
            <p:nvPr/>
          </p:nvSpPr>
          <p:spPr>
            <a:xfrm>
              <a:off x="10021824" y="1188720"/>
              <a:ext cx="1638935" cy="274320"/>
            </a:xfrm>
            <a:custGeom>
              <a:avLst/>
              <a:gdLst/>
              <a:ahLst/>
              <a:cxnLst/>
              <a:rect l="l" t="t" r="r" b="b"/>
              <a:pathLst>
                <a:path w="1638934" h="274319">
                  <a:moveTo>
                    <a:pt x="0" y="137159"/>
                  </a:moveTo>
                  <a:lnTo>
                    <a:pt x="7041" y="94001"/>
                  </a:lnTo>
                  <a:lnTo>
                    <a:pt x="26610" y="56374"/>
                  </a:lnTo>
                  <a:lnTo>
                    <a:pt x="56374" y="26610"/>
                  </a:lnTo>
                  <a:lnTo>
                    <a:pt x="94001" y="7041"/>
                  </a:lnTo>
                  <a:lnTo>
                    <a:pt x="137159" y="0"/>
                  </a:lnTo>
                  <a:lnTo>
                    <a:pt x="1501444" y="0"/>
                  </a:lnTo>
                  <a:lnTo>
                    <a:pt x="1544602" y="7041"/>
                  </a:lnTo>
                  <a:lnTo>
                    <a:pt x="1582230" y="26610"/>
                  </a:lnTo>
                  <a:lnTo>
                    <a:pt x="1611994" y="56374"/>
                  </a:lnTo>
                  <a:lnTo>
                    <a:pt x="1631563" y="94001"/>
                  </a:lnTo>
                  <a:lnTo>
                    <a:pt x="1638604" y="137159"/>
                  </a:lnTo>
                  <a:lnTo>
                    <a:pt x="1631563" y="180318"/>
                  </a:lnTo>
                  <a:lnTo>
                    <a:pt x="1611994" y="217945"/>
                  </a:lnTo>
                  <a:lnTo>
                    <a:pt x="1582230" y="247709"/>
                  </a:lnTo>
                  <a:lnTo>
                    <a:pt x="1544602" y="267278"/>
                  </a:lnTo>
                  <a:lnTo>
                    <a:pt x="1501444" y="274320"/>
                  </a:lnTo>
                  <a:lnTo>
                    <a:pt x="137160" y="274320"/>
                  </a:lnTo>
                  <a:lnTo>
                    <a:pt x="94001" y="267278"/>
                  </a:lnTo>
                  <a:lnTo>
                    <a:pt x="56374" y="247709"/>
                  </a:lnTo>
                  <a:lnTo>
                    <a:pt x="26610" y="217945"/>
                  </a:lnTo>
                  <a:lnTo>
                    <a:pt x="7041" y="180318"/>
                  </a:lnTo>
                  <a:lnTo>
                    <a:pt x="0" y="137159"/>
                  </a:lnTo>
                  <a:close/>
                </a:path>
              </a:pathLst>
            </a:custGeom>
            <a:ln w="952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1" name="object 61"/>
            <p:cNvSpPr/>
            <p:nvPr/>
          </p:nvSpPr>
          <p:spPr>
            <a:xfrm>
              <a:off x="8302752" y="1536192"/>
              <a:ext cx="1441450" cy="274320"/>
            </a:xfrm>
            <a:custGeom>
              <a:avLst/>
              <a:gdLst/>
              <a:ahLst/>
              <a:cxnLst/>
              <a:rect l="l" t="t" r="r" b="b"/>
              <a:pathLst>
                <a:path w="1441450" h="274319">
                  <a:moveTo>
                    <a:pt x="1303933" y="0"/>
                  </a:moveTo>
                  <a:lnTo>
                    <a:pt x="137159" y="0"/>
                  </a:lnTo>
                  <a:lnTo>
                    <a:pt x="94001" y="7041"/>
                  </a:lnTo>
                  <a:lnTo>
                    <a:pt x="56374" y="26610"/>
                  </a:lnTo>
                  <a:lnTo>
                    <a:pt x="26610" y="56374"/>
                  </a:lnTo>
                  <a:lnTo>
                    <a:pt x="7041" y="94001"/>
                  </a:lnTo>
                  <a:lnTo>
                    <a:pt x="0" y="137159"/>
                  </a:lnTo>
                  <a:lnTo>
                    <a:pt x="7041" y="180318"/>
                  </a:lnTo>
                  <a:lnTo>
                    <a:pt x="26610" y="217945"/>
                  </a:lnTo>
                  <a:lnTo>
                    <a:pt x="56374" y="247709"/>
                  </a:lnTo>
                  <a:lnTo>
                    <a:pt x="94001" y="267278"/>
                  </a:lnTo>
                  <a:lnTo>
                    <a:pt x="137160" y="274320"/>
                  </a:lnTo>
                  <a:lnTo>
                    <a:pt x="1303933" y="274320"/>
                  </a:lnTo>
                  <a:lnTo>
                    <a:pt x="1347091" y="267278"/>
                  </a:lnTo>
                  <a:lnTo>
                    <a:pt x="1384719" y="247709"/>
                  </a:lnTo>
                  <a:lnTo>
                    <a:pt x="1414483" y="217945"/>
                  </a:lnTo>
                  <a:lnTo>
                    <a:pt x="1434052" y="180318"/>
                  </a:lnTo>
                  <a:lnTo>
                    <a:pt x="1441093" y="137159"/>
                  </a:lnTo>
                  <a:lnTo>
                    <a:pt x="1434052" y="94001"/>
                  </a:lnTo>
                  <a:lnTo>
                    <a:pt x="1414483" y="56374"/>
                  </a:lnTo>
                  <a:lnTo>
                    <a:pt x="1384719" y="26610"/>
                  </a:lnTo>
                  <a:lnTo>
                    <a:pt x="1347091" y="7041"/>
                  </a:lnTo>
                  <a:lnTo>
                    <a:pt x="13039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2" name="object 62"/>
            <p:cNvSpPr/>
            <p:nvPr/>
          </p:nvSpPr>
          <p:spPr>
            <a:xfrm>
              <a:off x="8302752" y="1536192"/>
              <a:ext cx="1441450" cy="274320"/>
            </a:xfrm>
            <a:custGeom>
              <a:avLst/>
              <a:gdLst/>
              <a:ahLst/>
              <a:cxnLst/>
              <a:rect l="l" t="t" r="r" b="b"/>
              <a:pathLst>
                <a:path w="1441450" h="274319">
                  <a:moveTo>
                    <a:pt x="0" y="137159"/>
                  </a:moveTo>
                  <a:lnTo>
                    <a:pt x="7041" y="94001"/>
                  </a:lnTo>
                  <a:lnTo>
                    <a:pt x="26610" y="56374"/>
                  </a:lnTo>
                  <a:lnTo>
                    <a:pt x="56374" y="26610"/>
                  </a:lnTo>
                  <a:lnTo>
                    <a:pt x="94001" y="7041"/>
                  </a:lnTo>
                  <a:lnTo>
                    <a:pt x="137159" y="0"/>
                  </a:lnTo>
                  <a:lnTo>
                    <a:pt x="1303933" y="0"/>
                  </a:lnTo>
                  <a:lnTo>
                    <a:pt x="1347091" y="7041"/>
                  </a:lnTo>
                  <a:lnTo>
                    <a:pt x="1384719" y="26610"/>
                  </a:lnTo>
                  <a:lnTo>
                    <a:pt x="1414483" y="56374"/>
                  </a:lnTo>
                  <a:lnTo>
                    <a:pt x="1434052" y="94001"/>
                  </a:lnTo>
                  <a:lnTo>
                    <a:pt x="1441093" y="137159"/>
                  </a:lnTo>
                  <a:lnTo>
                    <a:pt x="1434052" y="180318"/>
                  </a:lnTo>
                  <a:lnTo>
                    <a:pt x="1414483" y="217945"/>
                  </a:lnTo>
                  <a:lnTo>
                    <a:pt x="1384719" y="247709"/>
                  </a:lnTo>
                  <a:lnTo>
                    <a:pt x="1347091" y="267278"/>
                  </a:lnTo>
                  <a:lnTo>
                    <a:pt x="1303933" y="274320"/>
                  </a:lnTo>
                  <a:lnTo>
                    <a:pt x="137160" y="274320"/>
                  </a:lnTo>
                  <a:lnTo>
                    <a:pt x="94001" y="267278"/>
                  </a:lnTo>
                  <a:lnTo>
                    <a:pt x="56374" y="247709"/>
                  </a:lnTo>
                  <a:lnTo>
                    <a:pt x="26610" y="217945"/>
                  </a:lnTo>
                  <a:lnTo>
                    <a:pt x="7041" y="180318"/>
                  </a:lnTo>
                  <a:lnTo>
                    <a:pt x="0" y="137159"/>
                  </a:lnTo>
                  <a:close/>
                </a:path>
              </a:pathLst>
            </a:custGeom>
            <a:ln w="952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3" name="object 63"/>
            <p:cNvSpPr/>
            <p:nvPr/>
          </p:nvSpPr>
          <p:spPr>
            <a:xfrm>
              <a:off x="9853574" y="1536192"/>
              <a:ext cx="1112520" cy="274320"/>
            </a:xfrm>
            <a:custGeom>
              <a:avLst/>
              <a:gdLst/>
              <a:ahLst/>
              <a:cxnLst/>
              <a:rect l="l" t="t" r="r" b="b"/>
              <a:pathLst>
                <a:path w="1112520" h="274319">
                  <a:moveTo>
                    <a:pt x="974749" y="0"/>
                  </a:moveTo>
                  <a:lnTo>
                    <a:pt x="137159" y="0"/>
                  </a:lnTo>
                  <a:lnTo>
                    <a:pt x="94001" y="7041"/>
                  </a:lnTo>
                  <a:lnTo>
                    <a:pt x="56374" y="26610"/>
                  </a:lnTo>
                  <a:lnTo>
                    <a:pt x="26610" y="56374"/>
                  </a:lnTo>
                  <a:lnTo>
                    <a:pt x="7041" y="94001"/>
                  </a:lnTo>
                  <a:lnTo>
                    <a:pt x="0" y="137159"/>
                  </a:lnTo>
                  <a:lnTo>
                    <a:pt x="7041" y="180318"/>
                  </a:lnTo>
                  <a:lnTo>
                    <a:pt x="26610" y="217945"/>
                  </a:lnTo>
                  <a:lnTo>
                    <a:pt x="56374" y="247709"/>
                  </a:lnTo>
                  <a:lnTo>
                    <a:pt x="94001" y="267278"/>
                  </a:lnTo>
                  <a:lnTo>
                    <a:pt x="137160" y="274320"/>
                  </a:lnTo>
                  <a:lnTo>
                    <a:pt x="974749" y="274320"/>
                  </a:lnTo>
                  <a:lnTo>
                    <a:pt x="1017907" y="267278"/>
                  </a:lnTo>
                  <a:lnTo>
                    <a:pt x="1055535" y="247709"/>
                  </a:lnTo>
                  <a:lnTo>
                    <a:pt x="1085299" y="217945"/>
                  </a:lnTo>
                  <a:lnTo>
                    <a:pt x="1104868" y="180318"/>
                  </a:lnTo>
                  <a:lnTo>
                    <a:pt x="1111909" y="137159"/>
                  </a:lnTo>
                  <a:lnTo>
                    <a:pt x="1104868" y="94001"/>
                  </a:lnTo>
                  <a:lnTo>
                    <a:pt x="1085299" y="56374"/>
                  </a:lnTo>
                  <a:lnTo>
                    <a:pt x="1055535" y="26610"/>
                  </a:lnTo>
                  <a:lnTo>
                    <a:pt x="1017907" y="7041"/>
                  </a:lnTo>
                  <a:lnTo>
                    <a:pt x="9747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4" name="object 64"/>
            <p:cNvSpPr/>
            <p:nvPr/>
          </p:nvSpPr>
          <p:spPr>
            <a:xfrm>
              <a:off x="9853574" y="1536192"/>
              <a:ext cx="1112520" cy="274320"/>
            </a:xfrm>
            <a:custGeom>
              <a:avLst/>
              <a:gdLst/>
              <a:ahLst/>
              <a:cxnLst/>
              <a:rect l="l" t="t" r="r" b="b"/>
              <a:pathLst>
                <a:path w="1112520" h="274319">
                  <a:moveTo>
                    <a:pt x="0" y="137159"/>
                  </a:moveTo>
                  <a:lnTo>
                    <a:pt x="7041" y="94001"/>
                  </a:lnTo>
                  <a:lnTo>
                    <a:pt x="26610" y="56374"/>
                  </a:lnTo>
                  <a:lnTo>
                    <a:pt x="56374" y="26610"/>
                  </a:lnTo>
                  <a:lnTo>
                    <a:pt x="94001" y="7041"/>
                  </a:lnTo>
                  <a:lnTo>
                    <a:pt x="137159" y="0"/>
                  </a:lnTo>
                  <a:lnTo>
                    <a:pt x="974749" y="0"/>
                  </a:lnTo>
                  <a:lnTo>
                    <a:pt x="1017907" y="7041"/>
                  </a:lnTo>
                  <a:lnTo>
                    <a:pt x="1055535" y="26610"/>
                  </a:lnTo>
                  <a:lnTo>
                    <a:pt x="1085299" y="56374"/>
                  </a:lnTo>
                  <a:lnTo>
                    <a:pt x="1104868" y="94001"/>
                  </a:lnTo>
                  <a:lnTo>
                    <a:pt x="1111909" y="137159"/>
                  </a:lnTo>
                  <a:lnTo>
                    <a:pt x="1104868" y="180318"/>
                  </a:lnTo>
                  <a:lnTo>
                    <a:pt x="1085299" y="217945"/>
                  </a:lnTo>
                  <a:lnTo>
                    <a:pt x="1055535" y="247709"/>
                  </a:lnTo>
                  <a:lnTo>
                    <a:pt x="1017907" y="267278"/>
                  </a:lnTo>
                  <a:lnTo>
                    <a:pt x="974749" y="274320"/>
                  </a:lnTo>
                  <a:lnTo>
                    <a:pt x="137160" y="274320"/>
                  </a:lnTo>
                  <a:lnTo>
                    <a:pt x="94001" y="267278"/>
                  </a:lnTo>
                  <a:lnTo>
                    <a:pt x="56374" y="247709"/>
                  </a:lnTo>
                  <a:lnTo>
                    <a:pt x="26610" y="217945"/>
                  </a:lnTo>
                  <a:lnTo>
                    <a:pt x="7041" y="180318"/>
                  </a:lnTo>
                  <a:lnTo>
                    <a:pt x="0" y="137159"/>
                  </a:lnTo>
                  <a:close/>
                </a:path>
              </a:pathLst>
            </a:custGeom>
            <a:ln w="952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5" name="object 65"/>
            <p:cNvSpPr/>
            <p:nvPr/>
          </p:nvSpPr>
          <p:spPr>
            <a:xfrm>
              <a:off x="8302752" y="1883663"/>
              <a:ext cx="1375410" cy="274320"/>
            </a:xfrm>
            <a:custGeom>
              <a:avLst/>
              <a:gdLst/>
              <a:ahLst/>
              <a:cxnLst/>
              <a:rect l="l" t="t" r="r" b="b"/>
              <a:pathLst>
                <a:path w="1375409" h="274319">
                  <a:moveTo>
                    <a:pt x="1238097" y="0"/>
                  </a:moveTo>
                  <a:lnTo>
                    <a:pt x="137159" y="0"/>
                  </a:lnTo>
                  <a:lnTo>
                    <a:pt x="94001" y="7041"/>
                  </a:lnTo>
                  <a:lnTo>
                    <a:pt x="56374" y="26610"/>
                  </a:lnTo>
                  <a:lnTo>
                    <a:pt x="26610" y="56374"/>
                  </a:lnTo>
                  <a:lnTo>
                    <a:pt x="7041" y="94001"/>
                  </a:lnTo>
                  <a:lnTo>
                    <a:pt x="0" y="137159"/>
                  </a:lnTo>
                  <a:lnTo>
                    <a:pt x="7041" y="180318"/>
                  </a:lnTo>
                  <a:lnTo>
                    <a:pt x="26610" y="217945"/>
                  </a:lnTo>
                  <a:lnTo>
                    <a:pt x="56374" y="247709"/>
                  </a:lnTo>
                  <a:lnTo>
                    <a:pt x="94001" y="267278"/>
                  </a:lnTo>
                  <a:lnTo>
                    <a:pt x="137160" y="274320"/>
                  </a:lnTo>
                  <a:lnTo>
                    <a:pt x="1238097" y="274320"/>
                  </a:lnTo>
                  <a:lnTo>
                    <a:pt x="1281256" y="267278"/>
                  </a:lnTo>
                  <a:lnTo>
                    <a:pt x="1318883" y="247709"/>
                  </a:lnTo>
                  <a:lnTo>
                    <a:pt x="1348647" y="217945"/>
                  </a:lnTo>
                  <a:lnTo>
                    <a:pt x="1368216" y="180318"/>
                  </a:lnTo>
                  <a:lnTo>
                    <a:pt x="1375257" y="137159"/>
                  </a:lnTo>
                  <a:lnTo>
                    <a:pt x="1368216" y="94001"/>
                  </a:lnTo>
                  <a:lnTo>
                    <a:pt x="1348647" y="56374"/>
                  </a:lnTo>
                  <a:lnTo>
                    <a:pt x="1318883" y="26610"/>
                  </a:lnTo>
                  <a:lnTo>
                    <a:pt x="1281256" y="7041"/>
                  </a:lnTo>
                  <a:lnTo>
                    <a:pt x="12380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6" name="object 66"/>
            <p:cNvSpPr/>
            <p:nvPr/>
          </p:nvSpPr>
          <p:spPr>
            <a:xfrm>
              <a:off x="8302752" y="1883663"/>
              <a:ext cx="1375410" cy="274320"/>
            </a:xfrm>
            <a:custGeom>
              <a:avLst/>
              <a:gdLst/>
              <a:ahLst/>
              <a:cxnLst/>
              <a:rect l="l" t="t" r="r" b="b"/>
              <a:pathLst>
                <a:path w="1375409" h="274319">
                  <a:moveTo>
                    <a:pt x="0" y="137159"/>
                  </a:moveTo>
                  <a:lnTo>
                    <a:pt x="7041" y="94001"/>
                  </a:lnTo>
                  <a:lnTo>
                    <a:pt x="26610" y="56374"/>
                  </a:lnTo>
                  <a:lnTo>
                    <a:pt x="56374" y="26610"/>
                  </a:lnTo>
                  <a:lnTo>
                    <a:pt x="94001" y="7041"/>
                  </a:lnTo>
                  <a:lnTo>
                    <a:pt x="137159" y="0"/>
                  </a:lnTo>
                  <a:lnTo>
                    <a:pt x="1238097" y="0"/>
                  </a:lnTo>
                  <a:lnTo>
                    <a:pt x="1281256" y="7041"/>
                  </a:lnTo>
                  <a:lnTo>
                    <a:pt x="1318883" y="26610"/>
                  </a:lnTo>
                  <a:lnTo>
                    <a:pt x="1348647" y="56374"/>
                  </a:lnTo>
                  <a:lnTo>
                    <a:pt x="1368216" y="94001"/>
                  </a:lnTo>
                  <a:lnTo>
                    <a:pt x="1375257" y="137159"/>
                  </a:lnTo>
                  <a:lnTo>
                    <a:pt x="1368216" y="180318"/>
                  </a:lnTo>
                  <a:lnTo>
                    <a:pt x="1348647" y="217945"/>
                  </a:lnTo>
                  <a:lnTo>
                    <a:pt x="1318883" y="247709"/>
                  </a:lnTo>
                  <a:lnTo>
                    <a:pt x="1281256" y="267278"/>
                  </a:lnTo>
                  <a:lnTo>
                    <a:pt x="1238097" y="274320"/>
                  </a:lnTo>
                  <a:lnTo>
                    <a:pt x="137160" y="274320"/>
                  </a:lnTo>
                  <a:lnTo>
                    <a:pt x="94001" y="267278"/>
                  </a:lnTo>
                  <a:lnTo>
                    <a:pt x="56374" y="247709"/>
                  </a:lnTo>
                  <a:lnTo>
                    <a:pt x="26610" y="217945"/>
                  </a:lnTo>
                  <a:lnTo>
                    <a:pt x="7041" y="180318"/>
                  </a:lnTo>
                  <a:lnTo>
                    <a:pt x="0" y="137159"/>
                  </a:lnTo>
                  <a:close/>
                </a:path>
              </a:pathLst>
            </a:custGeom>
            <a:ln w="952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7" name="object 67"/>
            <p:cNvSpPr/>
            <p:nvPr/>
          </p:nvSpPr>
          <p:spPr>
            <a:xfrm>
              <a:off x="9787738" y="1883663"/>
              <a:ext cx="1177925" cy="274320"/>
            </a:xfrm>
            <a:custGeom>
              <a:avLst/>
              <a:gdLst/>
              <a:ahLst/>
              <a:cxnLst/>
              <a:rect l="l" t="t" r="r" b="b"/>
              <a:pathLst>
                <a:path w="1177925" h="274319">
                  <a:moveTo>
                    <a:pt x="1040586" y="0"/>
                  </a:moveTo>
                  <a:lnTo>
                    <a:pt x="137159" y="0"/>
                  </a:lnTo>
                  <a:lnTo>
                    <a:pt x="94001" y="7041"/>
                  </a:lnTo>
                  <a:lnTo>
                    <a:pt x="56374" y="26610"/>
                  </a:lnTo>
                  <a:lnTo>
                    <a:pt x="26610" y="56374"/>
                  </a:lnTo>
                  <a:lnTo>
                    <a:pt x="7041" y="94001"/>
                  </a:lnTo>
                  <a:lnTo>
                    <a:pt x="0" y="137159"/>
                  </a:lnTo>
                  <a:lnTo>
                    <a:pt x="7041" y="180318"/>
                  </a:lnTo>
                  <a:lnTo>
                    <a:pt x="26610" y="217945"/>
                  </a:lnTo>
                  <a:lnTo>
                    <a:pt x="56374" y="247709"/>
                  </a:lnTo>
                  <a:lnTo>
                    <a:pt x="94001" y="267278"/>
                  </a:lnTo>
                  <a:lnTo>
                    <a:pt x="137160" y="274320"/>
                  </a:lnTo>
                  <a:lnTo>
                    <a:pt x="1040586" y="274320"/>
                  </a:lnTo>
                  <a:lnTo>
                    <a:pt x="1083744" y="267278"/>
                  </a:lnTo>
                  <a:lnTo>
                    <a:pt x="1121372" y="247709"/>
                  </a:lnTo>
                  <a:lnTo>
                    <a:pt x="1151136" y="217945"/>
                  </a:lnTo>
                  <a:lnTo>
                    <a:pt x="1170705" y="180318"/>
                  </a:lnTo>
                  <a:lnTo>
                    <a:pt x="1177746" y="137159"/>
                  </a:lnTo>
                  <a:lnTo>
                    <a:pt x="1170705" y="94001"/>
                  </a:lnTo>
                  <a:lnTo>
                    <a:pt x="1151136" y="56374"/>
                  </a:lnTo>
                  <a:lnTo>
                    <a:pt x="1121372" y="26610"/>
                  </a:lnTo>
                  <a:lnTo>
                    <a:pt x="1083744" y="7041"/>
                  </a:lnTo>
                  <a:lnTo>
                    <a:pt x="10405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8" name="object 68"/>
            <p:cNvSpPr/>
            <p:nvPr/>
          </p:nvSpPr>
          <p:spPr>
            <a:xfrm>
              <a:off x="9787738" y="1883663"/>
              <a:ext cx="1177925" cy="274320"/>
            </a:xfrm>
            <a:custGeom>
              <a:avLst/>
              <a:gdLst/>
              <a:ahLst/>
              <a:cxnLst/>
              <a:rect l="l" t="t" r="r" b="b"/>
              <a:pathLst>
                <a:path w="1177925" h="274319">
                  <a:moveTo>
                    <a:pt x="0" y="137159"/>
                  </a:moveTo>
                  <a:lnTo>
                    <a:pt x="7041" y="94001"/>
                  </a:lnTo>
                  <a:lnTo>
                    <a:pt x="26610" y="56374"/>
                  </a:lnTo>
                  <a:lnTo>
                    <a:pt x="56374" y="26610"/>
                  </a:lnTo>
                  <a:lnTo>
                    <a:pt x="94001" y="7041"/>
                  </a:lnTo>
                  <a:lnTo>
                    <a:pt x="137159" y="0"/>
                  </a:lnTo>
                  <a:lnTo>
                    <a:pt x="1040586" y="0"/>
                  </a:lnTo>
                  <a:lnTo>
                    <a:pt x="1083744" y="7041"/>
                  </a:lnTo>
                  <a:lnTo>
                    <a:pt x="1121372" y="26610"/>
                  </a:lnTo>
                  <a:lnTo>
                    <a:pt x="1151136" y="56374"/>
                  </a:lnTo>
                  <a:lnTo>
                    <a:pt x="1170705" y="94001"/>
                  </a:lnTo>
                  <a:lnTo>
                    <a:pt x="1177746" y="137159"/>
                  </a:lnTo>
                  <a:lnTo>
                    <a:pt x="1170705" y="180318"/>
                  </a:lnTo>
                  <a:lnTo>
                    <a:pt x="1151136" y="217945"/>
                  </a:lnTo>
                  <a:lnTo>
                    <a:pt x="1121372" y="247709"/>
                  </a:lnTo>
                  <a:lnTo>
                    <a:pt x="1083744" y="267278"/>
                  </a:lnTo>
                  <a:lnTo>
                    <a:pt x="1040586" y="274320"/>
                  </a:lnTo>
                  <a:lnTo>
                    <a:pt x="137160" y="274320"/>
                  </a:lnTo>
                  <a:lnTo>
                    <a:pt x="94001" y="267278"/>
                  </a:lnTo>
                  <a:lnTo>
                    <a:pt x="56374" y="247709"/>
                  </a:lnTo>
                  <a:lnTo>
                    <a:pt x="26610" y="217945"/>
                  </a:lnTo>
                  <a:lnTo>
                    <a:pt x="7041" y="180318"/>
                  </a:lnTo>
                  <a:lnTo>
                    <a:pt x="0" y="137159"/>
                  </a:lnTo>
                  <a:close/>
                </a:path>
              </a:pathLst>
            </a:custGeom>
            <a:ln w="952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9" name="object 69"/>
            <p:cNvSpPr/>
            <p:nvPr/>
          </p:nvSpPr>
          <p:spPr>
            <a:xfrm>
              <a:off x="8302752" y="2231136"/>
              <a:ext cx="848994" cy="274320"/>
            </a:xfrm>
            <a:custGeom>
              <a:avLst/>
              <a:gdLst/>
              <a:ahLst/>
              <a:cxnLst/>
              <a:rect l="l" t="t" r="r" b="b"/>
              <a:pathLst>
                <a:path w="848995" h="274319">
                  <a:moveTo>
                    <a:pt x="711402" y="0"/>
                  </a:moveTo>
                  <a:lnTo>
                    <a:pt x="137159" y="0"/>
                  </a:lnTo>
                  <a:lnTo>
                    <a:pt x="94001" y="7041"/>
                  </a:lnTo>
                  <a:lnTo>
                    <a:pt x="56374" y="26610"/>
                  </a:lnTo>
                  <a:lnTo>
                    <a:pt x="26610" y="56374"/>
                  </a:lnTo>
                  <a:lnTo>
                    <a:pt x="7041" y="94001"/>
                  </a:lnTo>
                  <a:lnTo>
                    <a:pt x="0" y="137159"/>
                  </a:lnTo>
                  <a:lnTo>
                    <a:pt x="7041" y="180318"/>
                  </a:lnTo>
                  <a:lnTo>
                    <a:pt x="26610" y="217945"/>
                  </a:lnTo>
                  <a:lnTo>
                    <a:pt x="56374" y="247709"/>
                  </a:lnTo>
                  <a:lnTo>
                    <a:pt x="94001" y="267278"/>
                  </a:lnTo>
                  <a:lnTo>
                    <a:pt x="137160" y="274320"/>
                  </a:lnTo>
                  <a:lnTo>
                    <a:pt x="711402" y="274320"/>
                  </a:lnTo>
                  <a:lnTo>
                    <a:pt x="754560" y="267278"/>
                  </a:lnTo>
                  <a:lnTo>
                    <a:pt x="792188" y="247709"/>
                  </a:lnTo>
                  <a:lnTo>
                    <a:pt x="821952" y="217945"/>
                  </a:lnTo>
                  <a:lnTo>
                    <a:pt x="841521" y="180318"/>
                  </a:lnTo>
                  <a:lnTo>
                    <a:pt x="848562" y="137159"/>
                  </a:lnTo>
                  <a:lnTo>
                    <a:pt x="841521" y="94001"/>
                  </a:lnTo>
                  <a:lnTo>
                    <a:pt x="821952" y="56374"/>
                  </a:lnTo>
                  <a:lnTo>
                    <a:pt x="792188" y="26610"/>
                  </a:lnTo>
                  <a:lnTo>
                    <a:pt x="754560" y="7041"/>
                  </a:lnTo>
                  <a:lnTo>
                    <a:pt x="711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0" name="object 70"/>
            <p:cNvSpPr/>
            <p:nvPr/>
          </p:nvSpPr>
          <p:spPr>
            <a:xfrm>
              <a:off x="8302752" y="2231136"/>
              <a:ext cx="848994" cy="274320"/>
            </a:xfrm>
            <a:custGeom>
              <a:avLst/>
              <a:gdLst/>
              <a:ahLst/>
              <a:cxnLst/>
              <a:rect l="l" t="t" r="r" b="b"/>
              <a:pathLst>
                <a:path w="848995" h="274319">
                  <a:moveTo>
                    <a:pt x="0" y="137159"/>
                  </a:moveTo>
                  <a:lnTo>
                    <a:pt x="7041" y="94001"/>
                  </a:lnTo>
                  <a:lnTo>
                    <a:pt x="26610" y="56374"/>
                  </a:lnTo>
                  <a:lnTo>
                    <a:pt x="56374" y="26610"/>
                  </a:lnTo>
                  <a:lnTo>
                    <a:pt x="94001" y="7041"/>
                  </a:lnTo>
                  <a:lnTo>
                    <a:pt x="137159" y="0"/>
                  </a:lnTo>
                  <a:lnTo>
                    <a:pt x="711402" y="0"/>
                  </a:lnTo>
                  <a:lnTo>
                    <a:pt x="754560" y="7041"/>
                  </a:lnTo>
                  <a:lnTo>
                    <a:pt x="792188" y="26610"/>
                  </a:lnTo>
                  <a:lnTo>
                    <a:pt x="821952" y="56374"/>
                  </a:lnTo>
                  <a:lnTo>
                    <a:pt x="841521" y="94001"/>
                  </a:lnTo>
                  <a:lnTo>
                    <a:pt x="848562" y="137159"/>
                  </a:lnTo>
                  <a:lnTo>
                    <a:pt x="841521" y="180318"/>
                  </a:lnTo>
                  <a:lnTo>
                    <a:pt x="821952" y="217945"/>
                  </a:lnTo>
                  <a:lnTo>
                    <a:pt x="792188" y="247709"/>
                  </a:lnTo>
                  <a:lnTo>
                    <a:pt x="754560" y="267278"/>
                  </a:lnTo>
                  <a:lnTo>
                    <a:pt x="711402" y="274320"/>
                  </a:lnTo>
                  <a:lnTo>
                    <a:pt x="137160" y="274320"/>
                  </a:lnTo>
                  <a:lnTo>
                    <a:pt x="94001" y="267278"/>
                  </a:lnTo>
                  <a:lnTo>
                    <a:pt x="56374" y="247709"/>
                  </a:lnTo>
                  <a:lnTo>
                    <a:pt x="26610" y="217945"/>
                  </a:lnTo>
                  <a:lnTo>
                    <a:pt x="7041" y="180318"/>
                  </a:lnTo>
                  <a:lnTo>
                    <a:pt x="0" y="137159"/>
                  </a:lnTo>
                  <a:close/>
                </a:path>
              </a:pathLst>
            </a:custGeom>
            <a:ln w="952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1" name="object 71"/>
            <p:cNvSpPr/>
            <p:nvPr/>
          </p:nvSpPr>
          <p:spPr>
            <a:xfrm>
              <a:off x="9261042" y="2231136"/>
              <a:ext cx="1243965" cy="274320"/>
            </a:xfrm>
            <a:custGeom>
              <a:avLst/>
              <a:gdLst/>
              <a:ahLst/>
              <a:cxnLst/>
              <a:rect l="l" t="t" r="r" b="b"/>
              <a:pathLst>
                <a:path w="1243965" h="274319">
                  <a:moveTo>
                    <a:pt x="1106424" y="0"/>
                  </a:moveTo>
                  <a:lnTo>
                    <a:pt x="137159" y="0"/>
                  </a:lnTo>
                  <a:lnTo>
                    <a:pt x="94001" y="7041"/>
                  </a:lnTo>
                  <a:lnTo>
                    <a:pt x="56374" y="26610"/>
                  </a:lnTo>
                  <a:lnTo>
                    <a:pt x="26610" y="56374"/>
                  </a:lnTo>
                  <a:lnTo>
                    <a:pt x="7041" y="94001"/>
                  </a:lnTo>
                  <a:lnTo>
                    <a:pt x="0" y="137159"/>
                  </a:lnTo>
                  <a:lnTo>
                    <a:pt x="7041" y="180318"/>
                  </a:lnTo>
                  <a:lnTo>
                    <a:pt x="26610" y="217945"/>
                  </a:lnTo>
                  <a:lnTo>
                    <a:pt x="56374" y="247709"/>
                  </a:lnTo>
                  <a:lnTo>
                    <a:pt x="94001" y="267278"/>
                  </a:lnTo>
                  <a:lnTo>
                    <a:pt x="137160" y="274320"/>
                  </a:lnTo>
                  <a:lnTo>
                    <a:pt x="1106424" y="274320"/>
                  </a:lnTo>
                  <a:lnTo>
                    <a:pt x="1149582" y="267278"/>
                  </a:lnTo>
                  <a:lnTo>
                    <a:pt x="1187209" y="247709"/>
                  </a:lnTo>
                  <a:lnTo>
                    <a:pt x="1216973" y="217945"/>
                  </a:lnTo>
                  <a:lnTo>
                    <a:pt x="1236542" y="180318"/>
                  </a:lnTo>
                  <a:lnTo>
                    <a:pt x="1243583" y="137159"/>
                  </a:lnTo>
                  <a:lnTo>
                    <a:pt x="1236542" y="94001"/>
                  </a:lnTo>
                  <a:lnTo>
                    <a:pt x="1216973" y="56374"/>
                  </a:lnTo>
                  <a:lnTo>
                    <a:pt x="1187209" y="26610"/>
                  </a:lnTo>
                  <a:lnTo>
                    <a:pt x="1149582" y="7041"/>
                  </a:lnTo>
                  <a:lnTo>
                    <a:pt x="11064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2" name="object 72"/>
            <p:cNvSpPr/>
            <p:nvPr/>
          </p:nvSpPr>
          <p:spPr>
            <a:xfrm>
              <a:off x="9261042" y="2231136"/>
              <a:ext cx="1243965" cy="274320"/>
            </a:xfrm>
            <a:custGeom>
              <a:avLst/>
              <a:gdLst/>
              <a:ahLst/>
              <a:cxnLst/>
              <a:rect l="l" t="t" r="r" b="b"/>
              <a:pathLst>
                <a:path w="1243965" h="274319">
                  <a:moveTo>
                    <a:pt x="0" y="137159"/>
                  </a:moveTo>
                  <a:lnTo>
                    <a:pt x="7041" y="94001"/>
                  </a:lnTo>
                  <a:lnTo>
                    <a:pt x="26610" y="56374"/>
                  </a:lnTo>
                  <a:lnTo>
                    <a:pt x="56374" y="26610"/>
                  </a:lnTo>
                  <a:lnTo>
                    <a:pt x="94001" y="7041"/>
                  </a:lnTo>
                  <a:lnTo>
                    <a:pt x="137159" y="0"/>
                  </a:lnTo>
                  <a:lnTo>
                    <a:pt x="1106424" y="0"/>
                  </a:lnTo>
                  <a:lnTo>
                    <a:pt x="1149582" y="7041"/>
                  </a:lnTo>
                  <a:lnTo>
                    <a:pt x="1187209" y="26610"/>
                  </a:lnTo>
                  <a:lnTo>
                    <a:pt x="1216973" y="56374"/>
                  </a:lnTo>
                  <a:lnTo>
                    <a:pt x="1236542" y="94001"/>
                  </a:lnTo>
                  <a:lnTo>
                    <a:pt x="1243583" y="137159"/>
                  </a:lnTo>
                  <a:lnTo>
                    <a:pt x="1236542" y="180318"/>
                  </a:lnTo>
                  <a:lnTo>
                    <a:pt x="1216973" y="217945"/>
                  </a:lnTo>
                  <a:lnTo>
                    <a:pt x="1187209" y="247709"/>
                  </a:lnTo>
                  <a:lnTo>
                    <a:pt x="1149582" y="267278"/>
                  </a:lnTo>
                  <a:lnTo>
                    <a:pt x="1106424" y="274320"/>
                  </a:lnTo>
                  <a:lnTo>
                    <a:pt x="137160" y="274320"/>
                  </a:lnTo>
                  <a:lnTo>
                    <a:pt x="94001" y="267278"/>
                  </a:lnTo>
                  <a:lnTo>
                    <a:pt x="56374" y="247709"/>
                  </a:lnTo>
                  <a:lnTo>
                    <a:pt x="26610" y="217945"/>
                  </a:lnTo>
                  <a:lnTo>
                    <a:pt x="7041" y="180318"/>
                  </a:lnTo>
                  <a:lnTo>
                    <a:pt x="0" y="137159"/>
                  </a:lnTo>
                  <a:close/>
                </a:path>
              </a:pathLst>
            </a:custGeom>
            <a:ln w="952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3" name="object 73"/>
            <p:cNvSpPr/>
            <p:nvPr/>
          </p:nvSpPr>
          <p:spPr>
            <a:xfrm>
              <a:off x="10614354" y="2231136"/>
              <a:ext cx="980440" cy="274320"/>
            </a:xfrm>
            <a:custGeom>
              <a:avLst/>
              <a:gdLst/>
              <a:ahLst/>
              <a:cxnLst/>
              <a:rect l="l" t="t" r="r" b="b"/>
              <a:pathLst>
                <a:path w="980440" h="274319">
                  <a:moveTo>
                    <a:pt x="843076" y="0"/>
                  </a:moveTo>
                  <a:lnTo>
                    <a:pt x="137159" y="0"/>
                  </a:lnTo>
                  <a:lnTo>
                    <a:pt x="94001" y="7041"/>
                  </a:lnTo>
                  <a:lnTo>
                    <a:pt x="56374" y="26610"/>
                  </a:lnTo>
                  <a:lnTo>
                    <a:pt x="26610" y="56374"/>
                  </a:lnTo>
                  <a:lnTo>
                    <a:pt x="7041" y="94001"/>
                  </a:lnTo>
                  <a:lnTo>
                    <a:pt x="0" y="137159"/>
                  </a:lnTo>
                  <a:lnTo>
                    <a:pt x="7041" y="180318"/>
                  </a:lnTo>
                  <a:lnTo>
                    <a:pt x="26610" y="217945"/>
                  </a:lnTo>
                  <a:lnTo>
                    <a:pt x="56374" y="247709"/>
                  </a:lnTo>
                  <a:lnTo>
                    <a:pt x="94001" y="267278"/>
                  </a:lnTo>
                  <a:lnTo>
                    <a:pt x="137160" y="274320"/>
                  </a:lnTo>
                  <a:lnTo>
                    <a:pt x="843076" y="274320"/>
                  </a:lnTo>
                  <a:lnTo>
                    <a:pt x="886234" y="267278"/>
                  </a:lnTo>
                  <a:lnTo>
                    <a:pt x="923862" y="247709"/>
                  </a:lnTo>
                  <a:lnTo>
                    <a:pt x="953626" y="217945"/>
                  </a:lnTo>
                  <a:lnTo>
                    <a:pt x="973195" y="180318"/>
                  </a:lnTo>
                  <a:lnTo>
                    <a:pt x="980236" y="137159"/>
                  </a:lnTo>
                  <a:lnTo>
                    <a:pt x="973195" y="94001"/>
                  </a:lnTo>
                  <a:lnTo>
                    <a:pt x="953626" y="56374"/>
                  </a:lnTo>
                  <a:lnTo>
                    <a:pt x="923862" y="26610"/>
                  </a:lnTo>
                  <a:lnTo>
                    <a:pt x="886234" y="7041"/>
                  </a:lnTo>
                  <a:lnTo>
                    <a:pt x="8430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74"/>
            <p:cNvSpPr/>
            <p:nvPr/>
          </p:nvSpPr>
          <p:spPr>
            <a:xfrm>
              <a:off x="10614354" y="2231136"/>
              <a:ext cx="980440" cy="274320"/>
            </a:xfrm>
            <a:custGeom>
              <a:avLst/>
              <a:gdLst/>
              <a:ahLst/>
              <a:cxnLst/>
              <a:rect l="l" t="t" r="r" b="b"/>
              <a:pathLst>
                <a:path w="980440" h="274319">
                  <a:moveTo>
                    <a:pt x="0" y="137159"/>
                  </a:moveTo>
                  <a:lnTo>
                    <a:pt x="7041" y="94001"/>
                  </a:lnTo>
                  <a:lnTo>
                    <a:pt x="26610" y="56374"/>
                  </a:lnTo>
                  <a:lnTo>
                    <a:pt x="56374" y="26610"/>
                  </a:lnTo>
                  <a:lnTo>
                    <a:pt x="94001" y="7041"/>
                  </a:lnTo>
                  <a:lnTo>
                    <a:pt x="137159" y="0"/>
                  </a:lnTo>
                  <a:lnTo>
                    <a:pt x="843076" y="0"/>
                  </a:lnTo>
                  <a:lnTo>
                    <a:pt x="886234" y="7041"/>
                  </a:lnTo>
                  <a:lnTo>
                    <a:pt x="923862" y="26610"/>
                  </a:lnTo>
                  <a:lnTo>
                    <a:pt x="953626" y="56374"/>
                  </a:lnTo>
                  <a:lnTo>
                    <a:pt x="973195" y="94001"/>
                  </a:lnTo>
                  <a:lnTo>
                    <a:pt x="980236" y="137159"/>
                  </a:lnTo>
                  <a:lnTo>
                    <a:pt x="973195" y="180318"/>
                  </a:lnTo>
                  <a:lnTo>
                    <a:pt x="953626" y="217945"/>
                  </a:lnTo>
                  <a:lnTo>
                    <a:pt x="923862" y="247709"/>
                  </a:lnTo>
                  <a:lnTo>
                    <a:pt x="886234" y="267278"/>
                  </a:lnTo>
                  <a:lnTo>
                    <a:pt x="843076" y="274320"/>
                  </a:lnTo>
                  <a:lnTo>
                    <a:pt x="137160" y="274320"/>
                  </a:lnTo>
                  <a:lnTo>
                    <a:pt x="94001" y="267278"/>
                  </a:lnTo>
                  <a:lnTo>
                    <a:pt x="56374" y="247709"/>
                  </a:lnTo>
                  <a:lnTo>
                    <a:pt x="26610" y="217945"/>
                  </a:lnTo>
                  <a:lnTo>
                    <a:pt x="7041" y="180318"/>
                  </a:lnTo>
                  <a:lnTo>
                    <a:pt x="0" y="137159"/>
                  </a:lnTo>
                  <a:close/>
                </a:path>
              </a:pathLst>
            </a:custGeom>
            <a:ln w="952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8325829" y="3046065"/>
            <a:ext cx="3282061" cy="13208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62940" algn="l"/>
                <a:tab pos="1884680" algn="l"/>
              </a:tabLst>
            </a:pPr>
            <a:r>
              <a:rPr sz="1000" b="1" spc="-25" dirty="0">
                <a:solidFill>
                  <a:srgbClr val="1F4D79"/>
                </a:solidFill>
                <a:latin typeface="Calibri"/>
                <a:cs typeface="Calibri"/>
              </a:rPr>
              <a:t>MRP</a:t>
            </a:r>
            <a:r>
              <a:rPr sz="1000" b="1" dirty="0">
                <a:solidFill>
                  <a:srgbClr val="1F4D79"/>
                </a:solidFill>
                <a:latin typeface="Calibri"/>
                <a:cs typeface="Calibri"/>
              </a:rPr>
              <a:t>	Net</a:t>
            </a:r>
            <a:r>
              <a:rPr sz="1000" b="1" spc="-10" dirty="0">
                <a:solidFill>
                  <a:srgbClr val="1F4D79"/>
                </a:solidFill>
                <a:latin typeface="Calibri"/>
                <a:cs typeface="Calibri"/>
              </a:rPr>
              <a:t> Quantity</a:t>
            </a:r>
            <a:r>
              <a:rPr sz="1000" b="1" dirty="0">
                <a:solidFill>
                  <a:srgbClr val="1F4D79"/>
                </a:solidFill>
                <a:latin typeface="Calibri"/>
                <a:cs typeface="Calibri"/>
              </a:rPr>
              <a:t>	</a:t>
            </a:r>
            <a:r>
              <a:rPr sz="1000" b="1" spc="-10" dirty="0">
                <a:solidFill>
                  <a:srgbClr val="1F4D79"/>
                </a:solidFill>
                <a:latin typeface="Calibri"/>
                <a:cs typeface="Calibri"/>
              </a:rPr>
              <a:t>Manufacturer</a:t>
            </a:r>
            <a:r>
              <a:rPr sz="1000" b="1" dirty="0">
                <a:solidFill>
                  <a:srgbClr val="1F4D79"/>
                </a:solidFill>
                <a:latin typeface="Calibri"/>
                <a:cs typeface="Calibri"/>
              </a:rPr>
              <a:t> /</a:t>
            </a:r>
            <a:r>
              <a:rPr sz="1000" b="1" spc="5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F4D79"/>
                </a:solidFill>
                <a:latin typeface="Calibri"/>
                <a:cs typeface="Calibri"/>
              </a:rPr>
              <a:t>Packer</a:t>
            </a:r>
            <a:endParaRPr sz="1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 dirty="0">
              <a:latin typeface="Calibri"/>
              <a:cs typeface="Calibri"/>
            </a:endParaRPr>
          </a:p>
          <a:p>
            <a:pPr marL="149860">
              <a:lnSpc>
                <a:spcPct val="100000"/>
              </a:lnSpc>
              <a:tabLst>
                <a:tab pos="1631314" algn="l"/>
              </a:tabLst>
            </a:pPr>
            <a:r>
              <a:rPr sz="1000" b="1" dirty="0">
                <a:solidFill>
                  <a:srgbClr val="1F4D79"/>
                </a:solidFill>
                <a:latin typeface="Calibri"/>
                <a:cs typeface="Calibri"/>
              </a:rPr>
              <a:t>Mfg</a:t>
            </a:r>
            <a:r>
              <a:rPr sz="1000" b="1" spc="-30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F4D79"/>
                </a:solidFill>
                <a:latin typeface="Calibri"/>
                <a:cs typeface="Calibri"/>
              </a:rPr>
              <a:t>&amp;</a:t>
            </a:r>
            <a:r>
              <a:rPr sz="1000" b="1" spc="-25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F4D79"/>
                </a:solidFill>
                <a:latin typeface="Calibri"/>
                <a:cs typeface="Calibri"/>
              </a:rPr>
              <a:t>Expiry</a:t>
            </a:r>
            <a:r>
              <a:rPr sz="1000" b="1" spc="-25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F4D79"/>
                </a:solidFill>
                <a:latin typeface="Calibri"/>
                <a:cs typeface="Calibri"/>
              </a:rPr>
              <a:t>Dates</a:t>
            </a:r>
            <a:r>
              <a:rPr sz="1000" b="1" dirty="0">
                <a:solidFill>
                  <a:srgbClr val="1F4D79"/>
                </a:solidFill>
                <a:latin typeface="Calibri"/>
                <a:cs typeface="Calibri"/>
              </a:rPr>
              <a:t>	</a:t>
            </a:r>
            <a:r>
              <a:rPr sz="1000" b="1" spc="-10" dirty="0">
                <a:solidFill>
                  <a:srgbClr val="1F4D79"/>
                </a:solidFill>
                <a:latin typeface="Calibri"/>
                <a:cs typeface="Calibri"/>
              </a:rPr>
              <a:t>Consumer</a:t>
            </a:r>
            <a:r>
              <a:rPr sz="1000" b="1" spc="5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000" b="1" spc="-20" dirty="0">
                <a:solidFill>
                  <a:srgbClr val="1F4D79"/>
                </a:solidFill>
                <a:latin typeface="Calibri"/>
                <a:cs typeface="Calibri"/>
              </a:rPr>
              <a:t>Care</a:t>
            </a:r>
            <a:endParaRPr sz="1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 dirty="0">
              <a:latin typeface="Calibri"/>
              <a:cs typeface="Calibri"/>
            </a:endParaRPr>
          </a:p>
          <a:p>
            <a:pPr marL="163830">
              <a:lnSpc>
                <a:spcPct val="100000"/>
              </a:lnSpc>
              <a:spcBef>
                <a:spcPts val="5"/>
              </a:spcBef>
              <a:tabLst>
                <a:tab pos="1604645" algn="l"/>
              </a:tabLst>
            </a:pPr>
            <a:r>
              <a:rPr sz="1000" b="1" spc="-10" dirty="0">
                <a:solidFill>
                  <a:srgbClr val="1F4D79"/>
                </a:solidFill>
                <a:latin typeface="Calibri"/>
                <a:cs typeface="Calibri"/>
              </a:rPr>
              <a:t>Country</a:t>
            </a:r>
            <a:r>
              <a:rPr sz="1000" b="1" spc="-5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F4D79"/>
                </a:solidFill>
                <a:latin typeface="Calibri"/>
                <a:cs typeface="Calibri"/>
              </a:rPr>
              <a:t>of </a:t>
            </a:r>
            <a:r>
              <a:rPr sz="1000" b="1" spc="-10" dirty="0">
                <a:solidFill>
                  <a:srgbClr val="1F4D79"/>
                </a:solidFill>
                <a:latin typeface="Calibri"/>
                <a:cs typeface="Calibri"/>
              </a:rPr>
              <a:t>Origin</a:t>
            </a:r>
            <a:r>
              <a:rPr sz="1000" b="1" dirty="0">
                <a:solidFill>
                  <a:srgbClr val="1F4D79"/>
                </a:solidFill>
                <a:latin typeface="Calibri"/>
                <a:cs typeface="Calibri"/>
              </a:rPr>
              <a:t>	Font</a:t>
            </a:r>
            <a:r>
              <a:rPr sz="1000" b="1" spc="-35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F4D79"/>
                </a:solidFill>
                <a:latin typeface="Calibri"/>
                <a:cs typeface="Calibri"/>
              </a:rPr>
              <a:t>Size</a:t>
            </a:r>
            <a:r>
              <a:rPr sz="1000" b="1" spc="-30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000" b="1" spc="-20" dirty="0">
                <a:solidFill>
                  <a:srgbClr val="1F4D79"/>
                </a:solidFill>
                <a:latin typeface="Calibri"/>
                <a:cs typeface="Calibri"/>
              </a:rPr>
              <a:t>(mm)</a:t>
            </a:r>
            <a:endParaRPr sz="1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000" dirty="0">
              <a:latin typeface="Calibri"/>
              <a:cs typeface="Calibri"/>
            </a:endParaRPr>
          </a:p>
          <a:p>
            <a:pPr marL="58419">
              <a:lnSpc>
                <a:spcPct val="100000"/>
              </a:lnSpc>
              <a:tabLst>
                <a:tab pos="1122045" algn="l"/>
                <a:tab pos="2419350" algn="l"/>
              </a:tabLst>
            </a:pPr>
            <a:r>
              <a:rPr sz="1000" b="1" spc="-10" dirty="0">
                <a:solidFill>
                  <a:srgbClr val="1F4D79"/>
                </a:solidFill>
                <a:latin typeface="Calibri"/>
                <a:cs typeface="Calibri"/>
              </a:rPr>
              <a:t>Placement</a:t>
            </a:r>
            <a:r>
              <a:rPr sz="1000" b="1" dirty="0">
                <a:solidFill>
                  <a:srgbClr val="1F4D79"/>
                </a:solidFill>
                <a:latin typeface="Calibri"/>
                <a:cs typeface="Calibri"/>
              </a:rPr>
              <a:t>	Unit</a:t>
            </a:r>
            <a:r>
              <a:rPr sz="1000" b="1" spc="-35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F4D79"/>
                </a:solidFill>
                <a:latin typeface="Calibri"/>
                <a:cs typeface="Calibri"/>
              </a:rPr>
              <a:t>Sale</a:t>
            </a:r>
            <a:r>
              <a:rPr sz="1000" b="1" spc="-30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F4D79"/>
                </a:solidFill>
                <a:latin typeface="Calibri"/>
                <a:cs typeface="Calibri"/>
              </a:rPr>
              <a:t>Price</a:t>
            </a:r>
            <a:r>
              <a:rPr sz="1000" b="1" dirty="0">
                <a:solidFill>
                  <a:srgbClr val="1F4D79"/>
                </a:solidFill>
                <a:latin typeface="Calibri"/>
                <a:cs typeface="Calibri"/>
              </a:rPr>
              <a:t>	</a:t>
            </a:r>
            <a:r>
              <a:rPr sz="1000" b="1" spc="-10" dirty="0">
                <a:solidFill>
                  <a:srgbClr val="1F4D79"/>
                </a:solidFill>
                <a:latin typeface="Calibri"/>
                <a:cs typeface="Calibri"/>
              </a:rPr>
              <a:t>Readability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291817" y="5369632"/>
            <a:ext cx="11549380" cy="868680"/>
          </a:xfrm>
          <a:custGeom>
            <a:avLst/>
            <a:gdLst/>
            <a:ahLst/>
            <a:cxnLst/>
            <a:rect l="l" t="t" r="r" b="b"/>
            <a:pathLst>
              <a:path w="11549380" h="868679">
                <a:moveTo>
                  <a:pt x="11475720" y="0"/>
                </a:moveTo>
                <a:lnTo>
                  <a:pt x="73151" y="0"/>
                </a:lnTo>
                <a:lnTo>
                  <a:pt x="44791" y="5786"/>
                </a:lnTo>
                <a:lnTo>
                  <a:pt x="21527" y="21526"/>
                </a:lnTo>
                <a:lnTo>
                  <a:pt x="5786" y="44791"/>
                </a:lnTo>
                <a:lnTo>
                  <a:pt x="0" y="73150"/>
                </a:lnTo>
                <a:lnTo>
                  <a:pt x="0" y="795528"/>
                </a:lnTo>
                <a:lnTo>
                  <a:pt x="5786" y="823887"/>
                </a:lnTo>
                <a:lnTo>
                  <a:pt x="21527" y="847152"/>
                </a:lnTo>
                <a:lnTo>
                  <a:pt x="44791" y="862893"/>
                </a:lnTo>
                <a:lnTo>
                  <a:pt x="73151" y="868679"/>
                </a:lnTo>
                <a:lnTo>
                  <a:pt x="11475720" y="868679"/>
                </a:lnTo>
                <a:lnTo>
                  <a:pt x="11504079" y="862893"/>
                </a:lnTo>
                <a:lnTo>
                  <a:pt x="11527344" y="847152"/>
                </a:lnTo>
                <a:lnTo>
                  <a:pt x="11543085" y="823887"/>
                </a:lnTo>
                <a:lnTo>
                  <a:pt x="11548872" y="795528"/>
                </a:lnTo>
                <a:lnTo>
                  <a:pt x="11548872" y="73150"/>
                </a:lnTo>
                <a:lnTo>
                  <a:pt x="11543085" y="44791"/>
                </a:lnTo>
                <a:lnTo>
                  <a:pt x="11527344" y="21526"/>
                </a:lnTo>
                <a:lnTo>
                  <a:pt x="11504079" y="5786"/>
                </a:lnTo>
                <a:lnTo>
                  <a:pt x="11475720" y="0"/>
                </a:lnTo>
                <a:close/>
              </a:path>
            </a:pathLst>
          </a:custGeom>
          <a:solidFill>
            <a:srgbClr val="1F386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7" name="object 87"/>
          <p:cNvSpPr txBox="1"/>
          <p:nvPr/>
        </p:nvSpPr>
        <p:spPr>
          <a:xfrm>
            <a:off x="581659" y="5455512"/>
            <a:ext cx="100965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00" b="1" dirty="0">
                <a:solidFill>
                  <a:srgbClr val="8ED2A7"/>
                </a:solidFill>
                <a:latin typeface="Calibri"/>
                <a:cs typeface="Calibri"/>
              </a:rPr>
              <a:t>AI-ASSISTED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65150" y="5670913"/>
            <a:ext cx="1932941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50" dirty="0">
                <a:solidFill>
                  <a:srgbClr val="E3EBF7"/>
                </a:solidFill>
                <a:latin typeface="Calibri"/>
                <a:cs typeface="Calibri"/>
              </a:rPr>
              <a:t>Automated label extraction with OCR + computer vision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3246120" y="5468111"/>
            <a:ext cx="5737860" cy="567055"/>
          </a:xfrm>
          <a:custGeom>
            <a:avLst/>
            <a:gdLst/>
            <a:ahLst/>
            <a:cxnLst/>
            <a:rect l="l" t="t" r="r" b="b"/>
            <a:pathLst>
              <a:path w="5737859" h="567054">
                <a:moveTo>
                  <a:pt x="13716" y="0"/>
                </a:moveTo>
                <a:lnTo>
                  <a:pt x="0" y="0"/>
                </a:lnTo>
                <a:lnTo>
                  <a:pt x="0" y="566928"/>
                </a:lnTo>
                <a:lnTo>
                  <a:pt x="13716" y="566928"/>
                </a:lnTo>
                <a:lnTo>
                  <a:pt x="13716" y="0"/>
                </a:lnTo>
                <a:close/>
              </a:path>
              <a:path w="5737859" h="567054">
                <a:moveTo>
                  <a:pt x="2875788" y="0"/>
                </a:moveTo>
                <a:lnTo>
                  <a:pt x="2862072" y="0"/>
                </a:lnTo>
                <a:lnTo>
                  <a:pt x="2862072" y="566928"/>
                </a:lnTo>
                <a:lnTo>
                  <a:pt x="2875788" y="566928"/>
                </a:lnTo>
                <a:lnTo>
                  <a:pt x="2875788" y="0"/>
                </a:lnTo>
                <a:close/>
              </a:path>
              <a:path w="5737859" h="567054">
                <a:moveTo>
                  <a:pt x="5737860" y="0"/>
                </a:moveTo>
                <a:lnTo>
                  <a:pt x="5724144" y="0"/>
                </a:lnTo>
                <a:lnTo>
                  <a:pt x="5724144" y="566928"/>
                </a:lnTo>
                <a:lnTo>
                  <a:pt x="5737860" y="566928"/>
                </a:lnTo>
                <a:lnTo>
                  <a:pt x="5737860" y="0"/>
                </a:lnTo>
                <a:close/>
              </a:path>
            </a:pathLst>
          </a:custGeom>
          <a:solidFill>
            <a:srgbClr val="4A64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0" name="object 90"/>
          <p:cNvSpPr txBox="1"/>
          <p:nvPr/>
        </p:nvSpPr>
        <p:spPr>
          <a:xfrm>
            <a:off x="3443732" y="5455512"/>
            <a:ext cx="94996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00" b="1" spc="-10" dirty="0">
                <a:solidFill>
                  <a:srgbClr val="FFBF00"/>
                </a:solidFill>
                <a:latin typeface="Calibri"/>
                <a:cs typeface="Calibri"/>
              </a:rPr>
              <a:t>RULE-DRIVEN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3443732" y="5662386"/>
            <a:ext cx="1890268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50" dirty="0">
                <a:solidFill>
                  <a:srgbClr val="E3EBF7"/>
                </a:solidFill>
                <a:latin typeface="Calibri"/>
                <a:cs typeface="Calibri"/>
              </a:rPr>
              <a:t>Compliance decisions based on predefined Legal Metrology rules</a:t>
            </a:r>
            <a:endParaRPr sz="1050" dirty="0">
              <a:solidFill>
                <a:srgbClr val="E3EBF7"/>
              </a:solidFill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305803" y="5455512"/>
            <a:ext cx="1492507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00" b="1" spc="-10" dirty="0">
                <a:solidFill>
                  <a:srgbClr val="8ED2A7"/>
                </a:solidFill>
                <a:latin typeface="Calibri"/>
                <a:cs typeface="Calibri"/>
              </a:rPr>
              <a:t>EVIDENCE-BACKED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6301321" y="5670913"/>
            <a:ext cx="2000452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050" dirty="0">
                <a:solidFill>
                  <a:srgbClr val="E3EBF7"/>
                </a:solidFill>
                <a:latin typeface="Calibri"/>
                <a:cs typeface="Calibri"/>
              </a:rPr>
              <a:t>Every finding includes extracted values and visual evidence</a:t>
            </a:r>
          </a:p>
        </p:txBody>
      </p:sp>
      <p:sp>
        <p:nvSpPr>
          <p:cNvPr id="94" name="object 94"/>
          <p:cNvSpPr txBox="1"/>
          <p:nvPr/>
        </p:nvSpPr>
        <p:spPr>
          <a:xfrm>
            <a:off x="9167876" y="5455512"/>
            <a:ext cx="1119124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00" b="1" spc="-10" dirty="0">
                <a:solidFill>
                  <a:srgbClr val="FFBF00"/>
                </a:solidFill>
                <a:latin typeface="Calibri"/>
                <a:cs typeface="Calibri"/>
              </a:rPr>
              <a:t>OFFICER-READY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9170847" y="5649093"/>
            <a:ext cx="1878153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50" dirty="0">
                <a:solidFill>
                  <a:srgbClr val="E3EBF7"/>
                </a:solidFill>
                <a:latin typeface="Calibri"/>
                <a:cs typeface="Calibri"/>
              </a:rPr>
              <a:t>Clear compliance status, flagged issues and downloadable reports</a:t>
            </a:r>
            <a:endParaRPr sz="1050" dirty="0">
              <a:solidFill>
                <a:srgbClr val="E3EBF7"/>
              </a:solidFill>
              <a:latin typeface="Calibri"/>
              <a:cs typeface="Calibri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0" y="6355079"/>
            <a:ext cx="12192000" cy="502920"/>
            <a:chOff x="0" y="6355079"/>
            <a:chExt cx="12192000" cy="502920"/>
          </a:xfrm>
        </p:grpSpPr>
        <p:sp>
          <p:nvSpPr>
            <p:cNvPr id="97" name="object 97"/>
            <p:cNvSpPr/>
            <p:nvPr/>
          </p:nvSpPr>
          <p:spPr>
            <a:xfrm>
              <a:off x="0" y="6355079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20">
                  <a:moveTo>
                    <a:pt x="12191694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2191694" y="45720"/>
                  </a:lnTo>
                  <a:lnTo>
                    <a:pt x="12191694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8" name="object 98"/>
            <p:cNvSpPr/>
            <p:nvPr/>
          </p:nvSpPr>
          <p:spPr>
            <a:xfrm>
              <a:off x="0" y="6355079"/>
              <a:ext cx="6099175" cy="45720"/>
            </a:xfrm>
            <a:custGeom>
              <a:avLst/>
              <a:gdLst/>
              <a:ahLst/>
              <a:cxnLst/>
              <a:rect l="l" t="t" r="r" b="b"/>
              <a:pathLst>
                <a:path w="6099175" h="45720">
                  <a:moveTo>
                    <a:pt x="6099048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6099048" y="45720"/>
                  </a:lnTo>
                  <a:lnTo>
                    <a:pt x="6099048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9" name="object 99"/>
            <p:cNvSpPr/>
            <p:nvPr/>
          </p:nvSpPr>
          <p:spPr>
            <a:xfrm>
              <a:off x="4206240" y="6400799"/>
              <a:ext cx="7985759" cy="457200"/>
            </a:xfrm>
            <a:custGeom>
              <a:avLst/>
              <a:gdLst/>
              <a:ahLst/>
              <a:cxnLst/>
              <a:rect l="l" t="t" r="r" b="b"/>
              <a:pathLst>
                <a:path w="7985759" h="457200">
                  <a:moveTo>
                    <a:pt x="0" y="457200"/>
                  </a:moveTo>
                  <a:lnTo>
                    <a:pt x="7985454" y="457200"/>
                  </a:lnTo>
                  <a:lnTo>
                    <a:pt x="7985454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0" y="6400799"/>
              <a:ext cx="4206240" cy="457200"/>
            </a:xfrm>
            <a:custGeom>
              <a:avLst/>
              <a:gdLst/>
              <a:ahLst/>
              <a:cxnLst/>
              <a:rect l="l" t="t" r="r" b="b"/>
              <a:pathLst>
                <a:path w="4206240" h="457200">
                  <a:moveTo>
                    <a:pt x="420624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206240" y="457200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1430000" y="6473951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447" y="0"/>
                  </a:moveTo>
                  <a:lnTo>
                    <a:pt x="106535" y="7980"/>
                  </a:lnTo>
                  <a:lnTo>
                    <a:pt x="63890" y="30158"/>
                  </a:lnTo>
                  <a:lnTo>
                    <a:pt x="30158" y="63890"/>
                  </a:lnTo>
                  <a:lnTo>
                    <a:pt x="7980" y="106535"/>
                  </a:lnTo>
                  <a:lnTo>
                    <a:pt x="0" y="155448"/>
                  </a:lnTo>
                  <a:lnTo>
                    <a:pt x="7980" y="204360"/>
                  </a:lnTo>
                  <a:lnTo>
                    <a:pt x="30158" y="247004"/>
                  </a:lnTo>
                  <a:lnTo>
                    <a:pt x="63890" y="280737"/>
                  </a:lnTo>
                  <a:lnTo>
                    <a:pt x="106535" y="302915"/>
                  </a:lnTo>
                  <a:lnTo>
                    <a:pt x="155447" y="310896"/>
                  </a:lnTo>
                  <a:lnTo>
                    <a:pt x="204360" y="302915"/>
                  </a:lnTo>
                  <a:lnTo>
                    <a:pt x="247004" y="280737"/>
                  </a:lnTo>
                  <a:lnTo>
                    <a:pt x="280737" y="247004"/>
                  </a:lnTo>
                  <a:lnTo>
                    <a:pt x="302915" y="204360"/>
                  </a:lnTo>
                  <a:lnTo>
                    <a:pt x="310895" y="155448"/>
                  </a:lnTo>
                  <a:lnTo>
                    <a:pt x="302915" y="106535"/>
                  </a:lnTo>
                  <a:lnTo>
                    <a:pt x="280737" y="63890"/>
                  </a:lnTo>
                  <a:lnTo>
                    <a:pt x="247004" y="30158"/>
                  </a:lnTo>
                  <a:lnTo>
                    <a:pt x="204360" y="7980"/>
                  </a:lnTo>
                  <a:lnTo>
                    <a:pt x="155447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2" name="object 10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103" name="object 103"/>
          <p:cNvSpPr txBox="1">
            <a:spLocks noGrp="1"/>
          </p:cNvSpPr>
          <p:nvPr>
            <p:ph type="ftr" sz="quarter" idx="5"/>
          </p:nvPr>
        </p:nvSpPr>
        <p:spPr>
          <a:xfrm>
            <a:off x="5426779" y="6558863"/>
            <a:ext cx="4505325" cy="143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lang="en-US" spc="-1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104" name="object 10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C2DA9D6-0CB2-CFF3-C5FA-A5403C61063A}"/>
              </a:ext>
            </a:extLst>
          </p:cNvPr>
          <p:cNvSpPr/>
          <p:nvPr/>
        </p:nvSpPr>
        <p:spPr>
          <a:xfrm>
            <a:off x="10098935" y="77995"/>
            <a:ext cx="1832285" cy="5039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5F6BC3A7-6DC3-BDD7-8F83-6627040669C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646" y="22037"/>
            <a:ext cx="1210481" cy="571566"/>
          </a:xfrm>
          <a:prstGeom prst="rect">
            <a:avLst/>
          </a:prstGeom>
        </p:spPr>
      </p:pic>
      <p:sp>
        <p:nvSpPr>
          <p:cNvPr id="112" name="Rectangle 3">
            <a:extLst>
              <a:ext uri="{FF2B5EF4-FFF2-40B4-BE49-F238E27FC236}">
                <a16:creationId xmlns:a16="http://schemas.microsoft.com/office/drawing/2014/main" id="{32C70999-5BCC-EB96-CBF2-984B89102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339" y="1067260"/>
            <a:ext cx="10429622" cy="1096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Mandatory declarations are critical: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Packaged commodities must display MRP, net quantity, manufacturer/packer details, dates and consumer-care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Manual inspection does not scale: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Checking millions of packaged products across retail and e-commerce is time-consuming and difficult to perform consistently.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Violations are easy to miss: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Missing declarations, incorrect MRP format, undersized text and improper placement require detailed visual verification.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200" b="1" dirty="0"/>
              <a:t> No evidence-linked workflow:</a:t>
            </a:r>
            <a:r>
              <a:rPr lang="en-US" sz="1200" dirty="0"/>
              <a:t> Traditional inspection often separates the observed label evidence from the rule/provision used to justify the finding.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F40648-3EBC-DA85-4008-6615ECB8FA59}"/>
              </a:ext>
            </a:extLst>
          </p:cNvPr>
          <p:cNvSpPr txBox="1"/>
          <p:nvPr/>
        </p:nvSpPr>
        <p:spPr>
          <a:xfrm>
            <a:off x="441569" y="3331405"/>
            <a:ext cx="2271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2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4D1A09-AD2E-F136-2CD7-F5EFD821A676}"/>
              </a:ext>
            </a:extLst>
          </p:cNvPr>
          <p:cNvSpPr txBox="1"/>
          <p:nvPr/>
        </p:nvSpPr>
        <p:spPr>
          <a:xfrm>
            <a:off x="419460" y="3583391"/>
            <a:ext cx="2271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3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7EE24D-DFA7-5224-F210-B4F1637BC377}"/>
              </a:ext>
            </a:extLst>
          </p:cNvPr>
          <p:cNvSpPr txBox="1"/>
          <p:nvPr/>
        </p:nvSpPr>
        <p:spPr>
          <a:xfrm>
            <a:off x="423943" y="3980563"/>
            <a:ext cx="2271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4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7B0347-804F-5EBD-9E8C-012022E2A481}"/>
              </a:ext>
            </a:extLst>
          </p:cNvPr>
          <p:cNvSpPr txBox="1"/>
          <p:nvPr/>
        </p:nvSpPr>
        <p:spPr>
          <a:xfrm>
            <a:off x="432940" y="4312664"/>
            <a:ext cx="2271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5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CBFD70-A8C8-0044-B686-B027E91CF66E}"/>
              </a:ext>
            </a:extLst>
          </p:cNvPr>
          <p:cNvSpPr txBox="1"/>
          <p:nvPr/>
        </p:nvSpPr>
        <p:spPr>
          <a:xfrm>
            <a:off x="436038" y="4665569"/>
            <a:ext cx="2271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6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49B91ED-EEE2-6E73-69E8-1B957B56322B}"/>
              </a:ext>
            </a:extLst>
          </p:cNvPr>
          <p:cNvSpPr txBox="1"/>
          <p:nvPr/>
        </p:nvSpPr>
        <p:spPr>
          <a:xfrm>
            <a:off x="432940" y="3086346"/>
            <a:ext cx="2271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1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  <p:sndAc>
          <p:stSnd>
            <p:snd r:embed="rId3" name="push.wav"/>
          </p:stSnd>
        </p:sndAc>
      </p:transition>
    </mc:Choice>
    <mc:Fallback xmlns="">
      <p:transition spd="slow">
        <p:fade/>
        <p:sndAc>
          <p:stSnd>
            <p:snd r:embed="rId7" name="pu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5389" y="224434"/>
            <a:ext cx="808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VisionMinds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TECHNICAL</a:t>
            </a:r>
            <a:r>
              <a:rPr spc="125" dirty="0"/>
              <a:t> </a:t>
            </a:r>
            <a:r>
              <a:rPr spc="35" dirty="0"/>
              <a:t>APPROACH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21310" y="681613"/>
            <a:ext cx="11549380" cy="32384"/>
            <a:chOff x="320039" y="640080"/>
            <a:chExt cx="11549380" cy="32384"/>
          </a:xfrm>
        </p:grpSpPr>
        <p:sp>
          <p:nvSpPr>
            <p:cNvPr id="5" name="object 5"/>
            <p:cNvSpPr/>
            <p:nvPr/>
          </p:nvSpPr>
          <p:spPr>
            <a:xfrm>
              <a:off x="320039" y="640080"/>
              <a:ext cx="11549380" cy="32384"/>
            </a:xfrm>
            <a:custGeom>
              <a:avLst/>
              <a:gdLst/>
              <a:ahLst/>
              <a:cxnLst/>
              <a:rect l="l" t="t" r="r" b="b"/>
              <a:pathLst>
                <a:path w="11549380" h="32384">
                  <a:moveTo>
                    <a:pt x="11548872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1548872" y="32003"/>
                  </a:lnTo>
                  <a:lnTo>
                    <a:pt x="11548872" y="0"/>
                  </a:lnTo>
                  <a:close/>
                </a:path>
              </a:pathLst>
            </a:custGeom>
            <a:solidFill>
              <a:srgbClr val="C6D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320040" y="640080"/>
              <a:ext cx="1371600" cy="32384"/>
            </a:xfrm>
            <a:custGeom>
              <a:avLst/>
              <a:gdLst/>
              <a:ahLst/>
              <a:cxnLst/>
              <a:rect l="l" t="t" r="r" b="b"/>
              <a:pathLst>
                <a:path w="1371600" h="32384">
                  <a:moveTo>
                    <a:pt x="1371600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71600" y="3200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1691640" y="640080"/>
              <a:ext cx="1371600" cy="32384"/>
            </a:xfrm>
            <a:custGeom>
              <a:avLst/>
              <a:gdLst/>
              <a:ahLst/>
              <a:cxnLst/>
              <a:rect l="l" t="t" r="r" b="b"/>
              <a:pathLst>
                <a:path w="1371600" h="32384">
                  <a:moveTo>
                    <a:pt x="1371600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71600" y="3200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98779" y="731926"/>
            <a:ext cx="1607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65" dirty="0">
                <a:solidFill>
                  <a:srgbClr val="1F3864"/>
                </a:solidFill>
                <a:latin typeface="Calibri"/>
                <a:cs typeface="Calibri"/>
              </a:rPr>
              <a:t>PROCESSING</a:t>
            </a:r>
            <a:r>
              <a:rPr sz="1200" b="1" spc="20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b="1" spc="55" dirty="0">
                <a:solidFill>
                  <a:srgbClr val="1F3864"/>
                </a:solidFill>
                <a:latin typeface="Calibri"/>
                <a:cs typeface="Calibri"/>
              </a:rPr>
              <a:t>PIPELINE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2052" y="1114196"/>
            <a:ext cx="7537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9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34685" y="1114196"/>
            <a:ext cx="72517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Preprocessing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70673" y="1114196"/>
            <a:ext cx="48831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OCR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5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25" dirty="0">
                <a:solidFill>
                  <a:srgbClr val="FFFFFF"/>
                </a:solidFill>
                <a:latin typeface="Calibri"/>
                <a:cs typeface="Calibri"/>
              </a:rPr>
              <a:t>CV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65132" y="1114196"/>
            <a:ext cx="53530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Extraction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443856" y="1114196"/>
            <a:ext cx="4495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Decision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887015" y="852880"/>
            <a:ext cx="57213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FFFFFF"/>
                </a:solidFill>
                <a:latin typeface="Calibri"/>
                <a:cs typeface="Calibri"/>
              </a:rPr>
              <a:t>COMPLIANT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762884" y="1099768"/>
            <a:ext cx="82041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FFFFFF"/>
                </a:solidFill>
                <a:latin typeface="Calibri"/>
                <a:cs typeface="Calibri"/>
              </a:rPr>
              <a:t>NON-COMPLIANT</a:t>
            </a:r>
            <a:endParaRPr sz="850" dirty="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67499" y="1562558"/>
            <a:ext cx="6733540" cy="3265170"/>
            <a:chOff x="313690" y="1572767"/>
            <a:chExt cx="6733540" cy="3265170"/>
          </a:xfrm>
        </p:grpSpPr>
        <p:sp>
          <p:nvSpPr>
            <p:cNvPr id="44" name="object 44"/>
            <p:cNvSpPr/>
            <p:nvPr/>
          </p:nvSpPr>
          <p:spPr>
            <a:xfrm>
              <a:off x="313690" y="1579117"/>
              <a:ext cx="6733540" cy="3258820"/>
            </a:xfrm>
            <a:custGeom>
              <a:avLst/>
              <a:gdLst/>
              <a:ahLst/>
              <a:cxnLst/>
              <a:rect l="l" t="t" r="r" b="b"/>
              <a:pathLst>
                <a:path w="6733540" h="3258820">
                  <a:moveTo>
                    <a:pt x="6678466" y="0"/>
                  </a:moveTo>
                  <a:lnTo>
                    <a:pt x="55073" y="0"/>
                  </a:lnTo>
                  <a:lnTo>
                    <a:pt x="33722" y="4356"/>
                  </a:lnTo>
                  <a:lnTo>
                    <a:pt x="16207" y="16207"/>
                  </a:lnTo>
                  <a:lnTo>
                    <a:pt x="4356" y="33722"/>
                  </a:lnTo>
                  <a:lnTo>
                    <a:pt x="0" y="55073"/>
                  </a:lnTo>
                  <a:lnTo>
                    <a:pt x="0" y="3203745"/>
                  </a:lnTo>
                  <a:lnTo>
                    <a:pt x="4356" y="3225097"/>
                  </a:lnTo>
                  <a:lnTo>
                    <a:pt x="16207" y="3242612"/>
                  </a:lnTo>
                  <a:lnTo>
                    <a:pt x="33722" y="3254462"/>
                  </a:lnTo>
                  <a:lnTo>
                    <a:pt x="55073" y="3258819"/>
                  </a:lnTo>
                  <a:lnTo>
                    <a:pt x="6678466" y="3258819"/>
                  </a:lnTo>
                  <a:lnTo>
                    <a:pt x="6699817" y="3254462"/>
                  </a:lnTo>
                  <a:lnTo>
                    <a:pt x="6717332" y="3242612"/>
                  </a:lnTo>
                  <a:lnTo>
                    <a:pt x="6729183" y="3225097"/>
                  </a:lnTo>
                  <a:lnTo>
                    <a:pt x="6733539" y="3203745"/>
                  </a:lnTo>
                  <a:lnTo>
                    <a:pt x="6733539" y="55073"/>
                  </a:lnTo>
                  <a:lnTo>
                    <a:pt x="6729183" y="33722"/>
                  </a:lnTo>
                  <a:lnTo>
                    <a:pt x="6717332" y="16207"/>
                  </a:lnTo>
                  <a:lnTo>
                    <a:pt x="6699817" y="4356"/>
                  </a:lnTo>
                  <a:lnTo>
                    <a:pt x="6678466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5" name="object 45"/>
            <p:cNvSpPr/>
            <p:nvPr/>
          </p:nvSpPr>
          <p:spPr>
            <a:xfrm>
              <a:off x="320040" y="1572767"/>
              <a:ext cx="6720840" cy="3246120"/>
            </a:xfrm>
            <a:custGeom>
              <a:avLst/>
              <a:gdLst/>
              <a:ahLst/>
              <a:cxnLst/>
              <a:rect l="l" t="t" r="r" b="b"/>
              <a:pathLst>
                <a:path w="6720840" h="3246120">
                  <a:moveTo>
                    <a:pt x="6665979" y="0"/>
                  </a:moveTo>
                  <a:lnTo>
                    <a:pt x="54859" y="0"/>
                  </a:lnTo>
                  <a:lnTo>
                    <a:pt x="33591" y="4339"/>
                  </a:lnTo>
                  <a:lnTo>
                    <a:pt x="16144" y="16143"/>
                  </a:lnTo>
                  <a:lnTo>
                    <a:pt x="4339" y="33591"/>
                  </a:lnTo>
                  <a:lnTo>
                    <a:pt x="0" y="54859"/>
                  </a:lnTo>
                  <a:lnTo>
                    <a:pt x="0" y="3191260"/>
                  </a:lnTo>
                  <a:lnTo>
                    <a:pt x="4339" y="3212528"/>
                  </a:lnTo>
                  <a:lnTo>
                    <a:pt x="16144" y="3229975"/>
                  </a:lnTo>
                  <a:lnTo>
                    <a:pt x="33591" y="3241780"/>
                  </a:lnTo>
                  <a:lnTo>
                    <a:pt x="54859" y="3246120"/>
                  </a:lnTo>
                  <a:lnTo>
                    <a:pt x="6665979" y="3246120"/>
                  </a:lnTo>
                  <a:lnTo>
                    <a:pt x="6687248" y="3241780"/>
                  </a:lnTo>
                  <a:lnTo>
                    <a:pt x="6704695" y="3229975"/>
                  </a:lnTo>
                  <a:lnTo>
                    <a:pt x="6716500" y="3212528"/>
                  </a:lnTo>
                  <a:lnTo>
                    <a:pt x="6720840" y="3191260"/>
                  </a:lnTo>
                  <a:lnTo>
                    <a:pt x="6720840" y="54859"/>
                  </a:lnTo>
                  <a:lnTo>
                    <a:pt x="6716500" y="33591"/>
                  </a:lnTo>
                  <a:lnTo>
                    <a:pt x="6704695" y="16143"/>
                  </a:lnTo>
                  <a:lnTo>
                    <a:pt x="6687248" y="4339"/>
                  </a:lnTo>
                  <a:lnTo>
                    <a:pt x="6665979" y="0"/>
                  </a:lnTo>
                  <a:close/>
                </a:path>
              </a:pathLst>
            </a:custGeom>
            <a:solidFill>
              <a:srgbClr val="F4F7F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6" name="object 46"/>
            <p:cNvSpPr/>
            <p:nvPr/>
          </p:nvSpPr>
          <p:spPr>
            <a:xfrm>
              <a:off x="320040" y="1572767"/>
              <a:ext cx="6720840" cy="3246120"/>
            </a:xfrm>
            <a:custGeom>
              <a:avLst/>
              <a:gdLst/>
              <a:ahLst/>
              <a:cxnLst/>
              <a:rect l="l" t="t" r="r" b="b"/>
              <a:pathLst>
                <a:path w="6720840" h="3246120">
                  <a:moveTo>
                    <a:pt x="0" y="54859"/>
                  </a:moveTo>
                  <a:lnTo>
                    <a:pt x="4339" y="33591"/>
                  </a:lnTo>
                  <a:lnTo>
                    <a:pt x="16144" y="16143"/>
                  </a:lnTo>
                  <a:lnTo>
                    <a:pt x="33591" y="4339"/>
                  </a:lnTo>
                  <a:lnTo>
                    <a:pt x="54859" y="0"/>
                  </a:lnTo>
                  <a:lnTo>
                    <a:pt x="6665979" y="0"/>
                  </a:lnTo>
                  <a:lnTo>
                    <a:pt x="6687248" y="4339"/>
                  </a:lnTo>
                  <a:lnTo>
                    <a:pt x="6704695" y="16143"/>
                  </a:lnTo>
                  <a:lnTo>
                    <a:pt x="6716500" y="33591"/>
                  </a:lnTo>
                  <a:lnTo>
                    <a:pt x="6720840" y="54859"/>
                  </a:lnTo>
                  <a:lnTo>
                    <a:pt x="6720840" y="3191260"/>
                  </a:lnTo>
                  <a:lnTo>
                    <a:pt x="6716500" y="3212528"/>
                  </a:lnTo>
                  <a:lnTo>
                    <a:pt x="6704695" y="3229975"/>
                  </a:lnTo>
                  <a:lnTo>
                    <a:pt x="6687248" y="3241780"/>
                  </a:lnTo>
                  <a:lnTo>
                    <a:pt x="6665979" y="3246120"/>
                  </a:lnTo>
                  <a:lnTo>
                    <a:pt x="54859" y="3246120"/>
                  </a:lnTo>
                  <a:lnTo>
                    <a:pt x="33591" y="3241780"/>
                  </a:lnTo>
                  <a:lnTo>
                    <a:pt x="16144" y="3229975"/>
                  </a:lnTo>
                  <a:lnTo>
                    <a:pt x="4339" y="3212528"/>
                  </a:lnTo>
                  <a:lnTo>
                    <a:pt x="0" y="3191260"/>
                  </a:lnTo>
                  <a:lnTo>
                    <a:pt x="0" y="54859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7" name="object 47"/>
            <p:cNvSpPr/>
            <p:nvPr/>
          </p:nvSpPr>
          <p:spPr>
            <a:xfrm>
              <a:off x="320040" y="1572767"/>
              <a:ext cx="50800" cy="3246120"/>
            </a:xfrm>
            <a:custGeom>
              <a:avLst/>
              <a:gdLst/>
              <a:ahLst/>
              <a:cxnLst/>
              <a:rect l="l" t="t" r="r" b="b"/>
              <a:pathLst>
                <a:path w="50800" h="3246120">
                  <a:moveTo>
                    <a:pt x="50292" y="0"/>
                  </a:moveTo>
                  <a:lnTo>
                    <a:pt x="0" y="0"/>
                  </a:lnTo>
                  <a:lnTo>
                    <a:pt x="0" y="3246120"/>
                  </a:lnTo>
                  <a:lnTo>
                    <a:pt x="50292" y="3246120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57783" y="1633320"/>
            <a:ext cx="230441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F3864"/>
                </a:solidFill>
                <a:latin typeface="Calibri"/>
                <a:cs typeface="Calibri"/>
              </a:rPr>
              <a:t>ARCHITECTURE</a:t>
            </a:r>
            <a:r>
              <a:rPr lang="en-US" sz="1300" b="1" spc="-10" dirty="0">
                <a:solidFill>
                  <a:srgbClr val="1F3864"/>
                </a:solidFill>
                <a:latin typeface="Calibri"/>
                <a:cs typeface="Calibri"/>
              </a:rPr>
              <a:t> OVERVIEW</a:t>
            </a:r>
            <a:endParaRPr sz="1300" dirty="0">
              <a:latin typeface="Calibri"/>
              <a:cs typeface="Calibri"/>
            </a:endParaRPr>
          </a:p>
        </p:txBody>
      </p:sp>
      <p:pic>
        <p:nvPicPr>
          <p:cNvPr id="50" name="object 5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981" y="1936993"/>
            <a:ext cx="6427767" cy="2821177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842065" y="2009952"/>
            <a:ext cx="541655" cy="286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ts val="1025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FRONTEND</a:t>
            </a:r>
            <a:endParaRPr sz="900" dirty="0">
              <a:latin typeface="Calibri"/>
              <a:cs typeface="Calibri"/>
            </a:endParaRPr>
          </a:p>
          <a:p>
            <a:pPr marR="5080" algn="ctr">
              <a:lnSpc>
                <a:spcPts val="1025"/>
              </a:lnSpc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Next.js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037344" y="2104018"/>
            <a:ext cx="21971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Login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606603" y="2091181"/>
            <a:ext cx="1924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20" dirty="0">
                <a:solidFill>
                  <a:srgbClr val="1F3864"/>
                </a:solidFill>
                <a:latin typeface="Calibri"/>
                <a:cs typeface="Calibri"/>
              </a:rPr>
              <a:t>Scan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195268" y="2101586"/>
            <a:ext cx="29019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Results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881723" y="2091181"/>
            <a:ext cx="4330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Dashboard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775064" y="2101586"/>
            <a:ext cx="28956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History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429517" y="2091181"/>
            <a:ext cx="31496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Reports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126686" y="2099237"/>
            <a:ext cx="2660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Admin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850665" y="2426832"/>
            <a:ext cx="47752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44536A"/>
                </a:solidFill>
                <a:latin typeface="Calibri"/>
                <a:cs typeface="Calibri"/>
              </a:rPr>
              <a:t>REST</a:t>
            </a:r>
            <a:r>
              <a:rPr sz="750" i="1" spc="-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750" i="1" dirty="0">
                <a:solidFill>
                  <a:srgbClr val="44536A"/>
                </a:solidFill>
                <a:latin typeface="Calibri"/>
                <a:cs typeface="Calibri"/>
              </a:rPr>
              <a:t>/</a:t>
            </a:r>
            <a:r>
              <a:rPr sz="750" i="1" spc="-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750" i="1" spc="-20" dirty="0">
                <a:solidFill>
                  <a:srgbClr val="44536A"/>
                </a:solidFill>
                <a:latin typeface="Calibri"/>
                <a:cs typeface="Calibri"/>
              </a:rPr>
              <a:t>JSON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76890" y="2650032"/>
            <a:ext cx="472440" cy="286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025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BACKEND</a:t>
            </a:r>
            <a:endParaRPr sz="900" dirty="0">
              <a:latin typeface="Calibri"/>
              <a:cs typeface="Calibri"/>
            </a:endParaRPr>
          </a:p>
          <a:p>
            <a:pPr marL="52069">
              <a:lnSpc>
                <a:spcPts val="1025"/>
              </a:lnSpc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FastAPI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40503" y="2731261"/>
            <a:ext cx="48895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1F3864"/>
                </a:solidFill>
                <a:latin typeface="Calibri"/>
                <a:cs typeface="Calibri"/>
              </a:rPr>
              <a:t>Auth</a:t>
            </a:r>
            <a:r>
              <a:rPr sz="750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F3864"/>
                </a:solidFill>
                <a:latin typeface="Calibri"/>
                <a:cs typeface="Calibri"/>
              </a:rPr>
              <a:t>/</a:t>
            </a:r>
            <a:r>
              <a:rPr sz="750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1F3864"/>
                </a:solidFill>
                <a:latin typeface="Calibri"/>
                <a:cs typeface="Calibri"/>
              </a:rPr>
              <a:t>RBAC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006721" y="2733294"/>
            <a:ext cx="504190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1F3864"/>
                </a:solidFill>
                <a:latin typeface="Calibri"/>
                <a:cs typeface="Calibri"/>
              </a:rPr>
              <a:t>API</a:t>
            </a:r>
            <a:r>
              <a:rPr sz="750" spc="-2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Gateway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009863" y="2736536"/>
            <a:ext cx="54864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Orchestration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032730" y="2742227"/>
            <a:ext cx="18478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Files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617330" y="2721582"/>
            <a:ext cx="31496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Reports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308364" y="2737717"/>
            <a:ext cx="29527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1F3864"/>
                </a:solidFill>
                <a:latin typeface="Calibri"/>
                <a:cs typeface="Calibri"/>
              </a:rPr>
              <a:t>DB</a:t>
            </a:r>
            <a:r>
              <a:rPr sz="750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1F3864"/>
                </a:solidFill>
                <a:latin typeface="Calibri"/>
                <a:cs typeface="Calibri"/>
              </a:rPr>
              <a:t>Ops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95280" y="3290112"/>
            <a:ext cx="434975" cy="2863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635" marR="5080" indent="-1270">
              <a:lnSpc>
                <a:spcPts val="969"/>
              </a:lnSpc>
              <a:spcBef>
                <a:spcPts val="225"/>
              </a:spcBef>
            </a:pP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LAYER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CV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Calibri"/>
                <a:cs typeface="Calibri"/>
              </a:rPr>
              <a:t>NLP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996977" y="3377683"/>
            <a:ext cx="32829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OpenCV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540885" y="3368910"/>
            <a:ext cx="81493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750" dirty="0">
                <a:solidFill>
                  <a:srgbClr val="1F3864"/>
                </a:solidFill>
                <a:latin typeface="Calibri"/>
                <a:cs typeface="Calibri"/>
              </a:rPr>
              <a:t>Image Preprocessing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554039" y="3380299"/>
            <a:ext cx="442240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750" dirty="0">
                <a:latin typeface="Calibri"/>
                <a:cs typeface="Calibri"/>
              </a:rPr>
              <a:t>Upscale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057142" y="3380299"/>
            <a:ext cx="43497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750" spc="-10" dirty="0">
                <a:solidFill>
                  <a:srgbClr val="1F3864"/>
                </a:solidFill>
                <a:latin typeface="Calibri"/>
                <a:cs typeface="Calibri"/>
              </a:rPr>
              <a:t>OCR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762096" y="3394716"/>
            <a:ext cx="19494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solidFill>
                  <a:srgbClr val="1F3864"/>
                </a:solidFill>
                <a:latin typeface="Calibri"/>
                <a:cs typeface="Calibri"/>
              </a:rPr>
              <a:t>MRP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318932" y="3373201"/>
            <a:ext cx="1517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solidFill>
                  <a:srgbClr val="1F3864"/>
                </a:solidFill>
                <a:latin typeface="Calibri"/>
                <a:cs typeface="Calibri"/>
              </a:rPr>
              <a:t>Qty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855495" y="3368839"/>
            <a:ext cx="233679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Dates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457634" y="3376197"/>
            <a:ext cx="1898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20" dirty="0">
                <a:solidFill>
                  <a:srgbClr val="1F3864"/>
                </a:solidFill>
                <a:latin typeface="Calibri"/>
                <a:cs typeface="Calibri"/>
              </a:rPr>
              <a:t>Care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87539" y="3930192"/>
            <a:ext cx="650240" cy="2693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025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COMPLIANCE</a:t>
            </a:r>
            <a:endParaRPr sz="900" dirty="0">
              <a:latin typeface="Calibri"/>
              <a:cs typeface="Calibri"/>
            </a:endParaRPr>
          </a:p>
          <a:p>
            <a:pPr marL="33020">
              <a:lnSpc>
                <a:spcPts val="1025"/>
              </a:lnSpc>
            </a:pP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Rules</a:t>
            </a:r>
            <a:r>
              <a:rPr sz="9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900" b="1" spc="-25" dirty="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761542" y="4011421"/>
            <a:ext cx="46545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1F3864"/>
                </a:solidFill>
                <a:latin typeface="Calibri"/>
                <a:cs typeface="Calibri"/>
              </a:rPr>
              <a:t>Rule</a:t>
            </a:r>
            <a:r>
              <a:rPr sz="750" spc="-4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Engine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951613" y="4009264"/>
            <a:ext cx="81493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750" spc="-10" dirty="0">
                <a:solidFill>
                  <a:srgbClr val="1F3864"/>
                </a:solidFill>
                <a:latin typeface="Calibri"/>
                <a:cs typeface="Calibri"/>
              </a:rPr>
              <a:t>Declaration Checks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948353" y="4011421"/>
            <a:ext cx="44958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Confidence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572756" y="4016321"/>
            <a:ext cx="77709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750" spc="-10" dirty="0">
                <a:solidFill>
                  <a:srgbClr val="1F3864"/>
                </a:solidFill>
                <a:latin typeface="Calibri"/>
                <a:cs typeface="Calibri"/>
              </a:rPr>
              <a:t>Confidence Scoring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596857" y="4015141"/>
            <a:ext cx="1050642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750" spc="-10" dirty="0">
                <a:solidFill>
                  <a:srgbClr val="1F3864"/>
                </a:solidFill>
                <a:latin typeface="Calibri"/>
                <a:cs typeface="Calibri"/>
              </a:rPr>
              <a:t>Severity Classification</a:t>
            </a:r>
            <a:endParaRPr sz="750" spc="-10" dirty="0">
              <a:solidFill>
                <a:srgbClr val="1F3864"/>
              </a:solidFill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973023" y="4503978"/>
            <a:ext cx="2800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037344" y="4526621"/>
            <a:ext cx="454659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PostgreSQL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986651" y="4515408"/>
            <a:ext cx="5861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Object</a:t>
            </a:r>
            <a:r>
              <a:rPr sz="750" spc="1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Storage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887240" y="4526621"/>
            <a:ext cx="1021386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lang="en-IN" sz="750" spc="-10" dirty="0">
                <a:solidFill>
                  <a:srgbClr val="1F3864"/>
                </a:solidFill>
                <a:latin typeface="Calibri"/>
                <a:cs typeface="Calibri"/>
              </a:rPr>
              <a:t>Inspection Records</a:t>
            </a:r>
            <a:endParaRPr sz="750" spc="-10" dirty="0">
              <a:solidFill>
                <a:srgbClr val="1F3864"/>
              </a:solidFill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859568" y="4526621"/>
            <a:ext cx="41529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Audit</a:t>
            </a:r>
            <a:r>
              <a:rPr sz="750" spc="-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1F3864"/>
                </a:solidFill>
                <a:latin typeface="Calibri"/>
                <a:cs typeface="Calibri"/>
              </a:rPr>
              <a:t>Logs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7144519" y="1606156"/>
            <a:ext cx="4659594" cy="3272574"/>
            <a:chOff x="7216175" y="1565363"/>
            <a:chExt cx="4659594" cy="3272574"/>
          </a:xfrm>
        </p:grpSpPr>
        <p:sp>
          <p:nvSpPr>
            <p:cNvPr id="88" name="object 88"/>
            <p:cNvSpPr/>
            <p:nvPr/>
          </p:nvSpPr>
          <p:spPr>
            <a:xfrm>
              <a:off x="7217409" y="1579117"/>
              <a:ext cx="4658360" cy="3258820"/>
            </a:xfrm>
            <a:custGeom>
              <a:avLst/>
              <a:gdLst/>
              <a:ahLst/>
              <a:cxnLst/>
              <a:rect l="l" t="t" r="r" b="b"/>
              <a:pathLst>
                <a:path w="4658359" h="3258820">
                  <a:moveTo>
                    <a:pt x="4602778" y="0"/>
                  </a:moveTo>
                  <a:lnTo>
                    <a:pt x="55073" y="0"/>
                  </a:lnTo>
                  <a:lnTo>
                    <a:pt x="33722" y="4356"/>
                  </a:lnTo>
                  <a:lnTo>
                    <a:pt x="16207" y="16207"/>
                  </a:lnTo>
                  <a:lnTo>
                    <a:pt x="4356" y="33722"/>
                  </a:lnTo>
                  <a:lnTo>
                    <a:pt x="0" y="55073"/>
                  </a:lnTo>
                  <a:lnTo>
                    <a:pt x="0" y="3203745"/>
                  </a:lnTo>
                  <a:lnTo>
                    <a:pt x="4356" y="3225097"/>
                  </a:lnTo>
                  <a:lnTo>
                    <a:pt x="16207" y="3242612"/>
                  </a:lnTo>
                  <a:lnTo>
                    <a:pt x="33722" y="3254462"/>
                  </a:lnTo>
                  <a:lnTo>
                    <a:pt x="55073" y="3258819"/>
                  </a:lnTo>
                  <a:lnTo>
                    <a:pt x="4602778" y="3258819"/>
                  </a:lnTo>
                  <a:lnTo>
                    <a:pt x="4624129" y="3254462"/>
                  </a:lnTo>
                  <a:lnTo>
                    <a:pt x="4641644" y="3242612"/>
                  </a:lnTo>
                  <a:lnTo>
                    <a:pt x="4653495" y="3225097"/>
                  </a:lnTo>
                  <a:lnTo>
                    <a:pt x="4657851" y="3203745"/>
                  </a:lnTo>
                  <a:lnTo>
                    <a:pt x="4657851" y="55073"/>
                  </a:lnTo>
                  <a:lnTo>
                    <a:pt x="4653495" y="33722"/>
                  </a:lnTo>
                  <a:lnTo>
                    <a:pt x="4641644" y="16207"/>
                  </a:lnTo>
                  <a:lnTo>
                    <a:pt x="4624129" y="4356"/>
                  </a:lnTo>
                  <a:lnTo>
                    <a:pt x="4602778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9" name="object 89"/>
            <p:cNvSpPr/>
            <p:nvPr/>
          </p:nvSpPr>
          <p:spPr>
            <a:xfrm>
              <a:off x="7216175" y="1565363"/>
              <a:ext cx="4645660" cy="3246120"/>
            </a:xfrm>
            <a:custGeom>
              <a:avLst/>
              <a:gdLst/>
              <a:ahLst/>
              <a:cxnLst/>
              <a:rect l="l" t="t" r="r" b="b"/>
              <a:pathLst>
                <a:path w="4645659" h="3246120">
                  <a:moveTo>
                    <a:pt x="4590292" y="0"/>
                  </a:moveTo>
                  <a:lnTo>
                    <a:pt x="54859" y="0"/>
                  </a:lnTo>
                  <a:lnTo>
                    <a:pt x="33591" y="4339"/>
                  </a:lnTo>
                  <a:lnTo>
                    <a:pt x="16144" y="16143"/>
                  </a:lnTo>
                  <a:lnTo>
                    <a:pt x="4339" y="33591"/>
                  </a:lnTo>
                  <a:lnTo>
                    <a:pt x="0" y="54859"/>
                  </a:lnTo>
                  <a:lnTo>
                    <a:pt x="0" y="3191260"/>
                  </a:lnTo>
                  <a:lnTo>
                    <a:pt x="4339" y="3212528"/>
                  </a:lnTo>
                  <a:lnTo>
                    <a:pt x="16144" y="3229975"/>
                  </a:lnTo>
                  <a:lnTo>
                    <a:pt x="33591" y="3241780"/>
                  </a:lnTo>
                  <a:lnTo>
                    <a:pt x="54859" y="3246120"/>
                  </a:lnTo>
                  <a:lnTo>
                    <a:pt x="4590292" y="3246120"/>
                  </a:lnTo>
                  <a:lnTo>
                    <a:pt x="4611560" y="3241780"/>
                  </a:lnTo>
                  <a:lnTo>
                    <a:pt x="4629007" y="3229975"/>
                  </a:lnTo>
                  <a:lnTo>
                    <a:pt x="4640812" y="3212528"/>
                  </a:lnTo>
                  <a:lnTo>
                    <a:pt x="4645152" y="3191260"/>
                  </a:lnTo>
                  <a:lnTo>
                    <a:pt x="4645152" y="54859"/>
                  </a:lnTo>
                  <a:lnTo>
                    <a:pt x="4640812" y="33591"/>
                  </a:lnTo>
                  <a:lnTo>
                    <a:pt x="4629007" y="16143"/>
                  </a:lnTo>
                  <a:lnTo>
                    <a:pt x="4611560" y="4339"/>
                  </a:lnTo>
                  <a:lnTo>
                    <a:pt x="45902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0" name="object 90"/>
            <p:cNvSpPr/>
            <p:nvPr/>
          </p:nvSpPr>
          <p:spPr>
            <a:xfrm>
              <a:off x="7223759" y="1572767"/>
              <a:ext cx="4645660" cy="3246120"/>
            </a:xfrm>
            <a:custGeom>
              <a:avLst/>
              <a:gdLst/>
              <a:ahLst/>
              <a:cxnLst/>
              <a:rect l="l" t="t" r="r" b="b"/>
              <a:pathLst>
                <a:path w="4645659" h="3246120">
                  <a:moveTo>
                    <a:pt x="0" y="54859"/>
                  </a:moveTo>
                  <a:lnTo>
                    <a:pt x="4339" y="33591"/>
                  </a:lnTo>
                  <a:lnTo>
                    <a:pt x="16144" y="16143"/>
                  </a:lnTo>
                  <a:lnTo>
                    <a:pt x="33591" y="4339"/>
                  </a:lnTo>
                  <a:lnTo>
                    <a:pt x="54859" y="0"/>
                  </a:lnTo>
                  <a:lnTo>
                    <a:pt x="4590292" y="0"/>
                  </a:lnTo>
                  <a:lnTo>
                    <a:pt x="4611560" y="4339"/>
                  </a:lnTo>
                  <a:lnTo>
                    <a:pt x="4629007" y="16143"/>
                  </a:lnTo>
                  <a:lnTo>
                    <a:pt x="4640812" y="33591"/>
                  </a:lnTo>
                  <a:lnTo>
                    <a:pt x="4645152" y="54859"/>
                  </a:lnTo>
                  <a:lnTo>
                    <a:pt x="4645152" y="3191260"/>
                  </a:lnTo>
                  <a:lnTo>
                    <a:pt x="4640812" y="3212528"/>
                  </a:lnTo>
                  <a:lnTo>
                    <a:pt x="4629007" y="3229975"/>
                  </a:lnTo>
                  <a:lnTo>
                    <a:pt x="4611560" y="3241780"/>
                  </a:lnTo>
                  <a:lnTo>
                    <a:pt x="4590292" y="3246120"/>
                  </a:lnTo>
                  <a:lnTo>
                    <a:pt x="54859" y="3246120"/>
                  </a:lnTo>
                  <a:lnTo>
                    <a:pt x="33591" y="3241780"/>
                  </a:lnTo>
                  <a:lnTo>
                    <a:pt x="16144" y="3229975"/>
                  </a:lnTo>
                  <a:lnTo>
                    <a:pt x="4339" y="3212528"/>
                  </a:lnTo>
                  <a:lnTo>
                    <a:pt x="0" y="3191260"/>
                  </a:lnTo>
                  <a:lnTo>
                    <a:pt x="0" y="54859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1" name="object 91"/>
            <p:cNvSpPr/>
            <p:nvPr/>
          </p:nvSpPr>
          <p:spPr>
            <a:xfrm>
              <a:off x="7223759" y="1572767"/>
              <a:ext cx="50800" cy="3246120"/>
            </a:xfrm>
            <a:custGeom>
              <a:avLst/>
              <a:gdLst/>
              <a:ahLst/>
              <a:cxnLst/>
              <a:rect l="l" t="t" r="r" b="b"/>
              <a:pathLst>
                <a:path w="50800" h="3246120">
                  <a:moveTo>
                    <a:pt x="50292" y="0"/>
                  </a:moveTo>
                  <a:lnTo>
                    <a:pt x="0" y="0"/>
                  </a:lnTo>
                  <a:lnTo>
                    <a:pt x="0" y="3246120"/>
                  </a:lnTo>
                  <a:lnTo>
                    <a:pt x="50292" y="3246120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2" name="object 92"/>
            <p:cNvSpPr/>
            <p:nvPr/>
          </p:nvSpPr>
          <p:spPr>
            <a:xfrm>
              <a:off x="7388351" y="1956816"/>
              <a:ext cx="45720" cy="238125"/>
            </a:xfrm>
            <a:custGeom>
              <a:avLst/>
              <a:gdLst/>
              <a:ahLst/>
              <a:cxnLst/>
              <a:rect l="l" t="t" r="r" b="b"/>
              <a:pathLst>
                <a:path w="45720" h="238125">
                  <a:moveTo>
                    <a:pt x="45720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45720" y="237744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0070B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3" name="object 93"/>
            <p:cNvSpPr/>
            <p:nvPr/>
          </p:nvSpPr>
          <p:spPr>
            <a:xfrm>
              <a:off x="7388351" y="2235708"/>
              <a:ext cx="45720" cy="238125"/>
            </a:xfrm>
            <a:custGeom>
              <a:avLst/>
              <a:gdLst/>
              <a:ahLst/>
              <a:cxnLst/>
              <a:rect l="l" t="t" r="r" b="b"/>
              <a:pathLst>
                <a:path w="45720" h="238125">
                  <a:moveTo>
                    <a:pt x="45720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45720" y="237744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4" name="object 94"/>
            <p:cNvSpPr/>
            <p:nvPr/>
          </p:nvSpPr>
          <p:spPr>
            <a:xfrm>
              <a:off x="7388352" y="2514599"/>
              <a:ext cx="45720" cy="795655"/>
            </a:xfrm>
            <a:custGeom>
              <a:avLst/>
              <a:gdLst/>
              <a:ahLst/>
              <a:cxnLst/>
              <a:rect l="l" t="t" r="r" b="b"/>
              <a:pathLst>
                <a:path w="45720" h="795654">
                  <a:moveTo>
                    <a:pt x="45720" y="557784"/>
                  </a:moveTo>
                  <a:lnTo>
                    <a:pt x="0" y="557784"/>
                  </a:lnTo>
                  <a:lnTo>
                    <a:pt x="0" y="795528"/>
                  </a:lnTo>
                  <a:lnTo>
                    <a:pt x="45720" y="795528"/>
                  </a:lnTo>
                  <a:lnTo>
                    <a:pt x="45720" y="557784"/>
                  </a:lnTo>
                  <a:close/>
                </a:path>
                <a:path w="45720" h="795654">
                  <a:moveTo>
                    <a:pt x="45720" y="278892"/>
                  </a:moveTo>
                  <a:lnTo>
                    <a:pt x="0" y="278892"/>
                  </a:lnTo>
                  <a:lnTo>
                    <a:pt x="0" y="516636"/>
                  </a:lnTo>
                  <a:lnTo>
                    <a:pt x="45720" y="516636"/>
                  </a:lnTo>
                  <a:lnTo>
                    <a:pt x="45720" y="278892"/>
                  </a:lnTo>
                  <a:close/>
                </a:path>
                <a:path w="45720" h="795654">
                  <a:moveTo>
                    <a:pt x="45720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45720" y="237744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5" name="object 95"/>
            <p:cNvSpPr/>
            <p:nvPr/>
          </p:nvSpPr>
          <p:spPr>
            <a:xfrm>
              <a:off x="7388352" y="3351275"/>
              <a:ext cx="45720" cy="516890"/>
            </a:xfrm>
            <a:custGeom>
              <a:avLst/>
              <a:gdLst/>
              <a:ahLst/>
              <a:cxnLst/>
              <a:rect l="l" t="t" r="r" b="b"/>
              <a:pathLst>
                <a:path w="45720" h="516889">
                  <a:moveTo>
                    <a:pt x="45720" y="278892"/>
                  </a:moveTo>
                  <a:lnTo>
                    <a:pt x="0" y="278892"/>
                  </a:lnTo>
                  <a:lnTo>
                    <a:pt x="0" y="516636"/>
                  </a:lnTo>
                  <a:lnTo>
                    <a:pt x="45720" y="516636"/>
                  </a:lnTo>
                  <a:lnTo>
                    <a:pt x="45720" y="278892"/>
                  </a:lnTo>
                  <a:close/>
                </a:path>
                <a:path w="45720" h="516889">
                  <a:moveTo>
                    <a:pt x="45720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45720" y="237744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6" name="object 96"/>
            <p:cNvSpPr/>
            <p:nvPr/>
          </p:nvSpPr>
          <p:spPr>
            <a:xfrm>
              <a:off x="7388352" y="3909059"/>
              <a:ext cx="45720" cy="516890"/>
            </a:xfrm>
            <a:custGeom>
              <a:avLst/>
              <a:gdLst/>
              <a:ahLst/>
              <a:cxnLst/>
              <a:rect l="l" t="t" r="r" b="b"/>
              <a:pathLst>
                <a:path w="45720" h="516889">
                  <a:moveTo>
                    <a:pt x="45720" y="278892"/>
                  </a:moveTo>
                  <a:lnTo>
                    <a:pt x="0" y="278892"/>
                  </a:lnTo>
                  <a:lnTo>
                    <a:pt x="0" y="516636"/>
                  </a:lnTo>
                  <a:lnTo>
                    <a:pt x="45720" y="516636"/>
                  </a:lnTo>
                  <a:lnTo>
                    <a:pt x="45720" y="278892"/>
                  </a:lnTo>
                  <a:close/>
                </a:path>
                <a:path w="45720" h="516889">
                  <a:moveTo>
                    <a:pt x="45720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45720" y="237744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7" name="object 97"/>
            <p:cNvSpPr/>
            <p:nvPr/>
          </p:nvSpPr>
          <p:spPr>
            <a:xfrm>
              <a:off x="7388351" y="4466844"/>
              <a:ext cx="45720" cy="238125"/>
            </a:xfrm>
            <a:custGeom>
              <a:avLst/>
              <a:gdLst/>
              <a:ahLst/>
              <a:cxnLst/>
              <a:rect l="l" t="t" r="r" b="b"/>
              <a:pathLst>
                <a:path w="45720" h="238125">
                  <a:moveTo>
                    <a:pt x="45720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45720" y="237744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BF392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7329829" y="1697546"/>
            <a:ext cx="3691441" cy="2791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F4D79"/>
                </a:solidFill>
                <a:latin typeface="Calibri"/>
                <a:cs typeface="Calibri"/>
              </a:rPr>
              <a:t>TECHNOLOGY</a:t>
            </a:r>
            <a:r>
              <a:rPr sz="1300" b="1" spc="-70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F4D79"/>
                </a:solidFill>
                <a:latin typeface="Calibri"/>
                <a:cs typeface="Calibri"/>
              </a:rPr>
              <a:t>STACK</a:t>
            </a:r>
            <a:endParaRPr sz="1300" dirty="0">
              <a:latin typeface="Calibri"/>
              <a:cs typeface="Calibri"/>
            </a:endParaRPr>
          </a:p>
          <a:p>
            <a:pPr marL="144000">
              <a:lnSpc>
                <a:spcPct val="150000"/>
              </a:lnSpc>
              <a:spcBef>
                <a:spcPts val="600"/>
              </a:spcBef>
              <a:tabLst>
                <a:tab pos="1362075" algn="l"/>
              </a:tabLst>
            </a:pP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Frontend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	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Next.js ·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TypeScript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 ·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Tailwind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 ·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shadcn/ui</a:t>
            </a:r>
            <a:endParaRPr sz="900" dirty="0">
              <a:latin typeface="Calibri"/>
              <a:cs typeface="Calibri"/>
            </a:endParaRPr>
          </a:p>
          <a:p>
            <a:pPr marL="146050" marR="160020">
              <a:lnSpc>
                <a:spcPct val="192600"/>
              </a:lnSpc>
              <a:tabLst>
                <a:tab pos="1362075" algn="l"/>
              </a:tabLst>
            </a:pP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Backend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	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FastAPI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·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 Python</a:t>
            </a:r>
            <a:r>
              <a:rPr sz="9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·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lang="en-IN" sz="900" spc="-10" dirty="0">
                <a:solidFill>
                  <a:srgbClr val="2A3544"/>
                </a:solidFill>
                <a:latin typeface="Calibri"/>
                <a:cs typeface="Calibri"/>
              </a:rPr>
              <a:t>REST API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lang="en-US" sz="900" spc="-10" dirty="0">
                <a:solidFill>
                  <a:srgbClr val="2A3544"/>
                </a:solidFill>
                <a:latin typeface="Calibri"/>
                <a:cs typeface="Calibri"/>
              </a:rPr>
              <a:t>                </a:t>
            </a:r>
            <a:r>
              <a:rPr sz="900" spc="50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Computer</a:t>
            </a:r>
            <a:r>
              <a:rPr sz="950" b="1" spc="-3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Vision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	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OpenCV</a:t>
            </a:r>
            <a:endParaRPr lang="en-US" sz="900" spc="-10" dirty="0">
              <a:solidFill>
                <a:srgbClr val="2A3544"/>
              </a:solidFill>
              <a:latin typeface="Calibri"/>
              <a:cs typeface="Calibri"/>
            </a:endParaRPr>
          </a:p>
          <a:p>
            <a:pPr marL="146050" marR="160020">
              <a:lnSpc>
                <a:spcPct val="192600"/>
              </a:lnSpc>
              <a:tabLst>
                <a:tab pos="1362075" algn="l"/>
              </a:tabLst>
            </a:pPr>
            <a:r>
              <a:rPr sz="950" b="1" spc="-25" dirty="0">
                <a:solidFill>
                  <a:srgbClr val="1F3864"/>
                </a:solidFill>
                <a:latin typeface="Calibri"/>
                <a:cs typeface="Calibri"/>
              </a:rPr>
              <a:t>OCR</a:t>
            </a:r>
            <a:r>
              <a:rPr lang="en-US" sz="950" b="1" spc="-25" dirty="0">
                <a:solidFill>
                  <a:srgbClr val="1F3864"/>
                </a:solidFill>
                <a:latin typeface="Calibri"/>
                <a:cs typeface="Calibri"/>
              </a:rPr>
              <a:t>	</a:t>
            </a:r>
            <a:r>
              <a:rPr lang="en-US" sz="900" spc="-10" dirty="0">
                <a:solidFill>
                  <a:srgbClr val="2A3544"/>
                </a:solidFill>
                <a:latin typeface="Calibri"/>
                <a:cs typeface="Calibri"/>
              </a:rPr>
              <a:t>EasyOCR</a:t>
            </a:r>
            <a:endParaRPr sz="900" spc="-10" dirty="0">
              <a:solidFill>
                <a:srgbClr val="2A3544"/>
              </a:solidFill>
              <a:latin typeface="Calibri"/>
              <a:cs typeface="Calibri"/>
            </a:endParaRPr>
          </a:p>
          <a:p>
            <a:pPr marL="146050">
              <a:lnSpc>
                <a:spcPct val="100000"/>
              </a:lnSpc>
              <a:spcBef>
                <a:spcPts val="1055"/>
              </a:spcBef>
              <a:tabLst>
                <a:tab pos="1362075" algn="l"/>
              </a:tabLst>
            </a:pPr>
            <a:r>
              <a:rPr lang="en-IN" sz="950" b="1" spc="-25" dirty="0">
                <a:solidFill>
                  <a:srgbClr val="1F3864"/>
                </a:solidFill>
                <a:latin typeface="Calibri"/>
                <a:cs typeface="Calibri"/>
              </a:rPr>
              <a:t>Field Extraction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	</a:t>
            </a:r>
            <a:r>
              <a:rPr lang="en-US" sz="900" spc="-10" dirty="0">
                <a:solidFill>
                  <a:srgbClr val="2A3544"/>
                </a:solidFill>
                <a:latin typeface="Calibri"/>
                <a:cs typeface="Calibri"/>
              </a:rPr>
              <a:t>Regex</a:t>
            </a:r>
            <a:endParaRPr sz="900" spc="-10" dirty="0">
              <a:solidFill>
                <a:srgbClr val="2A3544"/>
              </a:solidFill>
              <a:latin typeface="Calibri"/>
              <a:cs typeface="Calibri"/>
            </a:endParaRPr>
          </a:p>
          <a:p>
            <a:pPr marL="146050">
              <a:lnSpc>
                <a:spcPct val="100000"/>
              </a:lnSpc>
              <a:spcBef>
                <a:spcPts val="1060"/>
              </a:spcBef>
              <a:tabLst>
                <a:tab pos="1362075" algn="l"/>
              </a:tabLst>
            </a:pPr>
            <a:r>
              <a:rPr lang="en-IN" sz="950" b="1" spc="-25" dirty="0">
                <a:solidFill>
                  <a:srgbClr val="1F3864"/>
                </a:solidFill>
                <a:latin typeface="Calibri"/>
                <a:cs typeface="Calibri"/>
              </a:rPr>
              <a:t>Compliance Engine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	</a:t>
            </a:r>
            <a:r>
              <a:rPr lang="en-US" sz="900" spc="-10" dirty="0">
                <a:solidFill>
                  <a:srgbClr val="2A3544"/>
                </a:solidFill>
                <a:latin typeface="Calibri"/>
                <a:cs typeface="Calibri"/>
              </a:rPr>
              <a:t>Python</a:t>
            </a:r>
            <a:endParaRPr sz="900" dirty="0">
              <a:latin typeface="Calibri"/>
              <a:cs typeface="Calibri"/>
            </a:endParaRPr>
          </a:p>
          <a:p>
            <a:pPr marL="146050">
              <a:lnSpc>
                <a:spcPct val="100000"/>
              </a:lnSpc>
              <a:spcBef>
                <a:spcPts val="1055"/>
              </a:spcBef>
              <a:tabLst>
                <a:tab pos="1362075" algn="l"/>
              </a:tabLst>
            </a:pP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Database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	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PostgreSQL</a:t>
            </a:r>
            <a:r>
              <a:rPr lang="en-US" sz="900" spc="-25" dirty="0">
                <a:solidFill>
                  <a:srgbClr val="2A3544"/>
                </a:solidFill>
                <a:latin typeface="Calibri"/>
                <a:cs typeface="Calibri"/>
              </a:rPr>
              <a:t>, </a:t>
            </a:r>
            <a:r>
              <a:rPr lang="en-US" sz="900" dirty="0">
                <a:solidFill>
                  <a:srgbClr val="2A3544"/>
                </a:solidFill>
                <a:latin typeface="Calibri"/>
                <a:cs typeface="Calibri"/>
              </a:rPr>
              <a:t>Prisma, </a:t>
            </a:r>
            <a:r>
              <a:rPr lang="en-IN" sz="900" dirty="0">
                <a:solidFill>
                  <a:srgbClr val="2A3544"/>
                </a:solidFill>
                <a:latin typeface="Calibri"/>
                <a:cs typeface="Calibri"/>
              </a:rPr>
              <a:t>SQLAlchemy 2.0 </a:t>
            </a:r>
            <a:endParaRPr sz="900" dirty="0">
              <a:solidFill>
                <a:srgbClr val="2A3544"/>
              </a:solidFill>
              <a:latin typeface="Calibri"/>
              <a:cs typeface="Calibri"/>
            </a:endParaRPr>
          </a:p>
          <a:p>
            <a:pPr marL="146050">
              <a:lnSpc>
                <a:spcPct val="100000"/>
              </a:lnSpc>
              <a:spcBef>
                <a:spcPts val="1055"/>
              </a:spcBef>
              <a:tabLst>
                <a:tab pos="1362075" algn="l"/>
              </a:tabLst>
            </a:pP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Reports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	</a:t>
            </a:r>
            <a:r>
              <a:rPr sz="900" dirty="0" err="1">
                <a:solidFill>
                  <a:srgbClr val="2A3544"/>
                </a:solidFill>
                <a:latin typeface="Calibri"/>
                <a:cs typeface="Calibri"/>
              </a:rPr>
              <a:t>ReportLab</a:t>
            </a:r>
            <a:endParaRPr sz="900" dirty="0">
              <a:latin typeface="Calibri"/>
              <a:cs typeface="Calibri"/>
            </a:endParaRPr>
          </a:p>
          <a:p>
            <a:pPr marL="146050">
              <a:lnSpc>
                <a:spcPct val="100000"/>
              </a:lnSpc>
              <a:spcBef>
                <a:spcPts val="1055"/>
              </a:spcBef>
              <a:tabLst>
                <a:tab pos="1362075" algn="l"/>
              </a:tabLst>
            </a:pP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Security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	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JWT</a:t>
            </a:r>
            <a:r>
              <a:rPr sz="9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lang="en-IN" sz="900" dirty="0">
                <a:solidFill>
                  <a:srgbClr val="2A3544"/>
                </a:solidFill>
                <a:latin typeface="Calibri"/>
                <a:cs typeface="Calibri"/>
              </a:rPr>
              <a:t> · Next Auth.js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44717" y="4885717"/>
            <a:ext cx="3355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65" dirty="0">
                <a:solidFill>
                  <a:srgbClr val="1F3864"/>
                </a:solidFill>
                <a:latin typeface="Calibri"/>
                <a:cs typeface="Calibri"/>
              </a:rPr>
              <a:t>IMPLEMENTATION</a:t>
            </a:r>
            <a:r>
              <a:rPr sz="1200" b="1" spc="1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b="1" spc="65" dirty="0">
                <a:solidFill>
                  <a:srgbClr val="1F3864"/>
                </a:solidFill>
                <a:latin typeface="Calibri"/>
                <a:cs typeface="Calibri"/>
              </a:rPr>
              <a:t>METHODOLOGY</a:t>
            </a:r>
            <a:r>
              <a:rPr sz="1200" b="1" spc="1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F3864"/>
                </a:solidFill>
                <a:latin typeface="Calibri"/>
                <a:cs typeface="Calibri"/>
              </a:rPr>
              <a:t>-</a:t>
            </a:r>
            <a:r>
              <a:rPr sz="1200" b="1" spc="1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F3864"/>
                </a:solidFill>
                <a:latin typeface="Calibri"/>
                <a:cs typeface="Calibri"/>
              </a:rPr>
              <a:t>6</a:t>
            </a:r>
            <a:r>
              <a:rPr sz="1200" b="1" spc="1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b="1" spc="50" dirty="0">
                <a:solidFill>
                  <a:srgbClr val="1F3864"/>
                </a:solidFill>
                <a:latin typeface="Calibri"/>
                <a:cs typeface="Calibri"/>
              </a:rPr>
              <a:t>PHASES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511981" y="5289595"/>
            <a:ext cx="7429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2444109" y="5234430"/>
            <a:ext cx="742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4376236" y="5234430"/>
            <a:ext cx="742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6308364" y="5234430"/>
            <a:ext cx="742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8240491" y="5234430"/>
            <a:ext cx="742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10172618" y="5234430"/>
            <a:ext cx="742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0" y="6355079"/>
            <a:ext cx="12192000" cy="502920"/>
            <a:chOff x="0" y="6355079"/>
            <a:chExt cx="12192000" cy="502920"/>
          </a:xfrm>
        </p:grpSpPr>
        <p:sp>
          <p:nvSpPr>
            <p:cNvPr id="143" name="object 143"/>
            <p:cNvSpPr/>
            <p:nvPr/>
          </p:nvSpPr>
          <p:spPr>
            <a:xfrm>
              <a:off x="0" y="6355079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20">
                  <a:moveTo>
                    <a:pt x="12191694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2191694" y="45720"/>
                  </a:lnTo>
                  <a:lnTo>
                    <a:pt x="12191694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4" name="object 144"/>
            <p:cNvSpPr/>
            <p:nvPr/>
          </p:nvSpPr>
          <p:spPr>
            <a:xfrm>
              <a:off x="0" y="6355079"/>
              <a:ext cx="6099175" cy="45720"/>
            </a:xfrm>
            <a:custGeom>
              <a:avLst/>
              <a:gdLst/>
              <a:ahLst/>
              <a:cxnLst/>
              <a:rect l="l" t="t" r="r" b="b"/>
              <a:pathLst>
                <a:path w="6099175" h="45720">
                  <a:moveTo>
                    <a:pt x="6099048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6099048" y="45720"/>
                  </a:lnTo>
                  <a:lnTo>
                    <a:pt x="6099048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5" name="object 145"/>
            <p:cNvSpPr/>
            <p:nvPr/>
          </p:nvSpPr>
          <p:spPr>
            <a:xfrm>
              <a:off x="4206240" y="6400799"/>
              <a:ext cx="7985759" cy="457200"/>
            </a:xfrm>
            <a:custGeom>
              <a:avLst/>
              <a:gdLst/>
              <a:ahLst/>
              <a:cxnLst/>
              <a:rect l="l" t="t" r="r" b="b"/>
              <a:pathLst>
                <a:path w="7985759" h="457200">
                  <a:moveTo>
                    <a:pt x="0" y="457200"/>
                  </a:moveTo>
                  <a:lnTo>
                    <a:pt x="7985454" y="457200"/>
                  </a:lnTo>
                  <a:lnTo>
                    <a:pt x="7985454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6" name="object 146"/>
            <p:cNvSpPr/>
            <p:nvPr/>
          </p:nvSpPr>
          <p:spPr>
            <a:xfrm>
              <a:off x="0" y="6400799"/>
              <a:ext cx="4206240" cy="457200"/>
            </a:xfrm>
            <a:custGeom>
              <a:avLst/>
              <a:gdLst/>
              <a:ahLst/>
              <a:cxnLst/>
              <a:rect l="l" t="t" r="r" b="b"/>
              <a:pathLst>
                <a:path w="4206240" h="457200">
                  <a:moveTo>
                    <a:pt x="420624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206240" y="457200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1430000" y="6473951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447" y="0"/>
                  </a:moveTo>
                  <a:lnTo>
                    <a:pt x="106535" y="7980"/>
                  </a:lnTo>
                  <a:lnTo>
                    <a:pt x="63890" y="30158"/>
                  </a:lnTo>
                  <a:lnTo>
                    <a:pt x="30158" y="63890"/>
                  </a:lnTo>
                  <a:lnTo>
                    <a:pt x="7980" y="106535"/>
                  </a:lnTo>
                  <a:lnTo>
                    <a:pt x="0" y="155448"/>
                  </a:lnTo>
                  <a:lnTo>
                    <a:pt x="7980" y="204360"/>
                  </a:lnTo>
                  <a:lnTo>
                    <a:pt x="30158" y="247004"/>
                  </a:lnTo>
                  <a:lnTo>
                    <a:pt x="63890" y="280737"/>
                  </a:lnTo>
                  <a:lnTo>
                    <a:pt x="106535" y="302915"/>
                  </a:lnTo>
                  <a:lnTo>
                    <a:pt x="155447" y="310896"/>
                  </a:lnTo>
                  <a:lnTo>
                    <a:pt x="204360" y="302915"/>
                  </a:lnTo>
                  <a:lnTo>
                    <a:pt x="247004" y="280737"/>
                  </a:lnTo>
                  <a:lnTo>
                    <a:pt x="280737" y="247004"/>
                  </a:lnTo>
                  <a:lnTo>
                    <a:pt x="302915" y="204360"/>
                  </a:lnTo>
                  <a:lnTo>
                    <a:pt x="310895" y="155448"/>
                  </a:lnTo>
                  <a:lnTo>
                    <a:pt x="302915" y="106535"/>
                  </a:lnTo>
                  <a:lnTo>
                    <a:pt x="280737" y="63890"/>
                  </a:lnTo>
                  <a:lnTo>
                    <a:pt x="247004" y="30158"/>
                  </a:lnTo>
                  <a:lnTo>
                    <a:pt x="204360" y="7980"/>
                  </a:lnTo>
                  <a:lnTo>
                    <a:pt x="155447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48" name="object 14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149" name="object 149"/>
          <p:cNvSpPr txBox="1">
            <a:spLocks noGrp="1"/>
          </p:cNvSpPr>
          <p:nvPr>
            <p:ph type="ftr" sz="quarter" idx="5"/>
          </p:nvPr>
        </p:nvSpPr>
        <p:spPr>
          <a:xfrm>
            <a:off x="5426779" y="6558863"/>
            <a:ext cx="4505325" cy="143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lang="en-US" spc="-1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150" name="object 1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B6728180-5994-EFBC-3657-B75D5468AC96}"/>
              </a:ext>
            </a:extLst>
          </p:cNvPr>
          <p:cNvSpPr/>
          <p:nvPr/>
        </p:nvSpPr>
        <p:spPr>
          <a:xfrm>
            <a:off x="10098935" y="77995"/>
            <a:ext cx="1832285" cy="5039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2" name="Picture 151">
            <a:extLst>
              <a:ext uri="{FF2B5EF4-FFF2-40B4-BE49-F238E27FC236}">
                <a16:creationId xmlns:a16="http://schemas.microsoft.com/office/drawing/2014/main" id="{3C720CF8-C2B7-A8D4-C43F-A20DAA47CF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646" y="22037"/>
            <a:ext cx="1210481" cy="571566"/>
          </a:xfrm>
          <a:prstGeom prst="rect">
            <a:avLst/>
          </a:prstGeom>
        </p:spPr>
      </p:pic>
      <p:sp>
        <p:nvSpPr>
          <p:cNvPr id="154" name="Shape 7">
            <a:extLst>
              <a:ext uri="{FF2B5EF4-FFF2-40B4-BE49-F238E27FC236}">
                <a16:creationId xmlns:a16="http://schemas.microsoft.com/office/drawing/2014/main" id="{6F12B66B-36EE-CA7D-A7D1-5E878538F848}"/>
              </a:ext>
            </a:extLst>
          </p:cNvPr>
          <p:cNvSpPr/>
          <p:nvPr/>
        </p:nvSpPr>
        <p:spPr>
          <a:xfrm>
            <a:off x="320040" y="1005840"/>
            <a:ext cx="1371600" cy="402336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5" name="Text 8">
            <a:extLst>
              <a:ext uri="{FF2B5EF4-FFF2-40B4-BE49-F238E27FC236}">
                <a16:creationId xmlns:a16="http://schemas.microsoft.com/office/drawing/2014/main" id="{7D772438-C32C-0018-A3A2-1EDD288285AF}"/>
              </a:ext>
            </a:extLst>
          </p:cNvPr>
          <p:cNvSpPr/>
          <p:nvPr/>
        </p:nvSpPr>
        <p:spPr>
          <a:xfrm>
            <a:off x="393192" y="1005840"/>
            <a:ext cx="1225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</a:t>
            </a:r>
            <a:endParaRPr lang="en-US" sz="950" dirty="0"/>
          </a:p>
        </p:txBody>
      </p:sp>
      <p:sp>
        <p:nvSpPr>
          <p:cNvPr id="156" name="Shape 9">
            <a:extLst>
              <a:ext uri="{FF2B5EF4-FFF2-40B4-BE49-F238E27FC236}">
                <a16:creationId xmlns:a16="http://schemas.microsoft.com/office/drawing/2014/main" id="{ABAF5BC4-E730-A228-023B-4EF65F6E8E0A}"/>
              </a:ext>
            </a:extLst>
          </p:cNvPr>
          <p:cNvSpPr/>
          <p:nvPr/>
        </p:nvSpPr>
        <p:spPr>
          <a:xfrm>
            <a:off x="1618488" y="1005840"/>
            <a:ext cx="1371600" cy="402336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421809A4-8E81-73F7-D69D-C751B4607A7A}"/>
              </a:ext>
            </a:extLst>
          </p:cNvPr>
          <p:cNvSpPr/>
          <p:nvPr/>
        </p:nvSpPr>
        <p:spPr>
          <a:xfrm>
            <a:off x="1691640" y="1005840"/>
            <a:ext cx="1225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50" dirty="0"/>
          </a:p>
        </p:txBody>
      </p:sp>
      <p:sp>
        <p:nvSpPr>
          <p:cNvPr id="158" name="Shape 11">
            <a:extLst>
              <a:ext uri="{FF2B5EF4-FFF2-40B4-BE49-F238E27FC236}">
                <a16:creationId xmlns:a16="http://schemas.microsoft.com/office/drawing/2014/main" id="{9E7DC9BB-E255-861A-0CD2-0BBA9766E454}"/>
              </a:ext>
            </a:extLst>
          </p:cNvPr>
          <p:cNvSpPr/>
          <p:nvPr/>
        </p:nvSpPr>
        <p:spPr>
          <a:xfrm>
            <a:off x="2916936" y="1005840"/>
            <a:ext cx="1371600" cy="402336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B2283331-7276-5FD1-8AB2-AE5BBDEC9B41}"/>
              </a:ext>
            </a:extLst>
          </p:cNvPr>
          <p:cNvSpPr/>
          <p:nvPr/>
        </p:nvSpPr>
        <p:spPr>
          <a:xfrm>
            <a:off x="2990088" y="1005840"/>
            <a:ext cx="1225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CV</a:t>
            </a:r>
            <a:endParaRPr lang="en-US" sz="950" dirty="0"/>
          </a:p>
        </p:txBody>
      </p:sp>
      <p:sp>
        <p:nvSpPr>
          <p:cNvPr id="160" name="Shape 13">
            <a:extLst>
              <a:ext uri="{FF2B5EF4-FFF2-40B4-BE49-F238E27FC236}">
                <a16:creationId xmlns:a16="http://schemas.microsoft.com/office/drawing/2014/main" id="{E6DE261B-7FB3-8BEE-5267-3E04983DD6EC}"/>
              </a:ext>
            </a:extLst>
          </p:cNvPr>
          <p:cNvSpPr/>
          <p:nvPr/>
        </p:nvSpPr>
        <p:spPr>
          <a:xfrm>
            <a:off x="4215383" y="1005840"/>
            <a:ext cx="1371600" cy="402336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1" name="Text 14">
            <a:extLst>
              <a:ext uri="{FF2B5EF4-FFF2-40B4-BE49-F238E27FC236}">
                <a16:creationId xmlns:a16="http://schemas.microsoft.com/office/drawing/2014/main" id="{2D2247FD-AE6F-932E-6FA1-14F5D6B098C5}"/>
              </a:ext>
            </a:extLst>
          </p:cNvPr>
          <p:cNvSpPr/>
          <p:nvPr/>
        </p:nvSpPr>
        <p:spPr>
          <a:xfrm>
            <a:off x="4288536" y="1005840"/>
            <a:ext cx="1225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50" dirty="0"/>
          </a:p>
        </p:txBody>
      </p:sp>
      <p:sp>
        <p:nvSpPr>
          <p:cNvPr id="162" name="Shape 15">
            <a:extLst>
              <a:ext uri="{FF2B5EF4-FFF2-40B4-BE49-F238E27FC236}">
                <a16:creationId xmlns:a16="http://schemas.microsoft.com/office/drawing/2014/main" id="{8B2EB020-A064-29FE-FF1F-A42F438D2BA7}"/>
              </a:ext>
            </a:extLst>
          </p:cNvPr>
          <p:cNvSpPr/>
          <p:nvPr/>
        </p:nvSpPr>
        <p:spPr>
          <a:xfrm>
            <a:off x="5513831" y="1005840"/>
            <a:ext cx="1371600" cy="402336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3" name="Text 16">
            <a:extLst>
              <a:ext uri="{FF2B5EF4-FFF2-40B4-BE49-F238E27FC236}">
                <a16:creationId xmlns:a16="http://schemas.microsoft.com/office/drawing/2014/main" id="{229A8EC6-6009-9B21-AEDF-F6CC87E12782}"/>
              </a:ext>
            </a:extLst>
          </p:cNvPr>
          <p:cNvSpPr/>
          <p:nvPr/>
        </p:nvSpPr>
        <p:spPr>
          <a:xfrm>
            <a:off x="5586983" y="1005840"/>
            <a:ext cx="1225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950" dirty="0"/>
          </a:p>
        </p:txBody>
      </p:sp>
      <p:sp>
        <p:nvSpPr>
          <p:cNvPr id="164" name="Shape 17">
            <a:extLst>
              <a:ext uri="{FF2B5EF4-FFF2-40B4-BE49-F238E27FC236}">
                <a16:creationId xmlns:a16="http://schemas.microsoft.com/office/drawing/2014/main" id="{222AC654-7C41-B63E-9C47-36A9D94C3CE6}"/>
              </a:ext>
            </a:extLst>
          </p:cNvPr>
          <p:cNvSpPr/>
          <p:nvPr/>
        </p:nvSpPr>
        <p:spPr>
          <a:xfrm>
            <a:off x="6812279" y="1005840"/>
            <a:ext cx="1371600" cy="402336"/>
          </a:xfrm>
          <a:prstGeom prst="chevron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5" name="Text 18">
            <a:extLst>
              <a:ext uri="{FF2B5EF4-FFF2-40B4-BE49-F238E27FC236}">
                <a16:creationId xmlns:a16="http://schemas.microsoft.com/office/drawing/2014/main" id="{2C181FDF-4DD1-5F4E-D1A7-313606CFA22E}"/>
              </a:ext>
            </a:extLst>
          </p:cNvPr>
          <p:cNvSpPr/>
          <p:nvPr/>
        </p:nvSpPr>
        <p:spPr>
          <a:xfrm>
            <a:off x="6885431" y="1005840"/>
            <a:ext cx="1225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166" name="Shape 19">
            <a:extLst>
              <a:ext uri="{FF2B5EF4-FFF2-40B4-BE49-F238E27FC236}">
                <a16:creationId xmlns:a16="http://schemas.microsoft.com/office/drawing/2014/main" id="{39D1EDA8-E9F4-7694-1C19-519C68B6588A}"/>
              </a:ext>
            </a:extLst>
          </p:cNvPr>
          <p:cNvSpPr/>
          <p:nvPr/>
        </p:nvSpPr>
        <p:spPr>
          <a:xfrm>
            <a:off x="8522208" y="859536"/>
            <a:ext cx="1389888" cy="219456"/>
          </a:xfrm>
          <a:prstGeom prst="roundRect">
            <a:avLst>
              <a:gd name="adj" fmla="val 48000"/>
            </a:avLst>
          </a:prstGeom>
          <a:solidFill>
            <a:srgbClr val="1F8A4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7" name="Text 20">
            <a:extLst>
              <a:ext uri="{FF2B5EF4-FFF2-40B4-BE49-F238E27FC236}">
                <a16:creationId xmlns:a16="http://schemas.microsoft.com/office/drawing/2014/main" id="{33DCA134-5712-F98A-E9FA-881299936E28}"/>
              </a:ext>
            </a:extLst>
          </p:cNvPr>
          <p:cNvSpPr/>
          <p:nvPr/>
        </p:nvSpPr>
        <p:spPr>
          <a:xfrm>
            <a:off x="8522208" y="859536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850" dirty="0"/>
          </a:p>
        </p:txBody>
      </p:sp>
      <p:sp>
        <p:nvSpPr>
          <p:cNvPr id="168" name="Shape 21">
            <a:extLst>
              <a:ext uri="{FF2B5EF4-FFF2-40B4-BE49-F238E27FC236}">
                <a16:creationId xmlns:a16="http://schemas.microsoft.com/office/drawing/2014/main" id="{96CB2EA3-EAC3-BB8E-6C13-EA983BFEA20F}"/>
              </a:ext>
            </a:extLst>
          </p:cNvPr>
          <p:cNvSpPr/>
          <p:nvPr/>
        </p:nvSpPr>
        <p:spPr>
          <a:xfrm>
            <a:off x="8522208" y="1097280"/>
            <a:ext cx="1389888" cy="219456"/>
          </a:xfrm>
          <a:prstGeom prst="roundRect">
            <a:avLst>
              <a:gd name="adj" fmla="val 48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9" name="Text 22">
            <a:extLst>
              <a:ext uri="{FF2B5EF4-FFF2-40B4-BE49-F238E27FC236}">
                <a16:creationId xmlns:a16="http://schemas.microsoft.com/office/drawing/2014/main" id="{AE8BAF2A-2AC3-8599-72A2-331F28FCBBF4}"/>
              </a:ext>
            </a:extLst>
          </p:cNvPr>
          <p:cNvSpPr/>
          <p:nvPr/>
        </p:nvSpPr>
        <p:spPr>
          <a:xfrm>
            <a:off x="8522208" y="1097280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NON-COMPLIANT</a:t>
            </a:r>
            <a:endParaRPr lang="en-US" sz="850" dirty="0"/>
          </a:p>
        </p:txBody>
      </p:sp>
      <p:sp>
        <p:nvSpPr>
          <p:cNvPr id="170" name="Shape 23">
            <a:extLst>
              <a:ext uri="{FF2B5EF4-FFF2-40B4-BE49-F238E27FC236}">
                <a16:creationId xmlns:a16="http://schemas.microsoft.com/office/drawing/2014/main" id="{B51EBD0B-209A-C801-8C78-BB7BF3E7C437}"/>
              </a:ext>
            </a:extLst>
          </p:cNvPr>
          <p:cNvSpPr/>
          <p:nvPr/>
        </p:nvSpPr>
        <p:spPr>
          <a:xfrm>
            <a:off x="8522208" y="1335024"/>
            <a:ext cx="1389888" cy="219456"/>
          </a:xfrm>
          <a:prstGeom prst="roundRect">
            <a:avLst>
              <a:gd name="adj" fmla="val 48000"/>
            </a:avLst>
          </a:prstGeom>
          <a:solidFill>
            <a:srgbClr val="B8860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1" name="Text 24">
            <a:extLst>
              <a:ext uri="{FF2B5EF4-FFF2-40B4-BE49-F238E27FC236}">
                <a16:creationId xmlns:a16="http://schemas.microsoft.com/office/drawing/2014/main" id="{E6617846-3971-DB2A-A649-F66FBDB0F057}"/>
              </a:ext>
            </a:extLst>
          </p:cNvPr>
          <p:cNvSpPr/>
          <p:nvPr/>
        </p:nvSpPr>
        <p:spPr>
          <a:xfrm>
            <a:off x="8522208" y="1335024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850" dirty="0"/>
          </a:p>
        </p:txBody>
      </p:sp>
      <p:sp>
        <p:nvSpPr>
          <p:cNvPr id="172" name="Shape 30">
            <a:extLst>
              <a:ext uri="{FF2B5EF4-FFF2-40B4-BE49-F238E27FC236}">
                <a16:creationId xmlns:a16="http://schemas.microsoft.com/office/drawing/2014/main" id="{34102796-8038-CE49-704A-DAFAAC87A0ED}"/>
              </a:ext>
            </a:extLst>
          </p:cNvPr>
          <p:cNvSpPr/>
          <p:nvPr/>
        </p:nvSpPr>
        <p:spPr>
          <a:xfrm>
            <a:off x="10246913" y="981329"/>
            <a:ext cx="1496266" cy="452390"/>
          </a:xfrm>
          <a:prstGeom prst="roundRect">
            <a:avLst>
              <a:gd name="adj" fmla="val 11111"/>
            </a:avLst>
          </a:prstGeom>
          <a:solidFill>
            <a:srgbClr val="EEF3FA"/>
          </a:solidFill>
          <a:ln w="12700">
            <a:solidFill>
              <a:srgbClr val="C7D6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3" name="Text 31">
            <a:extLst>
              <a:ext uri="{FF2B5EF4-FFF2-40B4-BE49-F238E27FC236}">
                <a16:creationId xmlns:a16="http://schemas.microsoft.com/office/drawing/2014/main" id="{EC5CADAA-8D68-67A2-D456-5EC0E323278B}"/>
              </a:ext>
            </a:extLst>
          </p:cNvPr>
          <p:cNvSpPr/>
          <p:nvPr/>
        </p:nvSpPr>
        <p:spPr>
          <a:xfrm>
            <a:off x="10104120" y="896112"/>
            <a:ext cx="1764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sz="850" b="1" dirty="0">
                <a:solidFill>
                  <a:srgbClr val="1F4E79"/>
                </a:solidFill>
                <a:latin typeface="Calibri"/>
              </a:rPr>
              <a:t>Evidence  ·  Report  ·  Dashboard</a:t>
            </a:r>
            <a:endParaRPr lang="en-US" sz="850" dirty="0"/>
          </a:p>
        </p:txBody>
      </p:sp>
      <p:sp>
        <p:nvSpPr>
          <p:cNvPr id="174" name="Right Arrow 195">
            <a:extLst>
              <a:ext uri="{FF2B5EF4-FFF2-40B4-BE49-F238E27FC236}">
                <a16:creationId xmlns:a16="http://schemas.microsoft.com/office/drawing/2014/main" id="{1785E609-822F-E0EC-0F4A-9F2F08D68CAF}"/>
              </a:ext>
            </a:extLst>
          </p:cNvPr>
          <p:cNvSpPr/>
          <p:nvPr/>
        </p:nvSpPr>
        <p:spPr>
          <a:xfrm>
            <a:off x="8249099" y="1152144"/>
            <a:ext cx="219456" cy="109728"/>
          </a:xfrm>
          <a:prstGeom prst="rightArrow">
            <a:avLst/>
          </a:prstGeom>
          <a:solidFill>
            <a:srgbClr val="9A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5" name="Right Arrow 196">
            <a:extLst>
              <a:ext uri="{FF2B5EF4-FFF2-40B4-BE49-F238E27FC236}">
                <a16:creationId xmlns:a16="http://schemas.microsoft.com/office/drawing/2014/main" id="{CEAD8D73-20AD-1859-067A-34DD81F552A4}"/>
              </a:ext>
            </a:extLst>
          </p:cNvPr>
          <p:cNvSpPr/>
          <p:nvPr/>
        </p:nvSpPr>
        <p:spPr>
          <a:xfrm>
            <a:off x="9966960" y="1152144"/>
            <a:ext cx="219456" cy="109728"/>
          </a:xfrm>
          <a:prstGeom prst="rightArrow">
            <a:avLst/>
          </a:prstGeom>
          <a:solidFill>
            <a:srgbClr val="9A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6" name="Shape 149">
            <a:extLst>
              <a:ext uri="{FF2B5EF4-FFF2-40B4-BE49-F238E27FC236}">
                <a16:creationId xmlns:a16="http://schemas.microsoft.com/office/drawing/2014/main" id="{D067F598-28FC-4527-B9A2-7A663C0856F7}"/>
              </a:ext>
            </a:extLst>
          </p:cNvPr>
          <p:cNvSpPr/>
          <p:nvPr/>
        </p:nvSpPr>
        <p:spPr>
          <a:xfrm>
            <a:off x="372419" y="5106415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7" name="Shape 150">
            <a:extLst>
              <a:ext uri="{FF2B5EF4-FFF2-40B4-BE49-F238E27FC236}">
                <a16:creationId xmlns:a16="http://schemas.microsoft.com/office/drawing/2014/main" id="{34FDED96-1B71-E999-4FC1-879046A7DB28}"/>
              </a:ext>
            </a:extLst>
          </p:cNvPr>
          <p:cNvSpPr/>
          <p:nvPr/>
        </p:nvSpPr>
        <p:spPr>
          <a:xfrm>
            <a:off x="382618" y="5110190"/>
            <a:ext cx="1828800" cy="45720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8" name="Shape 151">
            <a:extLst>
              <a:ext uri="{FF2B5EF4-FFF2-40B4-BE49-F238E27FC236}">
                <a16:creationId xmlns:a16="http://schemas.microsoft.com/office/drawing/2014/main" id="{9CC0C285-5811-4879-2BA9-1FDFDAF20F59}"/>
              </a:ext>
            </a:extLst>
          </p:cNvPr>
          <p:cNvSpPr/>
          <p:nvPr/>
        </p:nvSpPr>
        <p:spPr>
          <a:xfrm>
            <a:off x="411480" y="5230368"/>
            <a:ext cx="274320" cy="27432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9" name="Text 152">
            <a:extLst>
              <a:ext uri="{FF2B5EF4-FFF2-40B4-BE49-F238E27FC236}">
                <a16:creationId xmlns:a16="http://schemas.microsoft.com/office/drawing/2014/main" id="{425969FB-3D4A-5BDC-1AEB-CE6A5FB83901}"/>
              </a:ext>
            </a:extLst>
          </p:cNvPr>
          <p:cNvSpPr/>
          <p:nvPr/>
        </p:nvSpPr>
        <p:spPr>
          <a:xfrm>
            <a:off x="356616" y="523036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50" dirty="0"/>
          </a:p>
        </p:txBody>
      </p:sp>
      <p:sp>
        <p:nvSpPr>
          <p:cNvPr id="180" name="Text 153">
            <a:extLst>
              <a:ext uri="{FF2B5EF4-FFF2-40B4-BE49-F238E27FC236}">
                <a16:creationId xmlns:a16="http://schemas.microsoft.com/office/drawing/2014/main" id="{E86125F9-0F7E-9FCC-D326-95298704AEB9}"/>
              </a:ext>
            </a:extLst>
          </p:cNvPr>
          <p:cNvSpPr/>
          <p:nvPr/>
        </p:nvSpPr>
        <p:spPr>
          <a:xfrm>
            <a:off x="663530" y="523443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50" dirty="0"/>
          </a:p>
        </p:txBody>
      </p:sp>
      <p:sp>
        <p:nvSpPr>
          <p:cNvPr id="181" name="Text 154">
            <a:extLst>
              <a:ext uri="{FF2B5EF4-FFF2-40B4-BE49-F238E27FC236}">
                <a16:creationId xmlns:a16="http://schemas.microsoft.com/office/drawing/2014/main" id="{49FA9215-E2CE-08F4-ACB7-1AD592A91DBA}"/>
              </a:ext>
            </a:extLst>
          </p:cNvPr>
          <p:cNvSpPr/>
          <p:nvPr/>
        </p:nvSpPr>
        <p:spPr>
          <a:xfrm>
            <a:off x="641981" y="5393989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820" dirty="0">
                <a:solidFill>
                  <a:srgbClr val="2A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Repo, Next.js + FastAPI skeleton, PostgreSQL schema, auth &amp; API contracts</a:t>
            </a:r>
            <a:endParaRPr lang="en-US" sz="820" dirty="0"/>
          </a:p>
        </p:txBody>
      </p:sp>
      <p:sp>
        <p:nvSpPr>
          <p:cNvPr id="182" name="Shape 155">
            <a:extLst>
              <a:ext uri="{FF2B5EF4-FFF2-40B4-BE49-F238E27FC236}">
                <a16:creationId xmlns:a16="http://schemas.microsoft.com/office/drawing/2014/main" id="{0DA171DB-F3BE-193D-819B-893E7C7A3B5A}"/>
              </a:ext>
            </a:extLst>
          </p:cNvPr>
          <p:cNvSpPr/>
          <p:nvPr/>
        </p:nvSpPr>
        <p:spPr>
          <a:xfrm>
            <a:off x="2278669" y="510089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3" name="Shape 156">
            <a:extLst>
              <a:ext uri="{FF2B5EF4-FFF2-40B4-BE49-F238E27FC236}">
                <a16:creationId xmlns:a16="http://schemas.microsoft.com/office/drawing/2014/main" id="{EB46231C-4381-3F9E-DEB0-7ED97D761E70}"/>
              </a:ext>
            </a:extLst>
          </p:cNvPr>
          <p:cNvSpPr/>
          <p:nvPr/>
        </p:nvSpPr>
        <p:spPr>
          <a:xfrm>
            <a:off x="2278645" y="5105065"/>
            <a:ext cx="1828800" cy="45720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4" name="Shape 157">
            <a:extLst>
              <a:ext uri="{FF2B5EF4-FFF2-40B4-BE49-F238E27FC236}">
                <a16:creationId xmlns:a16="http://schemas.microsoft.com/office/drawing/2014/main" id="{FBE91604-563E-D083-F180-DB0F2FA5638C}"/>
              </a:ext>
            </a:extLst>
          </p:cNvPr>
          <p:cNvSpPr/>
          <p:nvPr/>
        </p:nvSpPr>
        <p:spPr>
          <a:xfrm>
            <a:off x="2343607" y="5230368"/>
            <a:ext cx="274320" cy="27432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5" name="Text 158">
            <a:extLst>
              <a:ext uri="{FF2B5EF4-FFF2-40B4-BE49-F238E27FC236}">
                <a16:creationId xmlns:a16="http://schemas.microsoft.com/office/drawing/2014/main" id="{74FF52D5-B9D2-24E7-341C-B1CD65994034}"/>
              </a:ext>
            </a:extLst>
          </p:cNvPr>
          <p:cNvSpPr/>
          <p:nvPr/>
        </p:nvSpPr>
        <p:spPr>
          <a:xfrm>
            <a:off x="2288743" y="523036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  <p:sp>
        <p:nvSpPr>
          <p:cNvPr id="186" name="Text 159">
            <a:extLst>
              <a:ext uri="{FF2B5EF4-FFF2-40B4-BE49-F238E27FC236}">
                <a16:creationId xmlns:a16="http://schemas.microsoft.com/office/drawing/2014/main" id="{302E3437-7AF3-E240-55EB-06DB94C789D8}"/>
              </a:ext>
            </a:extLst>
          </p:cNvPr>
          <p:cNvSpPr/>
          <p:nvPr/>
        </p:nvSpPr>
        <p:spPr>
          <a:xfrm>
            <a:off x="2606603" y="5234430"/>
            <a:ext cx="14445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 PIPELINE</a:t>
            </a:r>
            <a:endParaRPr lang="en-US" sz="950" dirty="0"/>
          </a:p>
        </p:txBody>
      </p:sp>
      <p:sp>
        <p:nvSpPr>
          <p:cNvPr id="187" name="Text 160">
            <a:extLst>
              <a:ext uri="{FF2B5EF4-FFF2-40B4-BE49-F238E27FC236}">
                <a16:creationId xmlns:a16="http://schemas.microsoft.com/office/drawing/2014/main" id="{DF4087D4-6C31-9689-F71D-510BB7E13518}"/>
              </a:ext>
            </a:extLst>
          </p:cNvPr>
          <p:cNvSpPr/>
          <p:nvPr/>
        </p:nvSpPr>
        <p:spPr>
          <a:xfrm>
            <a:off x="2587751" y="5402772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820" dirty="0">
                <a:solidFill>
                  <a:srgbClr val="2A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upload, OpenCV preprocessing, OCR, bounding boxes and required field extraction.</a:t>
            </a:r>
            <a:endParaRPr lang="en-US" sz="820" dirty="0"/>
          </a:p>
        </p:txBody>
      </p:sp>
      <p:sp>
        <p:nvSpPr>
          <p:cNvPr id="188" name="Shape 161">
            <a:extLst>
              <a:ext uri="{FF2B5EF4-FFF2-40B4-BE49-F238E27FC236}">
                <a16:creationId xmlns:a16="http://schemas.microsoft.com/office/drawing/2014/main" id="{08C93031-BB4B-1B2F-6D08-A84CCC33D4C7}"/>
              </a:ext>
            </a:extLst>
          </p:cNvPr>
          <p:cNvSpPr/>
          <p:nvPr/>
        </p:nvSpPr>
        <p:spPr>
          <a:xfrm>
            <a:off x="4150224" y="5121365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9" name="Shape 162">
            <a:extLst>
              <a:ext uri="{FF2B5EF4-FFF2-40B4-BE49-F238E27FC236}">
                <a16:creationId xmlns:a16="http://schemas.microsoft.com/office/drawing/2014/main" id="{1A361FD4-B26B-E412-C5E5-C2F7A51914E0}"/>
              </a:ext>
            </a:extLst>
          </p:cNvPr>
          <p:cNvSpPr/>
          <p:nvPr/>
        </p:nvSpPr>
        <p:spPr>
          <a:xfrm>
            <a:off x="4143534" y="5122413"/>
            <a:ext cx="1828800" cy="45720"/>
          </a:xfrm>
          <a:prstGeom prst="rect">
            <a:avLst/>
          </a:prstGeom>
          <a:solidFill>
            <a:srgbClr val="1F8A4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90" name="Shape 163">
            <a:extLst>
              <a:ext uri="{FF2B5EF4-FFF2-40B4-BE49-F238E27FC236}">
                <a16:creationId xmlns:a16="http://schemas.microsoft.com/office/drawing/2014/main" id="{BF434FD4-18E4-538B-BE09-91017BDE5FBD}"/>
              </a:ext>
            </a:extLst>
          </p:cNvPr>
          <p:cNvSpPr/>
          <p:nvPr/>
        </p:nvSpPr>
        <p:spPr>
          <a:xfrm>
            <a:off x="4222260" y="5261052"/>
            <a:ext cx="274320" cy="27432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91" name="Text 164">
            <a:extLst>
              <a:ext uri="{FF2B5EF4-FFF2-40B4-BE49-F238E27FC236}">
                <a16:creationId xmlns:a16="http://schemas.microsoft.com/office/drawing/2014/main" id="{0537ED1F-C7DC-F5E2-FF76-461DFD36C3F2}"/>
              </a:ext>
            </a:extLst>
          </p:cNvPr>
          <p:cNvSpPr/>
          <p:nvPr/>
        </p:nvSpPr>
        <p:spPr>
          <a:xfrm>
            <a:off x="4166964" y="526105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  <p:sp>
        <p:nvSpPr>
          <p:cNvPr id="192" name="Text 165">
            <a:extLst>
              <a:ext uri="{FF2B5EF4-FFF2-40B4-BE49-F238E27FC236}">
                <a16:creationId xmlns:a16="http://schemas.microsoft.com/office/drawing/2014/main" id="{A425E15E-9412-F042-B7FB-C88F116D9855}"/>
              </a:ext>
            </a:extLst>
          </p:cNvPr>
          <p:cNvSpPr/>
          <p:nvPr/>
        </p:nvSpPr>
        <p:spPr>
          <a:xfrm>
            <a:off x="4450531" y="523443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ENGINE</a:t>
            </a:r>
            <a:endParaRPr lang="en-US" sz="950" dirty="0"/>
          </a:p>
        </p:txBody>
      </p:sp>
      <p:sp>
        <p:nvSpPr>
          <p:cNvPr id="193" name="Text 166">
            <a:extLst>
              <a:ext uri="{FF2B5EF4-FFF2-40B4-BE49-F238E27FC236}">
                <a16:creationId xmlns:a16="http://schemas.microsoft.com/office/drawing/2014/main" id="{FC19FC60-BA61-CD6A-DF1C-1FFACCF5C778}"/>
              </a:ext>
            </a:extLst>
          </p:cNvPr>
          <p:cNvSpPr/>
          <p:nvPr/>
        </p:nvSpPr>
        <p:spPr>
          <a:xfrm>
            <a:off x="4447777" y="5438605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820" dirty="0">
                <a:solidFill>
                  <a:srgbClr val="2A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repository, declaration checks, violation classification, severity and confidence handling.</a:t>
            </a:r>
            <a:endParaRPr lang="en-US" sz="820" dirty="0"/>
          </a:p>
        </p:txBody>
      </p:sp>
      <p:sp>
        <p:nvSpPr>
          <p:cNvPr id="194" name="Shape 167">
            <a:extLst>
              <a:ext uri="{FF2B5EF4-FFF2-40B4-BE49-F238E27FC236}">
                <a16:creationId xmlns:a16="http://schemas.microsoft.com/office/drawing/2014/main" id="{09BD9649-183A-4991-D50C-08575065D14E}"/>
              </a:ext>
            </a:extLst>
          </p:cNvPr>
          <p:cNvSpPr/>
          <p:nvPr/>
        </p:nvSpPr>
        <p:spPr>
          <a:xfrm>
            <a:off x="6032917" y="5124128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5" name="Shape 168">
            <a:extLst>
              <a:ext uri="{FF2B5EF4-FFF2-40B4-BE49-F238E27FC236}">
                <a16:creationId xmlns:a16="http://schemas.microsoft.com/office/drawing/2014/main" id="{44CEEFA8-3ED3-B113-FE18-E368D51BAB52}"/>
              </a:ext>
            </a:extLst>
          </p:cNvPr>
          <p:cNvSpPr/>
          <p:nvPr/>
        </p:nvSpPr>
        <p:spPr>
          <a:xfrm>
            <a:off x="6031603" y="5132426"/>
            <a:ext cx="1828800" cy="45720"/>
          </a:xfrm>
          <a:prstGeom prst="rect">
            <a:avLst/>
          </a:prstGeom>
          <a:solidFill>
            <a:srgbClr val="1F8A4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96" name="Shape 169">
            <a:extLst>
              <a:ext uri="{FF2B5EF4-FFF2-40B4-BE49-F238E27FC236}">
                <a16:creationId xmlns:a16="http://schemas.microsoft.com/office/drawing/2014/main" id="{B58ED5F1-F879-610C-DE42-0B0FA70CD560}"/>
              </a:ext>
            </a:extLst>
          </p:cNvPr>
          <p:cNvSpPr/>
          <p:nvPr/>
        </p:nvSpPr>
        <p:spPr>
          <a:xfrm>
            <a:off x="6171203" y="5280675"/>
            <a:ext cx="274320" cy="27432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97" name="Text 170">
            <a:extLst>
              <a:ext uri="{FF2B5EF4-FFF2-40B4-BE49-F238E27FC236}">
                <a16:creationId xmlns:a16="http://schemas.microsoft.com/office/drawing/2014/main" id="{B17DCE45-8FAD-C75E-FA42-8F3CC2E38632}"/>
              </a:ext>
            </a:extLst>
          </p:cNvPr>
          <p:cNvSpPr/>
          <p:nvPr/>
        </p:nvSpPr>
        <p:spPr>
          <a:xfrm>
            <a:off x="6116339" y="526477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/>
          </a:p>
        </p:txBody>
      </p:sp>
      <p:sp>
        <p:nvSpPr>
          <p:cNvPr id="198" name="Text 171">
            <a:extLst>
              <a:ext uri="{FF2B5EF4-FFF2-40B4-BE49-F238E27FC236}">
                <a16:creationId xmlns:a16="http://schemas.microsoft.com/office/drawing/2014/main" id="{99C1789F-E90A-1411-124C-314EC6840811}"/>
              </a:ext>
            </a:extLst>
          </p:cNvPr>
          <p:cNvSpPr/>
          <p:nvPr/>
        </p:nvSpPr>
        <p:spPr>
          <a:xfrm>
            <a:off x="6392751" y="5256950"/>
            <a:ext cx="14687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REPORTING</a:t>
            </a:r>
            <a:endParaRPr lang="en-US" sz="950" dirty="0"/>
          </a:p>
        </p:txBody>
      </p:sp>
      <p:sp>
        <p:nvSpPr>
          <p:cNvPr id="199" name="Text 172">
            <a:extLst>
              <a:ext uri="{FF2B5EF4-FFF2-40B4-BE49-F238E27FC236}">
                <a16:creationId xmlns:a16="http://schemas.microsoft.com/office/drawing/2014/main" id="{45B713D3-68E4-7AA6-E0C0-D6DA5272117F}"/>
              </a:ext>
            </a:extLst>
          </p:cNvPr>
          <p:cNvSpPr/>
          <p:nvPr/>
        </p:nvSpPr>
        <p:spPr>
          <a:xfrm>
            <a:off x="6382659" y="5429593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820" dirty="0">
                <a:solidFill>
                  <a:srgbClr val="2A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original images and extracted evidence, generate compliance results and PDF reports.</a:t>
            </a:r>
            <a:endParaRPr lang="en-US" sz="820" dirty="0"/>
          </a:p>
        </p:txBody>
      </p:sp>
      <p:sp>
        <p:nvSpPr>
          <p:cNvPr id="200" name="Shape 173">
            <a:extLst>
              <a:ext uri="{FF2B5EF4-FFF2-40B4-BE49-F238E27FC236}">
                <a16:creationId xmlns:a16="http://schemas.microsoft.com/office/drawing/2014/main" id="{43D2B74E-D8BB-F6CD-EFE5-D53D30890F13}"/>
              </a:ext>
            </a:extLst>
          </p:cNvPr>
          <p:cNvSpPr/>
          <p:nvPr/>
        </p:nvSpPr>
        <p:spPr>
          <a:xfrm>
            <a:off x="7919091" y="5126422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1" name="Shape 174">
            <a:extLst>
              <a:ext uri="{FF2B5EF4-FFF2-40B4-BE49-F238E27FC236}">
                <a16:creationId xmlns:a16="http://schemas.microsoft.com/office/drawing/2014/main" id="{9F26F60B-BB2C-956F-8258-D61068A8BA9C}"/>
              </a:ext>
            </a:extLst>
          </p:cNvPr>
          <p:cNvSpPr/>
          <p:nvPr/>
        </p:nvSpPr>
        <p:spPr>
          <a:xfrm>
            <a:off x="7924800" y="5137594"/>
            <a:ext cx="1828800" cy="45720"/>
          </a:xfrm>
          <a:prstGeom prst="rect">
            <a:avLst/>
          </a:prstGeom>
          <a:solidFill>
            <a:srgbClr val="E8720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2" name="Shape 175">
            <a:extLst>
              <a:ext uri="{FF2B5EF4-FFF2-40B4-BE49-F238E27FC236}">
                <a16:creationId xmlns:a16="http://schemas.microsoft.com/office/drawing/2014/main" id="{E7E8F0CA-E2BC-F32E-C4FE-5C1203EA5891}"/>
              </a:ext>
            </a:extLst>
          </p:cNvPr>
          <p:cNvSpPr/>
          <p:nvPr/>
        </p:nvSpPr>
        <p:spPr>
          <a:xfrm>
            <a:off x="8040466" y="5249779"/>
            <a:ext cx="274320" cy="27432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3" name="Text 176">
            <a:extLst>
              <a:ext uri="{FF2B5EF4-FFF2-40B4-BE49-F238E27FC236}">
                <a16:creationId xmlns:a16="http://schemas.microsoft.com/office/drawing/2014/main" id="{B032BBD0-464D-3291-EB25-0417657115D7}"/>
              </a:ext>
            </a:extLst>
          </p:cNvPr>
          <p:cNvSpPr/>
          <p:nvPr/>
        </p:nvSpPr>
        <p:spPr>
          <a:xfrm>
            <a:off x="7991855" y="524312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50" dirty="0"/>
          </a:p>
        </p:txBody>
      </p:sp>
      <p:sp>
        <p:nvSpPr>
          <p:cNvPr id="204" name="Text 177">
            <a:extLst>
              <a:ext uri="{FF2B5EF4-FFF2-40B4-BE49-F238E27FC236}">
                <a16:creationId xmlns:a16="http://schemas.microsoft.com/office/drawing/2014/main" id="{C41B3F24-2F95-42D1-D89C-50F43CD98692}"/>
              </a:ext>
            </a:extLst>
          </p:cNvPr>
          <p:cNvSpPr/>
          <p:nvPr/>
        </p:nvSpPr>
        <p:spPr>
          <a:xfrm>
            <a:off x="8277638" y="523443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PRODUCTIZATION</a:t>
            </a:r>
            <a:endParaRPr lang="en-US" sz="950" dirty="0"/>
          </a:p>
        </p:txBody>
      </p:sp>
      <p:sp>
        <p:nvSpPr>
          <p:cNvPr id="205" name="Text 178">
            <a:extLst>
              <a:ext uri="{FF2B5EF4-FFF2-40B4-BE49-F238E27FC236}">
                <a16:creationId xmlns:a16="http://schemas.microsoft.com/office/drawing/2014/main" id="{B28B9035-23C2-7CC8-55DB-BCA2B24C02AE}"/>
              </a:ext>
            </a:extLst>
          </p:cNvPr>
          <p:cNvSpPr/>
          <p:nvPr/>
        </p:nvSpPr>
        <p:spPr>
          <a:xfrm>
            <a:off x="8259383" y="5398769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820" dirty="0">
                <a:solidFill>
                  <a:srgbClr val="2A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inspection history, report management, RBAC and audit logging.</a:t>
            </a:r>
            <a:endParaRPr lang="en-US" sz="820" dirty="0"/>
          </a:p>
        </p:txBody>
      </p:sp>
      <p:sp>
        <p:nvSpPr>
          <p:cNvPr id="206" name="Shape 179">
            <a:extLst>
              <a:ext uri="{FF2B5EF4-FFF2-40B4-BE49-F238E27FC236}">
                <a16:creationId xmlns:a16="http://schemas.microsoft.com/office/drawing/2014/main" id="{35B86A6F-BF6F-3262-5481-2AD043E0B572}"/>
              </a:ext>
            </a:extLst>
          </p:cNvPr>
          <p:cNvSpPr/>
          <p:nvPr/>
        </p:nvSpPr>
        <p:spPr>
          <a:xfrm>
            <a:off x="9777883" y="5124147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7" name="Shape 180">
            <a:extLst>
              <a:ext uri="{FF2B5EF4-FFF2-40B4-BE49-F238E27FC236}">
                <a16:creationId xmlns:a16="http://schemas.microsoft.com/office/drawing/2014/main" id="{6A33DFBA-9D57-9B6F-258B-6E9F9C5E5D49}"/>
              </a:ext>
            </a:extLst>
          </p:cNvPr>
          <p:cNvSpPr/>
          <p:nvPr/>
        </p:nvSpPr>
        <p:spPr>
          <a:xfrm>
            <a:off x="9779505" y="5130947"/>
            <a:ext cx="1828800" cy="45720"/>
          </a:xfrm>
          <a:prstGeom prst="rect">
            <a:avLst/>
          </a:prstGeom>
          <a:solidFill>
            <a:srgbClr val="E8720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8" name="Shape 181">
            <a:extLst>
              <a:ext uri="{FF2B5EF4-FFF2-40B4-BE49-F238E27FC236}">
                <a16:creationId xmlns:a16="http://schemas.microsoft.com/office/drawing/2014/main" id="{1AF6F987-2F38-7A2D-3711-41C14F1F1599}"/>
              </a:ext>
            </a:extLst>
          </p:cNvPr>
          <p:cNvSpPr/>
          <p:nvPr/>
        </p:nvSpPr>
        <p:spPr>
          <a:xfrm>
            <a:off x="9879674" y="5224270"/>
            <a:ext cx="274320" cy="27432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9" name="Text 182">
            <a:extLst>
              <a:ext uri="{FF2B5EF4-FFF2-40B4-BE49-F238E27FC236}">
                <a16:creationId xmlns:a16="http://schemas.microsoft.com/office/drawing/2014/main" id="{D15E7456-7A44-EE73-0E0E-DB5D1E9B5553}"/>
              </a:ext>
            </a:extLst>
          </p:cNvPr>
          <p:cNvSpPr/>
          <p:nvPr/>
        </p:nvSpPr>
        <p:spPr>
          <a:xfrm>
            <a:off x="9824541" y="521411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50" dirty="0"/>
          </a:p>
        </p:txBody>
      </p:sp>
      <p:sp>
        <p:nvSpPr>
          <p:cNvPr id="210" name="Text 183">
            <a:extLst>
              <a:ext uri="{FF2B5EF4-FFF2-40B4-BE49-F238E27FC236}">
                <a16:creationId xmlns:a16="http://schemas.microsoft.com/office/drawing/2014/main" id="{E81DC8F0-D84D-CD4E-167F-152F489D3377}"/>
              </a:ext>
            </a:extLst>
          </p:cNvPr>
          <p:cNvSpPr/>
          <p:nvPr/>
        </p:nvSpPr>
        <p:spPr>
          <a:xfrm>
            <a:off x="10082722" y="5239512"/>
            <a:ext cx="1703445" cy="24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211" name="Text 184">
            <a:extLst>
              <a:ext uri="{FF2B5EF4-FFF2-40B4-BE49-F238E27FC236}">
                <a16:creationId xmlns:a16="http://schemas.microsoft.com/office/drawing/2014/main" id="{9729D62D-2B9C-E261-8603-E353ECAC32BB}"/>
              </a:ext>
            </a:extLst>
          </p:cNvPr>
          <p:cNvSpPr/>
          <p:nvPr/>
        </p:nvSpPr>
        <p:spPr>
          <a:xfrm>
            <a:off x="10098935" y="5417835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820" dirty="0">
                <a:solidFill>
                  <a:srgbClr val="2A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testing, edge-case testing, end-to-end testing, security checks.</a:t>
            </a:r>
            <a:endParaRPr lang="en-US" sz="82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  <p:sndAc>
          <p:stSnd>
            <p:snd r:embed="rId3" name="page-flip.wav"/>
          </p:stSnd>
        </p:sndAc>
      </p:transition>
    </mc:Choice>
    <mc:Fallback xmlns="">
      <p:transition spd="slow">
        <p:fade/>
        <p:sndAc>
          <p:stSnd>
            <p:snd r:embed="rId6" name="page-flip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5389" y="224434"/>
            <a:ext cx="808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VisionMinds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FEASIBILITY</a:t>
            </a:r>
            <a:r>
              <a:rPr spc="195" dirty="0"/>
              <a:t> </a:t>
            </a:r>
            <a:r>
              <a:rPr dirty="0"/>
              <a:t>AND</a:t>
            </a:r>
            <a:r>
              <a:rPr spc="195" dirty="0"/>
              <a:t> </a:t>
            </a:r>
            <a:r>
              <a:rPr spc="-10" dirty="0"/>
              <a:t>VIABILITY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20039" y="640080"/>
            <a:ext cx="11549380" cy="32384"/>
            <a:chOff x="320039" y="640080"/>
            <a:chExt cx="11549380" cy="32384"/>
          </a:xfrm>
        </p:grpSpPr>
        <p:sp>
          <p:nvSpPr>
            <p:cNvPr id="5" name="object 5"/>
            <p:cNvSpPr/>
            <p:nvPr/>
          </p:nvSpPr>
          <p:spPr>
            <a:xfrm>
              <a:off x="320039" y="640080"/>
              <a:ext cx="11549380" cy="32384"/>
            </a:xfrm>
            <a:custGeom>
              <a:avLst/>
              <a:gdLst/>
              <a:ahLst/>
              <a:cxnLst/>
              <a:rect l="l" t="t" r="r" b="b"/>
              <a:pathLst>
                <a:path w="11549380" h="32384">
                  <a:moveTo>
                    <a:pt x="11548872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1548872" y="32003"/>
                  </a:lnTo>
                  <a:lnTo>
                    <a:pt x="11548872" y="0"/>
                  </a:lnTo>
                  <a:close/>
                </a:path>
              </a:pathLst>
            </a:custGeom>
            <a:solidFill>
              <a:srgbClr val="C6D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320040" y="640080"/>
              <a:ext cx="1371600" cy="32384"/>
            </a:xfrm>
            <a:custGeom>
              <a:avLst/>
              <a:gdLst/>
              <a:ahLst/>
              <a:cxnLst/>
              <a:rect l="l" t="t" r="r" b="b"/>
              <a:pathLst>
                <a:path w="1371600" h="32384">
                  <a:moveTo>
                    <a:pt x="1371600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71600" y="3200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1691640" y="640080"/>
              <a:ext cx="1371600" cy="32384"/>
            </a:xfrm>
            <a:custGeom>
              <a:avLst/>
              <a:gdLst/>
              <a:ahLst/>
              <a:cxnLst/>
              <a:rect l="l" t="t" r="r" b="b"/>
              <a:pathLst>
                <a:path w="1371600" h="32384">
                  <a:moveTo>
                    <a:pt x="1371600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71600" y="3200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98779" y="750568"/>
            <a:ext cx="2268221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65" dirty="0">
                <a:solidFill>
                  <a:srgbClr val="1F3864"/>
                </a:solidFill>
                <a:latin typeface="Calibri"/>
                <a:cs typeface="Calibri"/>
              </a:rPr>
              <a:t>FEASIBILITY</a:t>
            </a:r>
            <a:r>
              <a:rPr sz="1250" b="1" spc="24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1F3864"/>
                </a:solidFill>
                <a:latin typeface="Calibri"/>
                <a:cs typeface="Calibri"/>
              </a:rPr>
              <a:t>OF</a:t>
            </a:r>
            <a:r>
              <a:rPr sz="1250" b="1" spc="24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1F3864"/>
                </a:solidFill>
                <a:latin typeface="Calibri"/>
                <a:cs typeface="Calibri"/>
              </a:rPr>
              <a:t>THE</a:t>
            </a:r>
            <a:r>
              <a:rPr sz="1250" b="1" spc="24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50" b="1" spc="30" dirty="0">
                <a:solidFill>
                  <a:srgbClr val="1F3864"/>
                </a:solidFill>
                <a:latin typeface="Calibri"/>
                <a:cs typeface="Calibri"/>
              </a:rPr>
              <a:t>IDEA</a:t>
            </a:r>
            <a:endParaRPr sz="125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0040" y="977392"/>
            <a:ext cx="5590540" cy="1323975"/>
            <a:chOff x="313690" y="1017778"/>
            <a:chExt cx="5590540" cy="1323975"/>
          </a:xfrm>
        </p:grpSpPr>
        <p:sp>
          <p:nvSpPr>
            <p:cNvPr id="10" name="object 10"/>
            <p:cNvSpPr/>
            <p:nvPr/>
          </p:nvSpPr>
          <p:spPr>
            <a:xfrm>
              <a:off x="313690" y="1030477"/>
              <a:ext cx="5590540" cy="1311275"/>
            </a:xfrm>
            <a:custGeom>
              <a:avLst/>
              <a:gdLst/>
              <a:ahLst/>
              <a:cxnLst/>
              <a:rect l="l" t="t" r="r" b="b"/>
              <a:pathLst>
                <a:path w="5590540" h="1311275">
                  <a:moveTo>
                    <a:pt x="5535143" y="0"/>
                  </a:moveTo>
                  <a:lnTo>
                    <a:pt x="55395" y="0"/>
                  </a:lnTo>
                  <a:lnTo>
                    <a:pt x="33919" y="4382"/>
                  </a:lnTo>
                  <a:lnTo>
                    <a:pt x="16301" y="16301"/>
                  </a:lnTo>
                  <a:lnTo>
                    <a:pt x="4382" y="33919"/>
                  </a:lnTo>
                  <a:lnTo>
                    <a:pt x="0" y="55396"/>
                  </a:lnTo>
                  <a:lnTo>
                    <a:pt x="0" y="1255751"/>
                  </a:lnTo>
                  <a:lnTo>
                    <a:pt x="4382" y="1277227"/>
                  </a:lnTo>
                  <a:lnTo>
                    <a:pt x="16301" y="1294845"/>
                  </a:lnTo>
                  <a:lnTo>
                    <a:pt x="33919" y="1306765"/>
                  </a:lnTo>
                  <a:lnTo>
                    <a:pt x="55395" y="1311148"/>
                  </a:lnTo>
                  <a:lnTo>
                    <a:pt x="5535143" y="1311148"/>
                  </a:lnTo>
                  <a:lnTo>
                    <a:pt x="5556619" y="1306765"/>
                  </a:lnTo>
                  <a:lnTo>
                    <a:pt x="5574237" y="1294845"/>
                  </a:lnTo>
                  <a:lnTo>
                    <a:pt x="5586157" y="1277227"/>
                  </a:lnTo>
                  <a:lnTo>
                    <a:pt x="5590539" y="1255751"/>
                  </a:lnTo>
                  <a:lnTo>
                    <a:pt x="5590539" y="55396"/>
                  </a:lnTo>
                  <a:lnTo>
                    <a:pt x="5586157" y="33919"/>
                  </a:lnTo>
                  <a:lnTo>
                    <a:pt x="5574237" y="16301"/>
                  </a:lnTo>
                  <a:lnTo>
                    <a:pt x="5556619" y="4382"/>
                  </a:lnTo>
                  <a:lnTo>
                    <a:pt x="5535143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320040" y="1024127"/>
              <a:ext cx="5577840" cy="1298575"/>
            </a:xfrm>
            <a:custGeom>
              <a:avLst/>
              <a:gdLst/>
              <a:ahLst/>
              <a:cxnLst/>
              <a:rect l="l" t="t" r="r" b="b"/>
              <a:pathLst>
                <a:path w="5577840" h="1298575">
                  <a:moveTo>
                    <a:pt x="5522980" y="0"/>
                  </a:moveTo>
                  <a:lnTo>
                    <a:pt x="54859" y="0"/>
                  </a:lnTo>
                  <a:lnTo>
                    <a:pt x="33591" y="4339"/>
                  </a:lnTo>
                  <a:lnTo>
                    <a:pt x="16144" y="16143"/>
                  </a:lnTo>
                  <a:lnTo>
                    <a:pt x="4339" y="33591"/>
                  </a:lnTo>
                  <a:lnTo>
                    <a:pt x="0" y="54859"/>
                  </a:lnTo>
                  <a:lnTo>
                    <a:pt x="0" y="1243588"/>
                  </a:lnTo>
                  <a:lnTo>
                    <a:pt x="4339" y="1264856"/>
                  </a:lnTo>
                  <a:lnTo>
                    <a:pt x="16144" y="1282303"/>
                  </a:lnTo>
                  <a:lnTo>
                    <a:pt x="33591" y="1294108"/>
                  </a:lnTo>
                  <a:lnTo>
                    <a:pt x="54859" y="1298448"/>
                  </a:lnTo>
                  <a:lnTo>
                    <a:pt x="5522980" y="1298448"/>
                  </a:lnTo>
                  <a:lnTo>
                    <a:pt x="5544248" y="1294108"/>
                  </a:lnTo>
                  <a:lnTo>
                    <a:pt x="5561695" y="1282303"/>
                  </a:lnTo>
                  <a:lnTo>
                    <a:pt x="5573500" y="1264856"/>
                  </a:lnTo>
                  <a:lnTo>
                    <a:pt x="5577840" y="1243588"/>
                  </a:lnTo>
                  <a:lnTo>
                    <a:pt x="5577840" y="54859"/>
                  </a:lnTo>
                  <a:lnTo>
                    <a:pt x="5573500" y="33591"/>
                  </a:lnTo>
                  <a:lnTo>
                    <a:pt x="5561695" y="16143"/>
                  </a:lnTo>
                  <a:lnTo>
                    <a:pt x="5544248" y="4339"/>
                  </a:lnTo>
                  <a:lnTo>
                    <a:pt x="55229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040" y="1024127"/>
              <a:ext cx="5577840" cy="1298575"/>
            </a:xfrm>
            <a:custGeom>
              <a:avLst/>
              <a:gdLst/>
              <a:ahLst/>
              <a:cxnLst/>
              <a:rect l="l" t="t" r="r" b="b"/>
              <a:pathLst>
                <a:path w="5577840" h="1298575">
                  <a:moveTo>
                    <a:pt x="0" y="54859"/>
                  </a:moveTo>
                  <a:lnTo>
                    <a:pt x="4339" y="33591"/>
                  </a:lnTo>
                  <a:lnTo>
                    <a:pt x="16144" y="16143"/>
                  </a:lnTo>
                  <a:lnTo>
                    <a:pt x="33591" y="4339"/>
                  </a:lnTo>
                  <a:lnTo>
                    <a:pt x="54859" y="0"/>
                  </a:lnTo>
                  <a:lnTo>
                    <a:pt x="5522980" y="0"/>
                  </a:lnTo>
                  <a:lnTo>
                    <a:pt x="5544248" y="4339"/>
                  </a:lnTo>
                  <a:lnTo>
                    <a:pt x="5561695" y="16143"/>
                  </a:lnTo>
                  <a:lnTo>
                    <a:pt x="5573500" y="33591"/>
                  </a:lnTo>
                  <a:lnTo>
                    <a:pt x="5577840" y="54859"/>
                  </a:lnTo>
                  <a:lnTo>
                    <a:pt x="5577840" y="1243588"/>
                  </a:lnTo>
                  <a:lnTo>
                    <a:pt x="5573500" y="1264856"/>
                  </a:lnTo>
                  <a:lnTo>
                    <a:pt x="5561695" y="1282303"/>
                  </a:lnTo>
                  <a:lnTo>
                    <a:pt x="5544248" y="1294108"/>
                  </a:lnTo>
                  <a:lnTo>
                    <a:pt x="5522980" y="1298448"/>
                  </a:lnTo>
                  <a:lnTo>
                    <a:pt x="54859" y="1298448"/>
                  </a:lnTo>
                  <a:lnTo>
                    <a:pt x="33591" y="1294108"/>
                  </a:lnTo>
                  <a:lnTo>
                    <a:pt x="16144" y="1282303"/>
                  </a:lnTo>
                  <a:lnTo>
                    <a:pt x="4339" y="1264856"/>
                  </a:lnTo>
                  <a:lnTo>
                    <a:pt x="0" y="1243588"/>
                  </a:lnTo>
                  <a:lnTo>
                    <a:pt x="0" y="54859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40" y="1024127"/>
              <a:ext cx="50800" cy="1298575"/>
            </a:xfrm>
            <a:custGeom>
              <a:avLst/>
              <a:gdLst/>
              <a:ahLst/>
              <a:cxnLst/>
              <a:rect l="l" t="t" r="r" b="b"/>
              <a:pathLst>
                <a:path w="50800" h="1298575">
                  <a:moveTo>
                    <a:pt x="50292" y="0"/>
                  </a:moveTo>
                  <a:lnTo>
                    <a:pt x="0" y="0"/>
                  </a:lnTo>
                  <a:lnTo>
                    <a:pt x="0" y="1298448"/>
                  </a:lnTo>
                  <a:lnTo>
                    <a:pt x="50292" y="129844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0070B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7783" y="1084680"/>
            <a:ext cx="160909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070BF"/>
                </a:solidFill>
                <a:latin typeface="Calibri"/>
                <a:cs typeface="Calibri"/>
              </a:rPr>
              <a:t>TECHNICAL</a:t>
            </a:r>
            <a:r>
              <a:rPr sz="1300" b="1" spc="-75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070BF"/>
                </a:solidFill>
                <a:latin typeface="Calibri"/>
                <a:cs typeface="Calibri"/>
              </a:rPr>
              <a:t>FEASIBILITY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3690" y="2407666"/>
            <a:ext cx="5590540" cy="1323975"/>
            <a:chOff x="313690" y="2407666"/>
            <a:chExt cx="5590540" cy="1323975"/>
          </a:xfrm>
        </p:grpSpPr>
        <p:sp>
          <p:nvSpPr>
            <p:cNvPr id="17" name="object 17"/>
            <p:cNvSpPr/>
            <p:nvPr/>
          </p:nvSpPr>
          <p:spPr>
            <a:xfrm>
              <a:off x="313690" y="2420365"/>
              <a:ext cx="5590540" cy="1311275"/>
            </a:xfrm>
            <a:custGeom>
              <a:avLst/>
              <a:gdLst/>
              <a:ahLst/>
              <a:cxnLst/>
              <a:rect l="l" t="t" r="r" b="b"/>
              <a:pathLst>
                <a:path w="5590540" h="1311275">
                  <a:moveTo>
                    <a:pt x="5535143" y="0"/>
                  </a:moveTo>
                  <a:lnTo>
                    <a:pt x="55395" y="0"/>
                  </a:lnTo>
                  <a:lnTo>
                    <a:pt x="33919" y="4382"/>
                  </a:lnTo>
                  <a:lnTo>
                    <a:pt x="16301" y="16301"/>
                  </a:lnTo>
                  <a:lnTo>
                    <a:pt x="4382" y="33919"/>
                  </a:lnTo>
                  <a:lnTo>
                    <a:pt x="0" y="55396"/>
                  </a:lnTo>
                  <a:lnTo>
                    <a:pt x="0" y="1255751"/>
                  </a:lnTo>
                  <a:lnTo>
                    <a:pt x="4382" y="1277227"/>
                  </a:lnTo>
                  <a:lnTo>
                    <a:pt x="16301" y="1294845"/>
                  </a:lnTo>
                  <a:lnTo>
                    <a:pt x="33919" y="1306765"/>
                  </a:lnTo>
                  <a:lnTo>
                    <a:pt x="55395" y="1311148"/>
                  </a:lnTo>
                  <a:lnTo>
                    <a:pt x="5535143" y="1311148"/>
                  </a:lnTo>
                  <a:lnTo>
                    <a:pt x="5556619" y="1306765"/>
                  </a:lnTo>
                  <a:lnTo>
                    <a:pt x="5574237" y="1294845"/>
                  </a:lnTo>
                  <a:lnTo>
                    <a:pt x="5586157" y="1277227"/>
                  </a:lnTo>
                  <a:lnTo>
                    <a:pt x="5590539" y="1255751"/>
                  </a:lnTo>
                  <a:lnTo>
                    <a:pt x="5590539" y="55396"/>
                  </a:lnTo>
                  <a:lnTo>
                    <a:pt x="5586157" y="33919"/>
                  </a:lnTo>
                  <a:lnTo>
                    <a:pt x="5574237" y="16301"/>
                  </a:lnTo>
                  <a:lnTo>
                    <a:pt x="5556619" y="4382"/>
                  </a:lnTo>
                  <a:lnTo>
                    <a:pt x="5535143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18"/>
            <p:cNvSpPr/>
            <p:nvPr/>
          </p:nvSpPr>
          <p:spPr>
            <a:xfrm>
              <a:off x="320040" y="2414016"/>
              <a:ext cx="5577840" cy="1298575"/>
            </a:xfrm>
            <a:custGeom>
              <a:avLst/>
              <a:gdLst/>
              <a:ahLst/>
              <a:cxnLst/>
              <a:rect l="l" t="t" r="r" b="b"/>
              <a:pathLst>
                <a:path w="5577840" h="1298575">
                  <a:moveTo>
                    <a:pt x="5522980" y="0"/>
                  </a:moveTo>
                  <a:lnTo>
                    <a:pt x="54859" y="0"/>
                  </a:lnTo>
                  <a:lnTo>
                    <a:pt x="33591" y="4339"/>
                  </a:lnTo>
                  <a:lnTo>
                    <a:pt x="16144" y="16143"/>
                  </a:lnTo>
                  <a:lnTo>
                    <a:pt x="4339" y="33591"/>
                  </a:lnTo>
                  <a:lnTo>
                    <a:pt x="0" y="54859"/>
                  </a:lnTo>
                  <a:lnTo>
                    <a:pt x="0" y="1243588"/>
                  </a:lnTo>
                  <a:lnTo>
                    <a:pt x="4339" y="1264856"/>
                  </a:lnTo>
                  <a:lnTo>
                    <a:pt x="16144" y="1282303"/>
                  </a:lnTo>
                  <a:lnTo>
                    <a:pt x="33591" y="1294108"/>
                  </a:lnTo>
                  <a:lnTo>
                    <a:pt x="54859" y="1298448"/>
                  </a:lnTo>
                  <a:lnTo>
                    <a:pt x="5522980" y="1298448"/>
                  </a:lnTo>
                  <a:lnTo>
                    <a:pt x="5544248" y="1294108"/>
                  </a:lnTo>
                  <a:lnTo>
                    <a:pt x="5561695" y="1282303"/>
                  </a:lnTo>
                  <a:lnTo>
                    <a:pt x="5573500" y="1264856"/>
                  </a:lnTo>
                  <a:lnTo>
                    <a:pt x="5577840" y="1243588"/>
                  </a:lnTo>
                  <a:lnTo>
                    <a:pt x="5577840" y="54859"/>
                  </a:lnTo>
                  <a:lnTo>
                    <a:pt x="5573500" y="33591"/>
                  </a:lnTo>
                  <a:lnTo>
                    <a:pt x="5561695" y="16143"/>
                  </a:lnTo>
                  <a:lnTo>
                    <a:pt x="5544248" y="4339"/>
                  </a:lnTo>
                  <a:lnTo>
                    <a:pt x="55229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320040" y="2414016"/>
              <a:ext cx="5577840" cy="1298575"/>
            </a:xfrm>
            <a:custGeom>
              <a:avLst/>
              <a:gdLst/>
              <a:ahLst/>
              <a:cxnLst/>
              <a:rect l="l" t="t" r="r" b="b"/>
              <a:pathLst>
                <a:path w="5577840" h="1298575">
                  <a:moveTo>
                    <a:pt x="0" y="54859"/>
                  </a:moveTo>
                  <a:lnTo>
                    <a:pt x="4339" y="33591"/>
                  </a:lnTo>
                  <a:lnTo>
                    <a:pt x="16144" y="16143"/>
                  </a:lnTo>
                  <a:lnTo>
                    <a:pt x="33591" y="4339"/>
                  </a:lnTo>
                  <a:lnTo>
                    <a:pt x="54859" y="0"/>
                  </a:lnTo>
                  <a:lnTo>
                    <a:pt x="5522980" y="0"/>
                  </a:lnTo>
                  <a:lnTo>
                    <a:pt x="5544248" y="4339"/>
                  </a:lnTo>
                  <a:lnTo>
                    <a:pt x="5561695" y="16143"/>
                  </a:lnTo>
                  <a:lnTo>
                    <a:pt x="5573500" y="33591"/>
                  </a:lnTo>
                  <a:lnTo>
                    <a:pt x="5577840" y="54859"/>
                  </a:lnTo>
                  <a:lnTo>
                    <a:pt x="5577840" y="1243588"/>
                  </a:lnTo>
                  <a:lnTo>
                    <a:pt x="5573500" y="1264856"/>
                  </a:lnTo>
                  <a:lnTo>
                    <a:pt x="5561695" y="1282303"/>
                  </a:lnTo>
                  <a:lnTo>
                    <a:pt x="5544248" y="1294108"/>
                  </a:lnTo>
                  <a:lnTo>
                    <a:pt x="5522980" y="1298448"/>
                  </a:lnTo>
                  <a:lnTo>
                    <a:pt x="54859" y="1298448"/>
                  </a:lnTo>
                  <a:lnTo>
                    <a:pt x="33591" y="1294108"/>
                  </a:lnTo>
                  <a:lnTo>
                    <a:pt x="16144" y="1282303"/>
                  </a:lnTo>
                  <a:lnTo>
                    <a:pt x="4339" y="1264856"/>
                  </a:lnTo>
                  <a:lnTo>
                    <a:pt x="0" y="1243588"/>
                  </a:lnTo>
                  <a:lnTo>
                    <a:pt x="0" y="54859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20"/>
            <p:cNvSpPr/>
            <p:nvPr/>
          </p:nvSpPr>
          <p:spPr>
            <a:xfrm>
              <a:off x="320040" y="2414016"/>
              <a:ext cx="50800" cy="1298575"/>
            </a:xfrm>
            <a:custGeom>
              <a:avLst/>
              <a:gdLst/>
              <a:ahLst/>
              <a:cxnLst/>
              <a:rect l="l" t="t" r="r" b="b"/>
              <a:pathLst>
                <a:path w="50800" h="1298575">
                  <a:moveTo>
                    <a:pt x="50292" y="0"/>
                  </a:moveTo>
                  <a:lnTo>
                    <a:pt x="0" y="0"/>
                  </a:lnTo>
                  <a:lnTo>
                    <a:pt x="0" y="1298448"/>
                  </a:lnTo>
                  <a:lnTo>
                    <a:pt x="50292" y="129844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57783" y="2474568"/>
            <a:ext cx="183388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F8A45"/>
                </a:solidFill>
                <a:latin typeface="Calibri"/>
                <a:cs typeface="Calibri"/>
              </a:rPr>
              <a:t>OPERATIONAL</a:t>
            </a:r>
            <a:r>
              <a:rPr sz="1300" b="1" spc="-45" dirty="0">
                <a:solidFill>
                  <a:srgbClr val="1F8A45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F8A45"/>
                </a:solidFill>
                <a:latin typeface="Calibri"/>
                <a:cs typeface="Calibri"/>
              </a:rPr>
              <a:t>FEASIBILITY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0170" y="2743012"/>
            <a:ext cx="5120641" cy="559127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lang="en-US" altLang="en-US" sz="900" spc="-10" dirty="0">
                <a:solidFill>
                  <a:srgbClr val="2A3544"/>
                </a:solidFill>
                <a:latin typeface="Calibri"/>
                <a:cs typeface="Calibri"/>
              </a:rPr>
              <a:t>Follows a simple officer workflow: Scan → Extract → Validate → Review → Report.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900" spc="-10" dirty="0">
                <a:solidFill>
                  <a:srgbClr val="2A3544"/>
                </a:solidFill>
                <a:latin typeface="Calibri"/>
                <a:cs typeface="Calibri"/>
              </a:rPr>
              <a:t> Web-based interface supports product image capture/upload and centralized inspection management. 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lang="en-US" altLang="en-US" sz="900" spc="-10" dirty="0">
                <a:solidFill>
                  <a:srgbClr val="2A3544"/>
                </a:solidFill>
                <a:latin typeface="Calibri"/>
                <a:cs typeface="Calibri"/>
              </a:rPr>
              <a:t>NEEDS REVIEW cases allow officers to manually verify uncertain or borderline results. </a:t>
            </a:r>
          </a:p>
        </p:txBody>
      </p:sp>
      <p:grpSp>
        <p:nvGrpSpPr>
          <p:cNvPr id="23" name="object 23"/>
          <p:cNvGrpSpPr/>
          <p:nvPr/>
        </p:nvGrpSpPr>
        <p:grpSpPr>
          <a:xfrm>
            <a:off x="313690" y="3797554"/>
            <a:ext cx="5590540" cy="1323975"/>
            <a:chOff x="313690" y="3797554"/>
            <a:chExt cx="5590540" cy="1323975"/>
          </a:xfrm>
        </p:grpSpPr>
        <p:sp>
          <p:nvSpPr>
            <p:cNvPr id="24" name="object 24"/>
            <p:cNvSpPr/>
            <p:nvPr/>
          </p:nvSpPr>
          <p:spPr>
            <a:xfrm>
              <a:off x="313690" y="3810253"/>
              <a:ext cx="5590540" cy="1311275"/>
            </a:xfrm>
            <a:custGeom>
              <a:avLst/>
              <a:gdLst/>
              <a:ahLst/>
              <a:cxnLst/>
              <a:rect l="l" t="t" r="r" b="b"/>
              <a:pathLst>
                <a:path w="5590540" h="1311275">
                  <a:moveTo>
                    <a:pt x="5535143" y="0"/>
                  </a:moveTo>
                  <a:lnTo>
                    <a:pt x="55395" y="0"/>
                  </a:lnTo>
                  <a:lnTo>
                    <a:pt x="33919" y="4382"/>
                  </a:lnTo>
                  <a:lnTo>
                    <a:pt x="16301" y="16301"/>
                  </a:lnTo>
                  <a:lnTo>
                    <a:pt x="4382" y="33919"/>
                  </a:lnTo>
                  <a:lnTo>
                    <a:pt x="0" y="55396"/>
                  </a:lnTo>
                  <a:lnTo>
                    <a:pt x="0" y="1255751"/>
                  </a:lnTo>
                  <a:lnTo>
                    <a:pt x="4382" y="1277227"/>
                  </a:lnTo>
                  <a:lnTo>
                    <a:pt x="16301" y="1294845"/>
                  </a:lnTo>
                  <a:lnTo>
                    <a:pt x="33919" y="1306765"/>
                  </a:lnTo>
                  <a:lnTo>
                    <a:pt x="55395" y="1311148"/>
                  </a:lnTo>
                  <a:lnTo>
                    <a:pt x="5535143" y="1311148"/>
                  </a:lnTo>
                  <a:lnTo>
                    <a:pt x="5556619" y="1306765"/>
                  </a:lnTo>
                  <a:lnTo>
                    <a:pt x="5574237" y="1294845"/>
                  </a:lnTo>
                  <a:lnTo>
                    <a:pt x="5586157" y="1277227"/>
                  </a:lnTo>
                  <a:lnTo>
                    <a:pt x="5590539" y="1255751"/>
                  </a:lnTo>
                  <a:lnTo>
                    <a:pt x="5590539" y="55396"/>
                  </a:lnTo>
                  <a:lnTo>
                    <a:pt x="5586157" y="33919"/>
                  </a:lnTo>
                  <a:lnTo>
                    <a:pt x="5574237" y="16301"/>
                  </a:lnTo>
                  <a:lnTo>
                    <a:pt x="5556619" y="4382"/>
                  </a:lnTo>
                  <a:lnTo>
                    <a:pt x="5535143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25"/>
            <p:cNvSpPr/>
            <p:nvPr/>
          </p:nvSpPr>
          <p:spPr>
            <a:xfrm>
              <a:off x="320040" y="3803904"/>
              <a:ext cx="5577840" cy="1298575"/>
            </a:xfrm>
            <a:custGeom>
              <a:avLst/>
              <a:gdLst/>
              <a:ahLst/>
              <a:cxnLst/>
              <a:rect l="l" t="t" r="r" b="b"/>
              <a:pathLst>
                <a:path w="5577840" h="1298575">
                  <a:moveTo>
                    <a:pt x="5522980" y="0"/>
                  </a:moveTo>
                  <a:lnTo>
                    <a:pt x="54859" y="0"/>
                  </a:lnTo>
                  <a:lnTo>
                    <a:pt x="33591" y="4339"/>
                  </a:lnTo>
                  <a:lnTo>
                    <a:pt x="16144" y="16143"/>
                  </a:lnTo>
                  <a:lnTo>
                    <a:pt x="4339" y="33591"/>
                  </a:lnTo>
                  <a:lnTo>
                    <a:pt x="0" y="54859"/>
                  </a:lnTo>
                  <a:lnTo>
                    <a:pt x="0" y="1243588"/>
                  </a:lnTo>
                  <a:lnTo>
                    <a:pt x="4339" y="1264856"/>
                  </a:lnTo>
                  <a:lnTo>
                    <a:pt x="16144" y="1282303"/>
                  </a:lnTo>
                  <a:lnTo>
                    <a:pt x="33591" y="1294108"/>
                  </a:lnTo>
                  <a:lnTo>
                    <a:pt x="54859" y="1298448"/>
                  </a:lnTo>
                  <a:lnTo>
                    <a:pt x="5522980" y="1298448"/>
                  </a:lnTo>
                  <a:lnTo>
                    <a:pt x="5544248" y="1294108"/>
                  </a:lnTo>
                  <a:lnTo>
                    <a:pt x="5561695" y="1282303"/>
                  </a:lnTo>
                  <a:lnTo>
                    <a:pt x="5573500" y="1264856"/>
                  </a:lnTo>
                  <a:lnTo>
                    <a:pt x="5577840" y="1243588"/>
                  </a:lnTo>
                  <a:lnTo>
                    <a:pt x="5577840" y="54859"/>
                  </a:lnTo>
                  <a:lnTo>
                    <a:pt x="5573500" y="33591"/>
                  </a:lnTo>
                  <a:lnTo>
                    <a:pt x="5561695" y="16143"/>
                  </a:lnTo>
                  <a:lnTo>
                    <a:pt x="5544248" y="4339"/>
                  </a:lnTo>
                  <a:lnTo>
                    <a:pt x="55229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" name="object 26"/>
            <p:cNvSpPr/>
            <p:nvPr/>
          </p:nvSpPr>
          <p:spPr>
            <a:xfrm>
              <a:off x="320040" y="3803904"/>
              <a:ext cx="5577840" cy="1298575"/>
            </a:xfrm>
            <a:custGeom>
              <a:avLst/>
              <a:gdLst/>
              <a:ahLst/>
              <a:cxnLst/>
              <a:rect l="l" t="t" r="r" b="b"/>
              <a:pathLst>
                <a:path w="5577840" h="1298575">
                  <a:moveTo>
                    <a:pt x="0" y="54859"/>
                  </a:moveTo>
                  <a:lnTo>
                    <a:pt x="4339" y="33591"/>
                  </a:lnTo>
                  <a:lnTo>
                    <a:pt x="16144" y="16143"/>
                  </a:lnTo>
                  <a:lnTo>
                    <a:pt x="33591" y="4339"/>
                  </a:lnTo>
                  <a:lnTo>
                    <a:pt x="54859" y="0"/>
                  </a:lnTo>
                  <a:lnTo>
                    <a:pt x="5522980" y="0"/>
                  </a:lnTo>
                  <a:lnTo>
                    <a:pt x="5544248" y="4339"/>
                  </a:lnTo>
                  <a:lnTo>
                    <a:pt x="5561695" y="16143"/>
                  </a:lnTo>
                  <a:lnTo>
                    <a:pt x="5573500" y="33591"/>
                  </a:lnTo>
                  <a:lnTo>
                    <a:pt x="5577840" y="54859"/>
                  </a:lnTo>
                  <a:lnTo>
                    <a:pt x="5577840" y="1243588"/>
                  </a:lnTo>
                  <a:lnTo>
                    <a:pt x="5573500" y="1264856"/>
                  </a:lnTo>
                  <a:lnTo>
                    <a:pt x="5561695" y="1282303"/>
                  </a:lnTo>
                  <a:lnTo>
                    <a:pt x="5544248" y="1294108"/>
                  </a:lnTo>
                  <a:lnTo>
                    <a:pt x="5522980" y="1298448"/>
                  </a:lnTo>
                  <a:lnTo>
                    <a:pt x="54859" y="1298448"/>
                  </a:lnTo>
                  <a:lnTo>
                    <a:pt x="33591" y="1294108"/>
                  </a:lnTo>
                  <a:lnTo>
                    <a:pt x="16144" y="1282303"/>
                  </a:lnTo>
                  <a:lnTo>
                    <a:pt x="4339" y="1264856"/>
                  </a:lnTo>
                  <a:lnTo>
                    <a:pt x="0" y="1243588"/>
                  </a:lnTo>
                  <a:lnTo>
                    <a:pt x="0" y="54859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27"/>
            <p:cNvSpPr/>
            <p:nvPr/>
          </p:nvSpPr>
          <p:spPr>
            <a:xfrm>
              <a:off x="320040" y="3803904"/>
              <a:ext cx="50800" cy="1298575"/>
            </a:xfrm>
            <a:custGeom>
              <a:avLst/>
              <a:gdLst/>
              <a:ahLst/>
              <a:cxnLst/>
              <a:rect l="l" t="t" r="r" b="b"/>
              <a:pathLst>
                <a:path w="50800" h="1298575">
                  <a:moveTo>
                    <a:pt x="50292" y="0"/>
                  </a:moveTo>
                  <a:lnTo>
                    <a:pt x="0" y="0"/>
                  </a:lnTo>
                  <a:lnTo>
                    <a:pt x="0" y="1298448"/>
                  </a:lnTo>
                  <a:lnTo>
                    <a:pt x="50292" y="129844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57783" y="3864456"/>
            <a:ext cx="223710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ECONOMIC</a:t>
            </a:r>
            <a:r>
              <a:rPr sz="1300" b="1" spc="-1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&amp;</a:t>
            </a: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LEGAL</a:t>
            </a: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 FEASIBILITY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42379" y="750568"/>
            <a:ext cx="305435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65" dirty="0">
                <a:solidFill>
                  <a:srgbClr val="1F3864"/>
                </a:solidFill>
                <a:latin typeface="Calibri"/>
                <a:cs typeface="Calibri"/>
              </a:rPr>
              <a:t>CHALLENGES</a:t>
            </a:r>
            <a:r>
              <a:rPr sz="1250" b="1" spc="1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1F3864"/>
                </a:solidFill>
                <a:latin typeface="Calibri"/>
                <a:cs typeface="Calibri"/>
              </a:rPr>
              <a:t>&amp;</a:t>
            </a:r>
            <a:r>
              <a:rPr sz="1250" b="1" spc="1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50" b="1" spc="65" dirty="0">
                <a:solidFill>
                  <a:srgbClr val="1F3864"/>
                </a:solidFill>
                <a:latin typeface="Calibri"/>
                <a:cs typeface="Calibri"/>
              </a:rPr>
              <a:t>MITIGATION</a:t>
            </a:r>
            <a:r>
              <a:rPr sz="1250" b="1" spc="1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50" b="1" spc="55" dirty="0">
                <a:solidFill>
                  <a:srgbClr val="1F3864"/>
                </a:solidFill>
                <a:latin typeface="Calibri"/>
                <a:cs typeface="Calibri"/>
              </a:rPr>
              <a:t>STRATEGIES</a:t>
            </a:r>
            <a:endParaRPr sz="1250" dirty="0">
              <a:latin typeface="Calibri"/>
              <a:cs typeface="Calibri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0" y="6355079"/>
            <a:ext cx="12192000" cy="502920"/>
            <a:chOff x="0" y="6355079"/>
            <a:chExt cx="12192000" cy="502920"/>
          </a:xfrm>
        </p:grpSpPr>
        <p:sp>
          <p:nvSpPr>
            <p:cNvPr id="76" name="object 76"/>
            <p:cNvSpPr/>
            <p:nvPr/>
          </p:nvSpPr>
          <p:spPr>
            <a:xfrm>
              <a:off x="0" y="6355079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20">
                  <a:moveTo>
                    <a:pt x="12191694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2191694" y="45720"/>
                  </a:lnTo>
                  <a:lnTo>
                    <a:pt x="12191694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7" name="object 77"/>
            <p:cNvSpPr/>
            <p:nvPr/>
          </p:nvSpPr>
          <p:spPr>
            <a:xfrm>
              <a:off x="0" y="6355079"/>
              <a:ext cx="6099175" cy="45720"/>
            </a:xfrm>
            <a:custGeom>
              <a:avLst/>
              <a:gdLst/>
              <a:ahLst/>
              <a:cxnLst/>
              <a:rect l="l" t="t" r="r" b="b"/>
              <a:pathLst>
                <a:path w="6099175" h="45720">
                  <a:moveTo>
                    <a:pt x="6099048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6099048" y="45720"/>
                  </a:lnTo>
                  <a:lnTo>
                    <a:pt x="6099048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8" name="object 78"/>
            <p:cNvSpPr/>
            <p:nvPr/>
          </p:nvSpPr>
          <p:spPr>
            <a:xfrm>
              <a:off x="4206240" y="6400799"/>
              <a:ext cx="7985759" cy="457200"/>
            </a:xfrm>
            <a:custGeom>
              <a:avLst/>
              <a:gdLst/>
              <a:ahLst/>
              <a:cxnLst/>
              <a:rect l="l" t="t" r="r" b="b"/>
              <a:pathLst>
                <a:path w="7985759" h="457200">
                  <a:moveTo>
                    <a:pt x="0" y="457200"/>
                  </a:moveTo>
                  <a:lnTo>
                    <a:pt x="7985454" y="457200"/>
                  </a:lnTo>
                  <a:lnTo>
                    <a:pt x="7985454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9" name="object 79"/>
            <p:cNvSpPr/>
            <p:nvPr/>
          </p:nvSpPr>
          <p:spPr>
            <a:xfrm>
              <a:off x="0" y="6400799"/>
              <a:ext cx="4206240" cy="457200"/>
            </a:xfrm>
            <a:custGeom>
              <a:avLst/>
              <a:gdLst/>
              <a:ahLst/>
              <a:cxnLst/>
              <a:rect l="l" t="t" r="r" b="b"/>
              <a:pathLst>
                <a:path w="4206240" h="457200">
                  <a:moveTo>
                    <a:pt x="420624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206240" y="457200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0" name="object 80"/>
            <p:cNvSpPr/>
            <p:nvPr/>
          </p:nvSpPr>
          <p:spPr>
            <a:xfrm>
              <a:off x="11430000" y="6473951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447" y="0"/>
                  </a:moveTo>
                  <a:lnTo>
                    <a:pt x="106535" y="7980"/>
                  </a:lnTo>
                  <a:lnTo>
                    <a:pt x="63890" y="30158"/>
                  </a:lnTo>
                  <a:lnTo>
                    <a:pt x="30158" y="63890"/>
                  </a:lnTo>
                  <a:lnTo>
                    <a:pt x="7980" y="106535"/>
                  </a:lnTo>
                  <a:lnTo>
                    <a:pt x="0" y="155448"/>
                  </a:lnTo>
                  <a:lnTo>
                    <a:pt x="7980" y="204360"/>
                  </a:lnTo>
                  <a:lnTo>
                    <a:pt x="30158" y="247004"/>
                  </a:lnTo>
                  <a:lnTo>
                    <a:pt x="63890" y="280737"/>
                  </a:lnTo>
                  <a:lnTo>
                    <a:pt x="106535" y="302915"/>
                  </a:lnTo>
                  <a:lnTo>
                    <a:pt x="155447" y="310896"/>
                  </a:lnTo>
                  <a:lnTo>
                    <a:pt x="204360" y="302915"/>
                  </a:lnTo>
                  <a:lnTo>
                    <a:pt x="247004" y="280737"/>
                  </a:lnTo>
                  <a:lnTo>
                    <a:pt x="280737" y="247004"/>
                  </a:lnTo>
                  <a:lnTo>
                    <a:pt x="302915" y="204360"/>
                  </a:lnTo>
                  <a:lnTo>
                    <a:pt x="310895" y="155448"/>
                  </a:lnTo>
                  <a:lnTo>
                    <a:pt x="302915" y="106535"/>
                  </a:lnTo>
                  <a:lnTo>
                    <a:pt x="280737" y="63890"/>
                  </a:lnTo>
                  <a:lnTo>
                    <a:pt x="247004" y="30158"/>
                  </a:lnTo>
                  <a:lnTo>
                    <a:pt x="204360" y="7980"/>
                  </a:lnTo>
                  <a:lnTo>
                    <a:pt x="155447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1" name="object 8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82" name="object 82"/>
          <p:cNvSpPr txBox="1">
            <a:spLocks noGrp="1"/>
          </p:cNvSpPr>
          <p:nvPr>
            <p:ph type="ftr" sz="quarter" idx="5"/>
          </p:nvPr>
        </p:nvSpPr>
        <p:spPr>
          <a:xfrm>
            <a:off x="5426779" y="6558863"/>
            <a:ext cx="4505325" cy="143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lang="en-US" spc="-1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83" name="object 8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27A4479-99BD-C388-7FD0-9EB1DADF399F}"/>
              </a:ext>
            </a:extLst>
          </p:cNvPr>
          <p:cNvSpPr/>
          <p:nvPr/>
        </p:nvSpPr>
        <p:spPr>
          <a:xfrm>
            <a:off x="10098935" y="77995"/>
            <a:ext cx="1832285" cy="5039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D2E284FE-6A3B-82F0-5BE8-91DEC33281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646" y="22037"/>
            <a:ext cx="1210481" cy="571566"/>
          </a:xfrm>
          <a:prstGeom prst="rect">
            <a:avLst/>
          </a:prstGeom>
        </p:spPr>
      </p:pic>
      <p:sp>
        <p:nvSpPr>
          <p:cNvPr id="86" name="Shape 20">
            <a:extLst>
              <a:ext uri="{FF2B5EF4-FFF2-40B4-BE49-F238E27FC236}">
                <a16:creationId xmlns:a16="http://schemas.microsoft.com/office/drawing/2014/main" id="{C4C2FEE4-77AD-87FB-E746-89B290B32E20}"/>
              </a:ext>
            </a:extLst>
          </p:cNvPr>
          <p:cNvSpPr/>
          <p:nvPr/>
        </p:nvSpPr>
        <p:spPr>
          <a:xfrm>
            <a:off x="6263640" y="1024128"/>
            <a:ext cx="560527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  <a:effectLst>
            <a:outerShdw blurRad="76200" dist="12700" dir="5400000" algn="bl" rotWithShape="0">
              <a:srgbClr val="9AA9BD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7" name="Shape 21">
            <a:extLst>
              <a:ext uri="{FF2B5EF4-FFF2-40B4-BE49-F238E27FC236}">
                <a16:creationId xmlns:a16="http://schemas.microsoft.com/office/drawing/2014/main" id="{AA900CFC-75A9-43A0-806C-C9976F4E8E07}"/>
              </a:ext>
            </a:extLst>
          </p:cNvPr>
          <p:cNvSpPr/>
          <p:nvPr/>
        </p:nvSpPr>
        <p:spPr>
          <a:xfrm>
            <a:off x="6263640" y="1024128"/>
            <a:ext cx="5605272" cy="45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8" name="Shape 22">
            <a:extLst>
              <a:ext uri="{FF2B5EF4-FFF2-40B4-BE49-F238E27FC236}">
                <a16:creationId xmlns:a16="http://schemas.microsoft.com/office/drawing/2014/main" id="{18A78023-6619-4EA2-E56F-7F7B9A6FA813}"/>
              </a:ext>
            </a:extLst>
          </p:cNvPr>
          <p:cNvSpPr/>
          <p:nvPr/>
        </p:nvSpPr>
        <p:spPr>
          <a:xfrm>
            <a:off x="6428232" y="1143000"/>
            <a:ext cx="182880" cy="1828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89" name="Text 23">
            <a:extLst>
              <a:ext uri="{FF2B5EF4-FFF2-40B4-BE49-F238E27FC236}">
                <a16:creationId xmlns:a16="http://schemas.microsoft.com/office/drawing/2014/main" id="{F5E668B3-643D-B02B-D20A-8B107DE4DACA}"/>
              </a:ext>
            </a:extLst>
          </p:cNvPr>
          <p:cNvSpPr/>
          <p:nvPr/>
        </p:nvSpPr>
        <p:spPr>
          <a:xfrm>
            <a:off x="6675120" y="11155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errors on real-world packaging</a:t>
            </a:r>
            <a:endParaRPr lang="en-US" sz="1100" dirty="0"/>
          </a:p>
        </p:txBody>
      </p:sp>
      <p:sp>
        <p:nvSpPr>
          <p:cNvPr id="90" name="Text 24">
            <a:extLst>
              <a:ext uri="{FF2B5EF4-FFF2-40B4-BE49-F238E27FC236}">
                <a16:creationId xmlns:a16="http://schemas.microsoft.com/office/drawing/2014/main" id="{02D54810-5700-9430-901E-87065D31CDD6}"/>
              </a:ext>
            </a:extLst>
          </p:cNvPr>
          <p:cNvSpPr/>
          <p:nvPr/>
        </p:nvSpPr>
        <p:spPr>
          <a:xfrm>
            <a:off x="6446520" y="135331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2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-  </a:t>
            </a:r>
            <a:r>
              <a:rPr lang="en-US" sz="920" dirty="0">
                <a:solidFill>
                  <a:srgbClr val="51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Glare, curved surfaces, low contrast and complex layouts can reduce OCR accuracy.</a:t>
            </a:r>
            <a:endParaRPr lang="en-US" sz="920" dirty="0"/>
          </a:p>
        </p:txBody>
      </p:sp>
      <p:sp>
        <p:nvSpPr>
          <p:cNvPr id="91" name="Shape 25">
            <a:extLst>
              <a:ext uri="{FF2B5EF4-FFF2-40B4-BE49-F238E27FC236}">
                <a16:creationId xmlns:a16="http://schemas.microsoft.com/office/drawing/2014/main" id="{26C90E05-5607-C934-C39B-49F0F1FA2896}"/>
              </a:ext>
            </a:extLst>
          </p:cNvPr>
          <p:cNvSpPr/>
          <p:nvPr/>
        </p:nvSpPr>
        <p:spPr>
          <a:xfrm>
            <a:off x="6446520" y="1664208"/>
            <a:ext cx="5303520" cy="512064"/>
          </a:xfrm>
          <a:prstGeom prst="roundRect">
            <a:avLst>
              <a:gd name="adj" fmla="val 8929"/>
            </a:avLst>
          </a:prstGeom>
          <a:solidFill>
            <a:srgbClr val="EAF6EE"/>
          </a:solidFill>
          <a:ln w="9525">
            <a:solidFill>
              <a:srgbClr val="BFE3C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2" name="Text 26">
            <a:extLst>
              <a:ext uri="{FF2B5EF4-FFF2-40B4-BE49-F238E27FC236}">
                <a16:creationId xmlns:a16="http://schemas.microsoft.com/office/drawing/2014/main" id="{FC833E2F-99A8-52E6-2377-BE4D297961E1}"/>
              </a:ext>
            </a:extLst>
          </p:cNvPr>
          <p:cNvSpPr/>
          <p:nvPr/>
        </p:nvSpPr>
        <p:spPr>
          <a:xfrm>
            <a:off x="6537960" y="1682496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880" b="1" dirty="0">
                <a:solidFill>
                  <a:srgbClr val="1F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—  </a:t>
            </a:r>
            <a:r>
              <a:rPr lang="en-US" sz="88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preprocessing, perspective correction and OCR confidence scoring; low-confidence extraction is routed to NEEDS REVIEW.</a:t>
            </a:r>
            <a:endParaRPr lang="en-US" sz="880" dirty="0">
              <a:solidFill>
                <a:schemeClr val="tx1"/>
              </a:solidFill>
            </a:endParaRPr>
          </a:p>
        </p:txBody>
      </p:sp>
      <p:sp>
        <p:nvSpPr>
          <p:cNvPr id="93" name="Shape 27">
            <a:extLst>
              <a:ext uri="{FF2B5EF4-FFF2-40B4-BE49-F238E27FC236}">
                <a16:creationId xmlns:a16="http://schemas.microsoft.com/office/drawing/2014/main" id="{9CE1AA87-F54D-A184-8051-EAFC5A9FDB95}"/>
              </a:ext>
            </a:extLst>
          </p:cNvPr>
          <p:cNvSpPr/>
          <p:nvPr/>
        </p:nvSpPr>
        <p:spPr>
          <a:xfrm>
            <a:off x="6263640" y="2322576"/>
            <a:ext cx="560527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  <a:effectLst>
            <a:outerShdw blurRad="76200" dist="12700" dir="5400000" algn="bl" rotWithShape="0">
              <a:srgbClr val="9AA9BD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4" name="Shape 28">
            <a:extLst>
              <a:ext uri="{FF2B5EF4-FFF2-40B4-BE49-F238E27FC236}">
                <a16:creationId xmlns:a16="http://schemas.microsoft.com/office/drawing/2014/main" id="{80047D20-3E95-AD89-BC54-550E42F9F0D0}"/>
              </a:ext>
            </a:extLst>
          </p:cNvPr>
          <p:cNvSpPr/>
          <p:nvPr/>
        </p:nvSpPr>
        <p:spPr>
          <a:xfrm>
            <a:off x="6263640" y="2322576"/>
            <a:ext cx="5605272" cy="45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5" name="Shape 29">
            <a:extLst>
              <a:ext uri="{FF2B5EF4-FFF2-40B4-BE49-F238E27FC236}">
                <a16:creationId xmlns:a16="http://schemas.microsoft.com/office/drawing/2014/main" id="{1C878DA4-7751-4A6D-EC80-AED8985761C0}"/>
              </a:ext>
            </a:extLst>
          </p:cNvPr>
          <p:cNvSpPr/>
          <p:nvPr/>
        </p:nvSpPr>
        <p:spPr>
          <a:xfrm>
            <a:off x="6428232" y="2441448"/>
            <a:ext cx="182880" cy="1828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6" name="Text 30">
            <a:extLst>
              <a:ext uri="{FF2B5EF4-FFF2-40B4-BE49-F238E27FC236}">
                <a16:creationId xmlns:a16="http://schemas.microsoft.com/office/drawing/2014/main" id="{640B538F-D0A9-6A8F-5CE9-1C68A72BE13F}"/>
              </a:ext>
            </a:extLst>
          </p:cNvPr>
          <p:cNvSpPr/>
          <p:nvPr/>
        </p:nvSpPr>
        <p:spPr>
          <a:xfrm>
            <a:off x="6675120" y="241401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Font-size measurement from images</a:t>
            </a:r>
            <a:endParaRPr lang="en-US" sz="1100" dirty="0"/>
          </a:p>
        </p:txBody>
      </p:sp>
      <p:sp>
        <p:nvSpPr>
          <p:cNvPr id="97" name="Text 31">
            <a:extLst>
              <a:ext uri="{FF2B5EF4-FFF2-40B4-BE49-F238E27FC236}">
                <a16:creationId xmlns:a16="http://schemas.microsoft.com/office/drawing/2014/main" id="{37E96DDD-8A50-CE71-E6C3-DE6B1127E1B6}"/>
              </a:ext>
            </a:extLst>
          </p:cNvPr>
          <p:cNvSpPr/>
          <p:nvPr/>
        </p:nvSpPr>
        <p:spPr>
          <a:xfrm>
            <a:off x="6446520" y="265176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2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— </a:t>
            </a:r>
            <a:r>
              <a:rPr lang="en-US" sz="920" dirty="0">
                <a:solidFill>
                  <a:srgbClr val="51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requirements specify physical font sizes, while images provide measurements in pixels.</a:t>
            </a:r>
            <a:endParaRPr lang="en-US" sz="920" dirty="0"/>
          </a:p>
        </p:txBody>
      </p:sp>
      <p:sp>
        <p:nvSpPr>
          <p:cNvPr id="98" name="Shape 32">
            <a:extLst>
              <a:ext uri="{FF2B5EF4-FFF2-40B4-BE49-F238E27FC236}">
                <a16:creationId xmlns:a16="http://schemas.microsoft.com/office/drawing/2014/main" id="{A85CACDF-213C-7A29-E4C0-C6B1B1892A41}"/>
              </a:ext>
            </a:extLst>
          </p:cNvPr>
          <p:cNvSpPr/>
          <p:nvPr/>
        </p:nvSpPr>
        <p:spPr>
          <a:xfrm>
            <a:off x="6446520" y="2962656"/>
            <a:ext cx="5303520" cy="512064"/>
          </a:xfrm>
          <a:prstGeom prst="roundRect">
            <a:avLst>
              <a:gd name="adj" fmla="val 8929"/>
            </a:avLst>
          </a:prstGeom>
          <a:solidFill>
            <a:srgbClr val="EAF6EE"/>
          </a:solidFill>
          <a:ln w="9525">
            <a:solidFill>
              <a:srgbClr val="BFE3C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9" name="Text 33">
            <a:extLst>
              <a:ext uri="{FF2B5EF4-FFF2-40B4-BE49-F238E27FC236}">
                <a16:creationId xmlns:a16="http://schemas.microsoft.com/office/drawing/2014/main" id="{32707A03-3A7C-F5E5-DC84-41E4209F3310}"/>
              </a:ext>
            </a:extLst>
          </p:cNvPr>
          <p:cNvSpPr/>
          <p:nvPr/>
        </p:nvSpPr>
        <p:spPr>
          <a:xfrm>
            <a:off x="6537960" y="2980944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880" b="1" dirty="0">
                <a:solidFill>
                  <a:srgbClr val="1F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—</a:t>
            </a:r>
            <a:r>
              <a:rPr lang="en-US" sz="88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image calibration/reference measurements to estimate physical size and flag borderline measurements for manual review.</a:t>
            </a:r>
          </a:p>
        </p:txBody>
      </p:sp>
      <p:sp>
        <p:nvSpPr>
          <p:cNvPr id="100" name="Shape 34">
            <a:extLst>
              <a:ext uri="{FF2B5EF4-FFF2-40B4-BE49-F238E27FC236}">
                <a16:creationId xmlns:a16="http://schemas.microsoft.com/office/drawing/2014/main" id="{D1333301-197F-D9EE-9B8C-D169575E82C3}"/>
              </a:ext>
            </a:extLst>
          </p:cNvPr>
          <p:cNvSpPr/>
          <p:nvPr/>
        </p:nvSpPr>
        <p:spPr>
          <a:xfrm>
            <a:off x="6263640" y="3621024"/>
            <a:ext cx="560527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  <a:effectLst>
            <a:outerShdw blurRad="76200" dist="12700" dir="5400000" algn="bl" rotWithShape="0">
              <a:srgbClr val="9AA9BD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1" name="Shape 35">
            <a:extLst>
              <a:ext uri="{FF2B5EF4-FFF2-40B4-BE49-F238E27FC236}">
                <a16:creationId xmlns:a16="http://schemas.microsoft.com/office/drawing/2014/main" id="{E8B63223-32E7-74ED-3D32-9AF86BF60B0E}"/>
              </a:ext>
            </a:extLst>
          </p:cNvPr>
          <p:cNvSpPr/>
          <p:nvPr/>
        </p:nvSpPr>
        <p:spPr>
          <a:xfrm>
            <a:off x="6263640" y="3621024"/>
            <a:ext cx="5605272" cy="45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2" name="Shape 36">
            <a:extLst>
              <a:ext uri="{FF2B5EF4-FFF2-40B4-BE49-F238E27FC236}">
                <a16:creationId xmlns:a16="http://schemas.microsoft.com/office/drawing/2014/main" id="{6BABEFED-4F5E-FAF6-6A8C-ED1EE97FD89A}"/>
              </a:ext>
            </a:extLst>
          </p:cNvPr>
          <p:cNvSpPr/>
          <p:nvPr/>
        </p:nvSpPr>
        <p:spPr>
          <a:xfrm>
            <a:off x="6428232" y="3739896"/>
            <a:ext cx="182880" cy="1828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03" name="Text 37">
            <a:extLst>
              <a:ext uri="{FF2B5EF4-FFF2-40B4-BE49-F238E27FC236}">
                <a16:creationId xmlns:a16="http://schemas.microsoft.com/office/drawing/2014/main" id="{5CF8FE67-F02D-EE15-D7DA-390A6C7BA1E2}"/>
              </a:ext>
            </a:extLst>
          </p:cNvPr>
          <p:cNvSpPr/>
          <p:nvPr/>
        </p:nvSpPr>
        <p:spPr>
          <a:xfrm>
            <a:off x="6675120" y="371246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product categories &amp; rule conditions</a:t>
            </a:r>
            <a:endParaRPr lang="en-US" sz="1100" dirty="0"/>
          </a:p>
        </p:txBody>
      </p:sp>
      <p:sp>
        <p:nvSpPr>
          <p:cNvPr id="104" name="Text 38">
            <a:extLst>
              <a:ext uri="{FF2B5EF4-FFF2-40B4-BE49-F238E27FC236}">
                <a16:creationId xmlns:a16="http://schemas.microsoft.com/office/drawing/2014/main" id="{78E15E95-C0F8-5519-6CB8-312691B4CBA9}"/>
              </a:ext>
            </a:extLst>
          </p:cNvPr>
          <p:cNvSpPr/>
          <p:nvPr/>
        </p:nvSpPr>
        <p:spPr>
          <a:xfrm>
            <a:off x="6446520" y="39502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2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— </a:t>
            </a:r>
            <a:r>
              <a:rPr lang="en-US" sz="920" dirty="0">
                <a:solidFill>
                  <a:srgbClr val="51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requirements can vary by product category and declaration type.</a:t>
            </a:r>
            <a:endParaRPr lang="en-US" sz="920" dirty="0"/>
          </a:p>
        </p:txBody>
      </p:sp>
      <p:sp>
        <p:nvSpPr>
          <p:cNvPr id="105" name="Shape 39">
            <a:extLst>
              <a:ext uri="{FF2B5EF4-FFF2-40B4-BE49-F238E27FC236}">
                <a16:creationId xmlns:a16="http://schemas.microsoft.com/office/drawing/2014/main" id="{32F71D7B-A3CB-A79B-5F85-FEAE1BF5D2AF}"/>
              </a:ext>
            </a:extLst>
          </p:cNvPr>
          <p:cNvSpPr/>
          <p:nvPr/>
        </p:nvSpPr>
        <p:spPr>
          <a:xfrm>
            <a:off x="6446520" y="4261104"/>
            <a:ext cx="5303520" cy="512064"/>
          </a:xfrm>
          <a:prstGeom prst="roundRect">
            <a:avLst>
              <a:gd name="adj" fmla="val 8929"/>
            </a:avLst>
          </a:prstGeom>
          <a:solidFill>
            <a:srgbClr val="EAF6EE"/>
          </a:solidFill>
          <a:ln w="9525">
            <a:solidFill>
              <a:srgbClr val="BFE3C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6" name="Text 40">
            <a:extLst>
              <a:ext uri="{FF2B5EF4-FFF2-40B4-BE49-F238E27FC236}">
                <a16:creationId xmlns:a16="http://schemas.microsoft.com/office/drawing/2014/main" id="{94C1362B-7271-5FBD-B2F4-0FB7BA641EF6}"/>
              </a:ext>
            </a:extLst>
          </p:cNvPr>
          <p:cNvSpPr/>
          <p:nvPr/>
        </p:nvSpPr>
        <p:spPr>
          <a:xfrm>
            <a:off x="6537960" y="4279392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880" b="1" dirty="0">
                <a:solidFill>
                  <a:srgbClr val="1F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— </a:t>
            </a:r>
            <a:r>
              <a:rPr lang="en-US" sz="88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compliance checks as configurable rules mapped to the relevant product category and declaration.</a:t>
            </a:r>
          </a:p>
        </p:txBody>
      </p:sp>
      <p:sp>
        <p:nvSpPr>
          <p:cNvPr id="107" name="Shape 41">
            <a:extLst>
              <a:ext uri="{FF2B5EF4-FFF2-40B4-BE49-F238E27FC236}">
                <a16:creationId xmlns:a16="http://schemas.microsoft.com/office/drawing/2014/main" id="{A6BFD902-F08D-E6EB-6B30-B205A4602CD9}"/>
              </a:ext>
            </a:extLst>
          </p:cNvPr>
          <p:cNvSpPr/>
          <p:nvPr/>
        </p:nvSpPr>
        <p:spPr>
          <a:xfrm>
            <a:off x="6263640" y="4919472"/>
            <a:ext cx="560527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  <a:effectLst>
            <a:outerShdw blurRad="76200" dist="12700" dir="5400000" algn="bl" rotWithShape="0">
              <a:srgbClr val="9AA9BD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8" name="Shape 42">
            <a:extLst>
              <a:ext uri="{FF2B5EF4-FFF2-40B4-BE49-F238E27FC236}">
                <a16:creationId xmlns:a16="http://schemas.microsoft.com/office/drawing/2014/main" id="{EBA72120-38B8-2C83-0DB9-D8308A75AB30}"/>
              </a:ext>
            </a:extLst>
          </p:cNvPr>
          <p:cNvSpPr/>
          <p:nvPr/>
        </p:nvSpPr>
        <p:spPr>
          <a:xfrm>
            <a:off x="6263640" y="4919472"/>
            <a:ext cx="5605272" cy="45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9" name="Shape 43">
            <a:extLst>
              <a:ext uri="{FF2B5EF4-FFF2-40B4-BE49-F238E27FC236}">
                <a16:creationId xmlns:a16="http://schemas.microsoft.com/office/drawing/2014/main" id="{09770A62-5559-66DE-2486-FEDB11884E7B}"/>
              </a:ext>
            </a:extLst>
          </p:cNvPr>
          <p:cNvSpPr/>
          <p:nvPr/>
        </p:nvSpPr>
        <p:spPr>
          <a:xfrm>
            <a:off x="6428232" y="5038344"/>
            <a:ext cx="182880" cy="1828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10" name="Text 44">
            <a:extLst>
              <a:ext uri="{FF2B5EF4-FFF2-40B4-BE49-F238E27FC236}">
                <a16:creationId xmlns:a16="http://schemas.microsoft.com/office/drawing/2014/main" id="{9916D41F-00D2-A0CD-5A76-8C34561FAA50}"/>
              </a:ext>
            </a:extLst>
          </p:cNvPr>
          <p:cNvSpPr/>
          <p:nvPr/>
        </p:nvSpPr>
        <p:spPr>
          <a:xfrm>
            <a:off x="6675120" y="501091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or incomplete AI extraction</a:t>
            </a:r>
            <a:endParaRPr lang="en-US" sz="1050" dirty="0"/>
          </a:p>
        </p:txBody>
      </p:sp>
      <p:sp>
        <p:nvSpPr>
          <p:cNvPr id="111" name="Text 45">
            <a:extLst>
              <a:ext uri="{FF2B5EF4-FFF2-40B4-BE49-F238E27FC236}">
                <a16:creationId xmlns:a16="http://schemas.microsoft.com/office/drawing/2014/main" id="{74299FA4-C51A-E2C1-1DB4-4C05956F658D}"/>
              </a:ext>
            </a:extLst>
          </p:cNvPr>
          <p:cNvSpPr/>
          <p:nvPr/>
        </p:nvSpPr>
        <p:spPr>
          <a:xfrm>
            <a:off x="6446520" y="524865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2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— </a:t>
            </a:r>
            <a:r>
              <a:rPr lang="en-US" sz="920" dirty="0">
                <a:solidFill>
                  <a:srgbClr val="51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may extract incorrect values or miss required declarations.</a:t>
            </a:r>
            <a:endParaRPr lang="en-US" sz="920" dirty="0"/>
          </a:p>
        </p:txBody>
      </p:sp>
      <p:sp>
        <p:nvSpPr>
          <p:cNvPr id="112" name="Shape 46">
            <a:extLst>
              <a:ext uri="{FF2B5EF4-FFF2-40B4-BE49-F238E27FC236}">
                <a16:creationId xmlns:a16="http://schemas.microsoft.com/office/drawing/2014/main" id="{6170324D-6C28-6C88-FCFB-356482A713BB}"/>
              </a:ext>
            </a:extLst>
          </p:cNvPr>
          <p:cNvSpPr/>
          <p:nvPr/>
        </p:nvSpPr>
        <p:spPr>
          <a:xfrm>
            <a:off x="6446520" y="5559552"/>
            <a:ext cx="5303520" cy="512064"/>
          </a:xfrm>
          <a:prstGeom prst="roundRect">
            <a:avLst>
              <a:gd name="adj" fmla="val 8929"/>
            </a:avLst>
          </a:prstGeom>
          <a:solidFill>
            <a:srgbClr val="EAF6EE"/>
          </a:solidFill>
          <a:ln w="9525">
            <a:solidFill>
              <a:srgbClr val="BFE3C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3" name="Text 47">
            <a:extLst>
              <a:ext uri="{FF2B5EF4-FFF2-40B4-BE49-F238E27FC236}">
                <a16:creationId xmlns:a16="http://schemas.microsoft.com/office/drawing/2014/main" id="{6ECD3AEF-12FD-FF60-5CD9-BD90ED1466D9}"/>
              </a:ext>
            </a:extLst>
          </p:cNvPr>
          <p:cNvSpPr/>
          <p:nvPr/>
        </p:nvSpPr>
        <p:spPr>
          <a:xfrm>
            <a:off x="6537960" y="557784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880" b="1" dirty="0">
                <a:solidFill>
                  <a:srgbClr val="1F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— </a:t>
            </a:r>
            <a:r>
              <a:rPr lang="en-US" sz="88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OCR confidence + field validation + rule checks and use NEEDS REVIEW when confidence is insufficient.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165425-DF6A-7AF2-2DDC-88092F55942E}"/>
              </a:ext>
            </a:extLst>
          </p:cNvPr>
          <p:cNvSpPr txBox="1"/>
          <p:nvPr/>
        </p:nvSpPr>
        <p:spPr>
          <a:xfrm>
            <a:off x="398779" y="1113816"/>
            <a:ext cx="5456469" cy="1040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900" spc="-10" dirty="0">
                <a:solidFill>
                  <a:srgbClr val="2A3544"/>
                </a:solidFill>
                <a:latin typeface="Calibri"/>
                <a:cs typeface="Calibri"/>
              </a:rPr>
              <a:t> Built using mature technologies: Next.js, FastAPI, OpenCV, </a:t>
            </a:r>
            <a:r>
              <a:rPr lang="en-US" altLang="en-US" sz="900" spc="-10" dirty="0" err="1">
                <a:solidFill>
                  <a:srgbClr val="2A3544"/>
                </a:solidFill>
                <a:latin typeface="Calibri"/>
                <a:cs typeface="Calibri"/>
              </a:rPr>
              <a:t>EasyOCR</a:t>
            </a:r>
            <a:r>
              <a:rPr lang="en-US" altLang="en-US" sz="900" spc="-10" dirty="0">
                <a:solidFill>
                  <a:srgbClr val="2A3544"/>
                </a:solidFill>
                <a:latin typeface="Calibri"/>
                <a:cs typeface="Calibri"/>
              </a:rPr>
              <a:t> and PostgreSQL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900" spc="-10" dirty="0">
                <a:solidFill>
                  <a:srgbClr val="2A3544"/>
                </a:solidFill>
                <a:latin typeface="Calibri"/>
                <a:cs typeface="Calibri"/>
              </a:rPr>
              <a:t> No custom AI model training is required; the core approach combines OCR/CV extraction with deterministic rule-based validation. 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900" spc="-10" dirty="0">
                <a:solidFill>
                  <a:srgbClr val="2A3544"/>
                </a:solidFill>
                <a:latin typeface="Calibri"/>
                <a:cs typeface="Calibri"/>
              </a:rPr>
              <a:t> Required declarations can be detected and validated using text, bounding boxes and measurable visual properties. </a:t>
            </a:r>
          </a:p>
        </p:txBody>
      </p:sp>
      <p:sp>
        <p:nvSpPr>
          <p:cNvPr id="71" name="Rectangle 7">
            <a:extLst>
              <a:ext uri="{FF2B5EF4-FFF2-40B4-BE49-F238E27FC236}">
                <a16:creationId xmlns:a16="http://schemas.microsoft.com/office/drawing/2014/main" id="{989AC910-AB1D-6EA0-F30B-8954E9D9A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834" y="3794746"/>
            <a:ext cx="5605271" cy="1222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lang="en-US" altLang="en-US" sz="900" spc="-10" dirty="0">
                <a:solidFill>
                  <a:srgbClr val="2A3544"/>
                </a:solidFill>
                <a:latin typeface="Calibri"/>
                <a:cs typeface="Calibri"/>
              </a:rPr>
              <a:t>Uses widely available open-source technologies, reducing software licensing dependency. 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900" spc="-10" dirty="0">
                <a:solidFill>
                  <a:srgbClr val="2A3544"/>
                </a:solidFill>
                <a:latin typeface="Calibri"/>
                <a:cs typeface="Calibri"/>
              </a:rPr>
              <a:t> Can support centralized deployment without requiring specialized field hardware. 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900" spc="-10" dirty="0">
                <a:solidFill>
                  <a:srgbClr val="2A3544"/>
                </a:solidFill>
                <a:latin typeface="Calibri"/>
                <a:cs typeface="Calibri"/>
              </a:rPr>
              <a:t> Final compliance action</a:t>
            </a:r>
            <a:r>
              <a:rPr lang="en-US" altLang="en-US" sz="900" spc="-10" dirty="0">
                <a:solidFill>
                  <a:srgbClr val="2A3544"/>
                </a:solidFill>
                <a:latin typeface="Calibri"/>
                <a:cs typeface="Calibri"/>
              </a:rPr>
              <a:t> remains with the authorized officer, while VALIDRA provides evidence and validation results. 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900" spc="-10" dirty="0">
                <a:solidFill>
                  <a:srgbClr val="2A3544"/>
                </a:solidFill>
                <a:latin typeface="Calibri"/>
                <a:cs typeface="Calibri"/>
              </a:rPr>
              <a:t> Inspection records, original images and generated reports provide traceability and account</a:t>
            </a:r>
            <a:r>
              <a:rPr lang="en-US" altLang="en-US" sz="1000" spc="-10" dirty="0">
                <a:solidFill>
                  <a:srgbClr val="2A3544"/>
                </a:solidFill>
                <a:latin typeface="Calibri"/>
                <a:cs typeface="Calibri"/>
              </a:rPr>
              <a:t>ability. 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  <p:sndAc>
          <p:stSnd>
            <p:snd r:embed="rId2" name="page-flip.wav"/>
          </p:stSnd>
        </p:sndAc>
      </p:transition>
    </mc:Choice>
    <mc:Fallback xmlns="">
      <p:transition spd="slow">
        <p:fade/>
        <p:sndAc>
          <p:stSnd>
            <p:snd r:embed="rId4" name="page-flip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5389" y="224434"/>
            <a:ext cx="808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VisionMinds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8475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spc="295" dirty="0"/>
              <a:t> </a:t>
            </a:r>
            <a:r>
              <a:rPr dirty="0"/>
              <a:t>AND</a:t>
            </a:r>
            <a:r>
              <a:rPr spc="295" dirty="0"/>
              <a:t> </a:t>
            </a:r>
            <a:r>
              <a:rPr spc="35" dirty="0"/>
              <a:t>BENEFITS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20039" y="640080"/>
            <a:ext cx="11549380" cy="32384"/>
            <a:chOff x="320039" y="640080"/>
            <a:chExt cx="11549380" cy="32384"/>
          </a:xfrm>
        </p:grpSpPr>
        <p:sp>
          <p:nvSpPr>
            <p:cNvPr id="5" name="object 5"/>
            <p:cNvSpPr/>
            <p:nvPr/>
          </p:nvSpPr>
          <p:spPr>
            <a:xfrm>
              <a:off x="320039" y="640080"/>
              <a:ext cx="11549380" cy="32384"/>
            </a:xfrm>
            <a:custGeom>
              <a:avLst/>
              <a:gdLst/>
              <a:ahLst/>
              <a:cxnLst/>
              <a:rect l="l" t="t" r="r" b="b"/>
              <a:pathLst>
                <a:path w="11549380" h="32384">
                  <a:moveTo>
                    <a:pt x="11548872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1548872" y="32003"/>
                  </a:lnTo>
                  <a:lnTo>
                    <a:pt x="11548872" y="0"/>
                  </a:lnTo>
                  <a:close/>
                </a:path>
              </a:pathLst>
            </a:custGeom>
            <a:solidFill>
              <a:srgbClr val="C6D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320040" y="640080"/>
              <a:ext cx="1371600" cy="32384"/>
            </a:xfrm>
            <a:custGeom>
              <a:avLst/>
              <a:gdLst/>
              <a:ahLst/>
              <a:cxnLst/>
              <a:rect l="l" t="t" r="r" b="b"/>
              <a:pathLst>
                <a:path w="1371600" h="32384">
                  <a:moveTo>
                    <a:pt x="1371600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71600" y="3200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1691640" y="640080"/>
              <a:ext cx="1371600" cy="32384"/>
            </a:xfrm>
            <a:custGeom>
              <a:avLst/>
              <a:gdLst/>
              <a:ahLst/>
              <a:cxnLst/>
              <a:rect l="l" t="t" r="r" b="b"/>
              <a:pathLst>
                <a:path w="1371600" h="32384">
                  <a:moveTo>
                    <a:pt x="1371600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71600" y="3200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07340" y="779742"/>
            <a:ext cx="221043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60" dirty="0">
                <a:solidFill>
                  <a:srgbClr val="1F3864"/>
                </a:solidFill>
                <a:latin typeface="Calibri"/>
                <a:cs typeface="Calibri"/>
              </a:rPr>
              <a:t>TARGET</a:t>
            </a:r>
            <a:r>
              <a:rPr sz="1250" b="1" spc="1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50" b="1" spc="60" dirty="0">
                <a:solidFill>
                  <a:srgbClr val="1F3864"/>
                </a:solidFill>
                <a:latin typeface="Calibri"/>
                <a:cs typeface="Calibri"/>
              </a:rPr>
              <a:t>AUDIENCE</a:t>
            </a:r>
            <a:r>
              <a:rPr sz="1250" b="1" spc="1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1F3864"/>
                </a:solidFill>
                <a:latin typeface="Calibri"/>
                <a:cs typeface="Calibri"/>
              </a:rPr>
              <a:t>&amp;</a:t>
            </a:r>
            <a:r>
              <a:rPr sz="1250" b="1" spc="1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50" b="1" spc="50" dirty="0">
                <a:solidFill>
                  <a:srgbClr val="1F3864"/>
                </a:solidFill>
                <a:latin typeface="Calibri"/>
                <a:cs typeface="Calibri"/>
              </a:rPr>
              <a:t>IMPACT</a:t>
            </a:r>
            <a:endParaRPr sz="125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3690" y="1017778"/>
            <a:ext cx="5590540" cy="1232535"/>
            <a:chOff x="313690" y="1017778"/>
            <a:chExt cx="5590540" cy="1232535"/>
          </a:xfrm>
        </p:grpSpPr>
        <p:sp>
          <p:nvSpPr>
            <p:cNvPr id="10" name="object 10"/>
            <p:cNvSpPr/>
            <p:nvPr/>
          </p:nvSpPr>
          <p:spPr>
            <a:xfrm>
              <a:off x="313690" y="1030477"/>
              <a:ext cx="5590540" cy="1219835"/>
            </a:xfrm>
            <a:custGeom>
              <a:avLst/>
              <a:gdLst/>
              <a:ahLst/>
              <a:cxnLst/>
              <a:rect l="l" t="t" r="r" b="b"/>
              <a:pathLst>
                <a:path w="5590540" h="1219835">
                  <a:moveTo>
                    <a:pt x="5535104" y="0"/>
                  </a:moveTo>
                  <a:lnTo>
                    <a:pt x="55435" y="0"/>
                  </a:lnTo>
                  <a:lnTo>
                    <a:pt x="33944" y="4385"/>
                  </a:lnTo>
                  <a:lnTo>
                    <a:pt x="16313" y="16313"/>
                  </a:lnTo>
                  <a:lnTo>
                    <a:pt x="4385" y="33943"/>
                  </a:lnTo>
                  <a:lnTo>
                    <a:pt x="0" y="55435"/>
                  </a:lnTo>
                  <a:lnTo>
                    <a:pt x="0" y="1164271"/>
                  </a:lnTo>
                  <a:lnTo>
                    <a:pt x="4385" y="1185763"/>
                  </a:lnTo>
                  <a:lnTo>
                    <a:pt x="16313" y="1203393"/>
                  </a:lnTo>
                  <a:lnTo>
                    <a:pt x="33944" y="1215322"/>
                  </a:lnTo>
                  <a:lnTo>
                    <a:pt x="55435" y="1219707"/>
                  </a:lnTo>
                  <a:lnTo>
                    <a:pt x="5535104" y="1219707"/>
                  </a:lnTo>
                  <a:lnTo>
                    <a:pt x="5556595" y="1215322"/>
                  </a:lnTo>
                  <a:lnTo>
                    <a:pt x="5574226" y="1203393"/>
                  </a:lnTo>
                  <a:lnTo>
                    <a:pt x="5586154" y="1185763"/>
                  </a:lnTo>
                  <a:lnTo>
                    <a:pt x="5590539" y="1164271"/>
                  </a:lnTo>
                  <a:lnTo>
                    <a:pt x="5590539" y="55435"/>
                  </a:lnTo>
                  <a:lnTo>
                    <a:pt x="5586154" y="33943"/>
                  </a:lnTo>
                  <a:lnTo>
                    <a:pt x="5574226" y="16313"/>
                  </a:lnTo>
                  <a:lnTo>
                    <a:pt x="5556595" y="4385"/>
                  </a:lnTo>
                  <a:lnTo>
                    <a:pt x="5535104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320040" y="1024127"/>
              <a:ext cx="5577840" cy="1207135"/>
            </a:xfrm>
            <a:custGeom>
              <a:avLst/>
              <a:gdLst/>
              <a:ahLst/>
              <a:cxnLst/>
              <a:rect l="l" t="t" r="r" b="b"/>
              <a:pathLst>
                <a:path w="5577840" h="1207135">
                  <a:moveTo>
                    <a:pt x="5522981" y="0"/>
                  </a:moveTo>
                  <a:lnTo>
                    <a:pt x="54858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8"/>
                  </a:lnTo>
                  <a:lnTo>
                    <a:pt x="0" y="1152149"/>
                  </a:lnTo>
                  <a:lnTo>
                    <a:pt x="4339" y="1173417"/>
                  </a:lnTo>
                  <a:lnTo>
                    <a:pt x="16143" y="1190864"/>
                  </a:lnTo>
                  <a:lnTo>
                    <a:pt x="33590" y="1202668"/>
                  </a:lnTo>
                  <a:lnTo>
                    <a:pt x="54858" y="1207008"/>
                  </a:lnTo>
                  <a:lnTo>
                    <a:pt x="5522979" y="1207008"/>
                  </a:lnTo>
                  <a:lnTo>
                    <a:pt x="5544248" y="1202668"/>
                  </a:lnTo>
                  <a:lnTo>
                    <a:pt x="5561696" y="1190864"/>
                  </a:lnTo>
                  <a:lnTo>
                    <a:pt x="5573500" y="1173417"/>
                  </a:lnTo>
                  <a:lnTo>
                    <a:pt x="5577840" y="1152149"/>
                  </a:lnTo>
                  <a:lnTo>
                    <a:pt x="5577840" y="54858"/>
                  </a:lnTo>
                  <a:lnTo>
                    <a:pt x="5573500" y="33590"/>
                  </a:lnTo>
                  <a:lnTo>
                    <a:pt x="5561696" y="16143"/>
                  </a:lnTo>
                  <a:lnTo>
                    <a:pt x="5544249" y="4339"/>
                  </a:lnTo>
                  <a:lnTo>
                    <a:pt x="55229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040" y="1024127"/>
              <a:ext cx="5577840" cy="1207135"/>
            </a:xfrm>
            <a:custGeom>
              <a:avLst/>
              <a:gdLst/>
              <a:ahLst/>
              <a:cxnLst/>
              <a:rect l="l" t="t" r="r" b="b"/>
              <a:pathLst>
                <a:path w="5577840" h="1207135">
                  <a:moveTo>
                    <a:pt x="0" y="54858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8" y="0"/>
                  </a:lnTo>
                  <a:lnTo>
                    <a:pt x="5522981" y="0"/>
                  </a:lnTo>
                  <a:lnTo>
                    <a:pt x="5544249" y="4339"/>
                  </a:lnTo>
                  <a:lnTo>
                    <a:pt x="5561696" y="16143"/>
                  </a:lnTo>
                  <a:lnTo>
                    <a:pt x="5573500" y="33590"/>
                  </a:lnTo>
                  <a:lnTo>
                    <a:pt x="5577840" y="54858"/>
                  </a:lnTo>
                  <a:lnTo>
                    <a:pt x="5577840" y="1152149"/>
                  </a:lnTo>
                  <a:lnTo>
                    <a:pt x="5573500" y="1173417"/>
                  </a:lnTo>
                  <a:lnTo>
                    <a:pt x="5561696" y="1190864"/>
                  </a:lnTo>
                  <a:lnTo>
                    <a:pt x="5544249" y="1202668"/>
                  </a:lnTo>
                  <a:lnTo>
                    <a:pt x="5522981" y="1207007"/>
                  </a:lnTo>
                  <a:lnTo>
                    <a:pt x="54858" y="1207008"/>
                  </a:lnTo>
                  <a:lnTo>
                    <a:pt x="33590" y="1202668"/>
                  </a:lnTo>
                  <a:lnTo>
                    <a:pt x="16143" y="1190864"/>
                  </a:lnTo>
                  <a:lnTo>
                    <a:pt x="4339" y="1173417"/>
                  </a:lnTo>
                  <a:lnTo>
                    <a:pt x="0" y="1152149"/>
                  </a:lnTo>
                  <a:lnTo>
                    <a:pt x="0" y="54858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40" y="1024127"/>
              <a:ext cx="50800" cy="1207135"/>
            </a:xfrm>
            <a:custGeom>
              <a:avLst/>
              <a:gdLst/>
              <a:ahLst/>
              <a:cxnLst/>
              <a:rect l="l" t="t" r="r" b="b"/>
              <a:pathLst>
                <a:path w="50800" h="1207135">
                  <a:moveTo>
                    <a:pt x="50292" y="0"/>
                  </a:moveTo>
                  <a:lnTo>
                    <a:pt x="0" y="0"/>
                  </a:lnTo>
                  <a:lnTo>
                    <a:pt x="0" y="1207008"/>
                  </a:lnTo>
                  <a:lnTo>
                    <a:pt x="50292" y="120700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0070B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67677" y="1086306"/>
            <a:ext cx="244792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300" b="1" dirty="0">
                <a:solidFill>
                  <a:srgbClr val="0070BF"/>
                </a:solidFill>
                <a:latin typeface="Calibri"/>
                <a:cs typeface="Calibri"/>
              </a:rPr>
              <a:t>LEGAL METROLOGY INSPECTORS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2643" y="1280257"/>
            <a:ext cx="5189724" cy="889987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71450" indent="-17145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r>
              <a:rPr lang="en-US" sz="1000" spc="-10" dirty="0">
                <a:solidFill>
                  <a:srgbClr val="2A3544"/>
                </a:solidFill>
                <a:latin typeface="Calibri"/>
                <a:cs typeface="Calibri"/>
              </a:rPr>
              <a:t>Faster inspection — Scan a product and automatically extract required declarations.</a:t>
            </a:r>
          </a:p>
          <a:p>
            <a:pPr marL="171450" indent="-17145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r>
              <a:rPr lang="en-US" sz="1000" spc="-10" dirty="0">
                <a:solidFill>
                  <a:srgbClr val="2A3544"/>
                </a:solidFill>
                <a:latin typeface="Calibri"/>
                <a:cs typeface="Calibri"/>
              </a:rPr>
              <a:t>Easy compliance checking — Rule engine checks MRP, quantity, dates, manufacturer details, font size and placement.</a:t>
            </a:r>
          </a:p>
          <a:p>
            <a:pPr marL="171450" indent="-17145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r>
              <a:rPr lang="en-US" sz="1000" spc="-10" dirty="0">
                <a:solidFill>
                  <a:srgbClr val="2A3544"/>
                </a:solidFill>
                <a:latin typeface="Calibri"/>
                <a:cs typeface="Calibri"/>
              </a:rPr>
              <a:t>Evidence-based reporting — Get clear COMPLIANT / NON-COMPLIANT / NEEDS REVIEW results with supporting image evidence.</a:t>
            </a:r>
            <a:endParaRPr sz="1000" spc="-10" dirty="0">
              <a:solidFill>
                <a:srgbClr val="2A3544"/>
              </a:solidFill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7340" y="2297175"/>
            <a:ext cx="5590540" cy="1232535"/>
            <a:chOff x="313690" y="2316226"/>
            <a:chExt cx="5590540" cy="1232535"/>
          </a:xfrm>
        </p:grpSpPr>
        <p:sp>
          <p:nvSpPr>
            <p:cNvPr id="17" name="object 17"/>
            <p:cNvSpPr/>
            <p:nvPr/>
          </p:nvSpPr>
          <p:spPr>
            <a:xfrm>
              <a:off x="313690" y="2328925"/>
              <a:ext cx="5590540" cy="1219835"/>
            </a:xfrm>
            <a:custGeom>
              <a:avLst/>
              <a:gdLst/>
              <a:ahLst/>
              <a:cxnLst/>
              <a:rect l="l" t="t" r="r" b="b"/>
              <a:pathLst>
                <a:path w="5590540" h="1219835">
                  <a:moveTo>
                    <a:pt x="5535104" y="0"/>
                  </a:moveTo>
                  <a:lnTo>
                    <a:pt x="55435" y="0"/>
                  </a:lnTo>
                  <a:lnTo>
                    <a:pt x="33944" y="4385"/>
                  </a:lnTo>
                  <a:lnTo>
                    <a:pt x="16313" y="16313"/>
                  </a:lnTo>
                  <a:lnTo>
                    <a:pt x="4385" y="33943"/>
                  </a:lnTo>
                  <a:lnTo>
                    <a:pt x="0" y="55435"/>
                  </a:lnTo>
                  <a:lnTo>
                    <a:pt x="0" y="1164271"/>
                  </a:lnTo>
                  <a:lnTo>
                    <a:pt x="4385" y="1185763"/>
                  </a:lnTo>
                  <a:lnTo>
                    <a:pt x="16313" y="1203393"/>
                  </a:lnTo>
                  <a:lnTo>
                    <a:pt x="33944" y="1215322"/>
                  </a:lnTo>
                  <a:lnTo>
                    <a:pt x="55435" y="1219707"/>
                  </a:lnTo>
                  <a:lnTo>
                    <a:pt x="5535104" y="1219707"/>
                  </a:lnTo>
                  <a:lnTo>
                    <a:pt x="5556595" y="1215322"/>
                  </a:lnTo>
                  <a:lnTo>
                    <a:pt x="5574226" y="1203393"/>
                  </a:lnTo>
                  <a:lnTo>
                    <a:pt x="5586154" y="1185763"/>
                  </a:lnTo>
                  <a:lnTo>
                    <a:pt x="5590539" y="1164271"/>
                  </a:lnTo>
                  <a:lnTo>
                    <a:pt x="5590539" y="55435"/>
                  </a:lnTo>
                  <a:lnTo>
                    <a:pt x="5586154" y="33943"/>
                  </a:lnTo>
                  <a:lnTo>
                    <a:pt x="5574226" y="16313"/>
                  </a:lnTo>
                  <a:lnTo>
                    <a:pt x="5556595" y="4385"/>
                  </a:lnTo>
                  <a:lnTo>
                    <a:pt x="5535104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18"/>
            <p:cNvSpPr/>
            <p:nvPr/>
          </p:nvSpPr>
          <p:spPr>
            <a:xfrm>
              <a:off x="320040" y="2322575"/>
              <a:ext cx="5577840" cy="1207135"/>
            </a:xfrm>
            <a:custGeom>
              <a:avLst/>
              <a:gdLst/>
              <a:ahLst/>
              <a:cxnLst/>
              <a:rect l="l" t="t" r="r" b="b"/>
              <a:pathLst>
                <a:path w="5577840" h="1207135">
                  <a:moveTo>
                    <a:pt x="5522981" y="0"/>
                  </a:moveTo>
                  <a:lnTo>
                    <a:pt x="54858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8"/>
                  </a:lnTo>
                  <a:lnTo>
                    <a:pt x="0" y="1152149"/>
                  </a:lnTo>
                  <a:lnTo>
                    <a:pt x="4339" y="1173417"/>
                  </a:lnTo>
                  <a:lnTo>
                    <a:pt x="16143" y="1190864"/>
                  </a:lnTo>
                  <a:lnTo>
                    <a:pt x="33590" y="1202668"/>
                  </a:lnTo>
                  <a:lnTo>
                    <a:pt x="54858" y="1207008"/>
                  </a:lnTo>
                  <a:lnTo>
                    <a:pt x="5522979" y="1207008"/>
                  </a:lnTo>
                  <a:lnTo>
                    <a:pt x="5544248" y="1202668"/>
                  </a:lnTo>
                  <a:lnTo>
                    <a:pt x="5561696" y="1190864"/>
                  </a:lnTo>
                  <a:lnTo>
                    <a:pt x="5573500" y="1173417"/>
                  </a:lnTo>
                  <a:lnTo>
                    <a:pt x="5577840" y="1152149"/>
                  </a:lnTo>
                  <a:lnTo>
                    <a:pt x="5577840" y="54858"/>
                  </a:lnTo>
                  <a:lnTo>
                    <a:pt x="5573500" y="33590"/>
                  </a:lnTo>
                  <a:lnTo>
                    <a:pt x="5561696" y="16143"/>
                  </a:lnTo>
                  <a:lnTo>
                    <a:pt x="5544249" y="4339"/>
                  </a:lnTo>
                  <a:lnTo>
                    <a:pt x="55229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320040" y="2322575"/>
              <a:ext cx="5577840" cy="1207135"/>
            </a:xfrm>
            <a:custGeom>
              <a:avLst/>
              <a:gdLst/>
              <a:ahLst/>
              <a:cxnLst/>
              <a:rect l="l" t="t" r="r" b="b"/>
              <a:pathLst>
                <a:path w="5577840" h="1207135">
                  <a:moveTo>
                    <a:pt x="0" y="54858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8" y="0"/>
                  </a:lnTo>
                  <a:lnTo>
                    <a:pt x="5522981" y="0"/>
                  </a:lnTo>
                  <a:lnTo>
                    <a:pt x="5544249" y="4339"/>
                  </a:lnTo>
                  <a:lnTo>
                    <a:pt x="5561696" y="16143"/>
                  </a:lnTo>
                  <a:lnTo>
                    <a:pt x="5573500" y="33590"/>
                  </a:lnTo>
                  <a:lnTo>
                    <a:pt x="5577840" y="54858"/>
                  </a:lnTo>
                  <a:lnTo>
                    <a:pt x="5577840" y="1152149"/>
                  </a:lnTo>
                  <a:lnTo>
                    <a:pt x="5573500" y="1173417"/>
                  </a:lnTo>
                  <a:lnTo>
                    <a:pt x="5561696" y="1190864"/>
                  </a:lnTo>
                  <a:lnTo>
                    <a:pt x="5544249" y="1202668"/>
                  </a:lnTo>
                  <a:lnTo>
                    <a:pt x="5522981" y="1207007"/>
                  </a:lnTo>
                  <a:lnTo>
                    <a:pt x="54858" y="1207008"/>
                  </a:lnTo>
                  <a:lnTo>
                    <a:pt x="33590" y="1202668"/>
                  </a:lnTo>
                  <a:lnTo>
                    <a:pt x="16143" y="1190864"/>
                  </a:lnTo>
                  <a:lnTo>
                    <a:pt x="4339" y="1173417"/>
                  </a:lnTo>
                  <a:lnTo>
                    <a:pt x="0" y="1152149"/>
                  </a:lnTo>
                  <a:lnTo>
                    <a:pt x="0" y="54858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20"/>
            <p:cNvSpPr/>
            <p:nvPr/>
          </p:nvSpPr>
          <p:spPr>
            <a:xfrm>
              <a:off x="320040" y="2322575"/>
              <a:ext cx="50800" cy="1207135"/>
            </a:xfrm>
            <a:custGeom>
              <a:avLst/>
              <a:gdLst/>
              <a:ahLst/>
              <a:cxnLst/>
              <a:rect l="l" t="t" r="r" b="b"/>
              <a:pathLst>
                <a:path w="50800" h="1207135">
                  <a:moveTo>
                    <a:pt x="50292" y="0"/>
                  </a:moveTo>
                  <a:lnTo>
                    <a:pt x="0" y="0"/>
                  </a:lnTo>
                  <a:lnTo>
                    <a:pt x="0" y="1207008"/>
                  </a:lnTo>
                  <a:lnTo>
                    <a:pt x="50292" y="120700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29687" y="2328643"/>
            <a:ext cx="9017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F8A45"/>
                </a:solidFill>
                <a:latin typeface="Calibri"/>
                <a:cs typeface="Calibri"/>
              </a:rPr>
              <a:t>CONSUMERS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2643" y="2484898"/>
            <a:ext cx="5196157" cy="1043876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340"/>
              </a:spcBef>
              <a:buChar char="•"/>
              <a:tabLst>
                <a:tab pos="342265" algn="l"/>
              </a:tabLst>
            </a:pPr>
            <a:r>
              <a:rPr lang="en-US" sz="1000" dirty="0">
                <a:solidFill>
                  <a:srgbClr val="2A3544"/>
                </a:solidFill>
                <a:latin typeface="Calibri"/>
                <a:cs typeface="Calibri"/>
              </a:rPr>
              <a:t>better product information — Clear and correct MRP, quantity, dates and other declarations help consumers make informed purchases.</a:t>
            </a:r>
          </a:p>
          <a:p>
            <a:pPr marL="342265" indent="-342265">
              <a:lnSpc>
                <a:spcPct val="100000"/>
              </a:lnSpc>
              <a:spcBef>
                <a:spcPts val="340"/>
              </a:spcBef>
              <a:buChar char="•"/>
              <a:tabLst>
                <a:tab pos="342265" algn="l"/>
              </a:tabLst>
            </a:pPr>
            <a:r>
              <a:rPr lang="en-US" sz="1000" dirty="0">
                <a:solidFill>
                  <a:srgbClr val="2A3544"/>
                </a:solidFill>
                <a:latin typeface="Calibri"/>
                <a:cs typeface="Calibri"/>
              </a:rPr>
              <a:t>Greater product confidence — Regular compliance checks encourage accurate and readable information on packaged goods.</a:t>
            </a:r>
          </a:p>
          <a:p>
            <a:pPr marL="342265" indent="-342265">
              <a:lnSpc>
                <a:spcPct val="100000"/>
              </a:lnSpc>
              <a:spcBef>
                <a:spcPts val="340"/>
              </a:spcBef>
              <a:buChar char="•"/>
              <a:tabLst>
                <a:tab pos="342265" algn="l"/>
              </a:tabLst>
            </a:pPr>
            <a:r>
              <a:rPr lang="en-US" sz="1000" dirty="0">
                <a:solidFill>
                  <a:srgbClr val="2A3544"/>
                </a:solidFill>
                <a:latin typeface="Calibri"/>
                <a:cs typeface="Calibri"/>
              </a:rPr>
              <a:t>Better protection — Faster detection of packaging violations helps reduce misleading or incorrect declarations.</a:t>
            </a:r>
            <a:endParaRPr sz="1000" dirty="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13690" y="3614673"/>
            <a:ext cx="5590540" cy="1232535"/>
            <a:chOff x="313690" y="3614673"/>
            <a:chExt cx="5590540" cy="1232535"/>
          </a:xfrm>
        </p:grpSpPr>
        <p:sp>
          <p:nvSpPr>
            <p:cNvPr id="24" name="object 24"/>
            <p:cNvSpPr/>
            <p:nvPr/>
          </p:nvSpPr>
          <p:spPr>
            <a:xfrm>
              <a:off x="313690" y="3627373"/>
              <a:ext cx="5590540" cy="1219835"/>
            </a:xfrm>
            <a:custGeom>
              <a:avLst/>
              <a:gdLst/>
              <a:ahLst/>
              <a:cxnLst/>
              <a:rect l="l" t="t" r="r" b="b"/>
              <a:pathLst>
                <a:path w="5590540" h="1219835">
                  <a:moveTo>
                    <a:pt x="5535104" y="0"/>
                  </a:moveTo>
                  <a:lnTo>
                    <a:pt x="55435" y="0"/>
                  </a:lnTo>
                  <a:lnTo>
                    <a:pt x="33944" y="4385"/>
                  </a:lnTo>
                  <a:lnTo>
                    <a:pt x="16313" y="16313"/>
                  </a:lnTo>
                  <a:lnTo>
                    <a:pt x="4385" y="33943"/>
                  </a:lnTo>
                  <a:lnTo>
                    <a:pt x="0" y="55435"/>
                  </a:lnTo>
                  <a:lnTo>
                    <a:pt x="0" y="1164271"/>
                  </a:lnTo>
                  <a:lnTo>
                    <a:pt x="4385" y="1185763"/>
                  </a:lnTo>
                  <a:lnTo>
                    <a:pt x="16313" y="1203393"/>
                  </a:lnTo>
                  <a:lnTo>
                    <a:pt x="33944" y="1215322"/>
                  </a:lnTo>
                  <a:lnTo>
                    <a:pt x="55435" y="1219707"/>
                  </a:lnTo>
                  <a:lnTo>
                    <a:pt x="5535104" y="1219707"/>
                  </a:lnTo>
                  <a:lnTo>
                    <a:pt x="5556595" y="1215322"/>
                  </a:lnTo>
                  <a:lnTo>
                    <a:pt x="5574226" y="1203393"/>
                  </a:lnTo>
                  <a:lnTo>
                    <a:pt x="5586154" y="1185763"/>
                  </a:lnTo>
                  <a:lnTo>
                    <a:pt x="5590539" y="1164271"/>
                  </a:lnTo>
                  <a:lnTo>
                    <a:pt x="5590539" y="55435"/>
                  </a:lnTo>
                  <a:lnTo>
                    <a:pt x="5586154" y="33943"/>
                  </a:lnTo>
                  <a:lnTo>
                    <a:pt x="5574226" y="16313"/>
                  </a:lnTo>
                  <a:lnTo>
                    <a:pt x="5556595" y="4385"/>
                  </a:lnTo>
                  <a:lnTo>
                    <a:pt x="5535104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25"/>
            <p:cNvSpPr/>
            <p:nvPr/>
          </p:nvSpPr>
          <p:spPr>
            <a:xfrm>
              <a:off x="320040" y="3621023"/>
              <a:ext cx="5577840" cy="1207135"/>
            </a:xfrm>
            <a:custGeom>
              <a:avLst/>
              <a:gdLst/>
              <a:ahLst/>
              <a:cxnLst/>
              <a:rect l="l" t="t" r="r" b="b"/>
              <a:pathLst>
                <a:path w="5577840" h="1207135">
                  <a:moveTo>
                    <a:pt x="5522981" y="0"/>
                  </a:moveTo>
                  <a:lnTo>
                    <a:pt x="54858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8"/>
                  </a:lnTo>
                  <a:lnTo>
                    <a:pt x="0" y="1152149"/>
                  </a:lnTo>
                  <a:lnTo>
                    <a:pt x="4339" y="1173417"/>
                  </a:lnTo>
                  <a:lnTo>
                    <a:pt x="16143" y="1190864"/>
                  </a:lnTo>
                  <a:lnTo>
                    <a:pt x="33590" y="1202668"/>
                  </a:lnTo>
                  <a:lnTo>
                    <a:pt x="54858" y="1207008"/>
                  </a:lnTo>
                  <a:lnTo>
                    <a:pt x="5522979" y="1207008"/>
                  </a:lnTo>
                  <a:lnTo>
                    <a:pt x="5544248" y="1202668"/>
                  </a:lnTo>
                  <a:lnTo>
                    <a:pt x="5561696" y="1190864"/>
                  </a:lnTo>
                  <a:lnTo>
                    <a:pt x="5573500" y="1173417"/>
                  </a:lnTo>
                  <a:lnTo>
                    <a:pt x="5577840" y="1152149"/>
                  </a:lnTo>
                  <a:lnTo>
                    <a:pt x="5577840" y="54858"/>
                  </a:lnTo>
                  <a:lnTo>
                    <a:pt x="5573500" y="33590"/>
                  </a:lnTo>
                  <a:lnTo>
                    <a:pt x="5561696" y="16143"/>
                  </a:lnTo>
                  <a:lnTo>
                    <a:pt x="5544249" y="4339"/>
                  </a:lnTo>
                  <a:lnTo>
                    <a:pt x="55229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" name="object 26"/>
            <p:cNvSpPr/>
            <p:nvPr/>
          </p:nvSpPr>
          <p:spPr>
            <a:xfrm>
              <a:off x="320040" y="3621023"/>
              <a:ext cx="5577840" cy="1207135"/>
            </a:xfrm>
            <a:custGeom>
              <a:avLst/>
              <a:gdLst/>
              <a:ahLst/>
              <a:cxnLst/>
              <a:rect l="l" t="t" r="r" b="b"/>
              <a:pathLst>
                <a:path w="5577840" h="1207135">
                  <a:moveTo>
                    <a:pt x="0" y="54858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8" y="0"/>
                  </a:lnTo>
                  <a:lnTo>
                    <a:pt x="5522981" y="0"/>
                  </a:lnTo>
                  <a:lnTo>
                    <a:pt x="5544249" y="4339"/>
                  </a:lnTo>
                  <a:lnTo>
                    <a:pt x="5561696" y="16143"/>
                  </a:lnTo>
                  <a:lnTo>
                    <a:pt x="5573500" y="33590"/>
                  </a:lnTo>
                  <a:lnTo>
                    <a:pt x="5577840" y="54858"/>
                  </a:lnTo>
                  <a:lnTo>
                    <a:pt x="5577840" y="1152149"/>
                  </a:lnTo>
                  <a:lnTo>
                    <a:pt x="5573500" y="1173417"/>
                  </a:lnTo>
                  <a:lnTo>
                    <a:pt x="5561696" y="1190864"/>
                  </a:lnTo>
                  <a:lnTo>
                    <a:pt x="5544249" y="1202668"/>
                  </a:lnTo>
                  <a:lnTo>
                    <a:pt x="5522981" y="1207007"/>
                  </a:lnTo>
                  <a:lnTo>
                    <a:pt x="54858" y="1207008"/>
                  </a:lnTo>
                  <a:lnTo>
                    <a:pt x="33590" y="1202668"/>
                  </a:lnTo>
                  <a:lnTo>
                    <a:pt x="16143" y="1190864"/>
                  </a:lnTo>
                  <a:lnTo>
                    <a:pt x="4339" y="1173417"/>
                  </a:lnTo>
                  <a:lnTo>
                    <a:pt x="0" y="1152149"/>
                  </a:lnTo>
                  <a:lnTo>
                    <a:pt x="0" y="54858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27"/>
            <p:cNvSpPr/>
            <p:nvPr/>
          </p:nvSpPr>
          <p:spPr>
            <a:xfrm>
              <a:off x="320040" y="3621023"/>
              <a:ext cx="50800" cy="1207135"/>
            </a:xfrm>
            <a:custGeom>
              <a:avLst/>
              <a:gdLst/>
              <a:ahLst/>
              <a:cxnLst/>
              <a:rect l="l" t="t" r="r" b="b"/>
              <a:pathLst>
                <a:path w="50800" h="1207135">
                  <a:moveTo>
                    <a:pt x="50292" y="0"/>
                  </a:moveTo>
                  <a:lnTo>
                    <a:pt x="0" y="0"/>
                  </a:lnTo>
                  <a:lnTo>
                    <a:pt x="0" y="1207008"/>
                  </a:lnTo>
                  <a:lnTo>
                    <a:pt x="50292" y="120700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11810" y="3672610"/>
            <a:ext cx="186563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INDUSTRY</a:t>
            </a:r>
            <a:r>
              <a:rPr sz="1300" b="1" spc="-2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&amp;</a:t>
            </a:r>
            <a:r>
              <a:rPr sz="1300" b="1" spc="-2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E-COMMERCE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3385" y="3855748"/>
            <a:ext cx="5481323" cy="889987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71450" indent="-17145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r>
              <a:rPr lang="en-US" sz="1000" spc="-10" dirty="0">
                <a:solidFill>
                  <a:srgbClr val="2A3544"/>
                </a:solidFill>
                <a:latin typeface="Calibri"/>
                <a:cs typeface="Calibri"/>
              </a:rPr>
              <a:t>Early compliance checks — Manufacturers can identify label issues before products reach the market.</a:t>
            </a:r>
          </a:p>
          <a:p>
            <a:pPr marL="171450" indent="-17145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r>
              <a:rPr lang="en-US" sz="1000" spc="-10" dirty="0">
                <a:solidFill>
                  <a:srgbClr val="2A3544"/>
                </a:solidFill>
                <a:latin typeface="Calibri"/>
                <a:cs typeface="Calibri"/>
              </a:rPr>
              <a:t>Better production quality — Clear compliance requirements encourage manufacturers to maintain accurate packaging and product information.</a:t>
            </a:r>
          </a:p>
          <a:p>
            <a:pPr marL="171450" indent="-17145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r>
              <a:rPr lang="en-US" sz="1000" spc="-10" dirty="0">
                <a:solidFill>
                  <a:srgbClr val="2A3544"/>
                </a:solidFill>
                <a:latin typeface="Calibri"/>
                <a:cs typeface="Calibri"/>
              </a:rPr>
              <a:t>Fewer compliance issues — Early detection can help reduce rework, rejected packaging and regulatory violations.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84346" y="759341"/>
            <a:ext cx="139509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60" dirty="0">
                <a:solidFill>
                  <a:srgbClr val="1F3864"/>
                </a:solidFill>
                <a:latin typeface="Calibri"/>
                <a:cs typeface="Calibri"/>
              </a:rPr>
              <a:t>BENEFIT</a:t>
            </a:r>
            <a:r>
              <a:rPr sz="1250" b="1" spc="1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50" b="1" spc="55" dirty="0">
                <a:solidFill>
                  <a:srgbClr val="1F3864"/>
                </a:solidFill>
                <a:latin typeface="Calibri"/>
                <a:cs typeface="Calibri"/>
              </a:rPr>
              <a:t>ANALYSIS</a:t>
            </a:r>
            <a:endParaRPr sz="1250" dirty="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257290" y="1017778"/>
            <a:ext cx="5618480" cy="1232535"/>
            <a:chOff x="6257290" y="1017778"/>
            <a:chExt cx="5618480" cy="1232535"/>
          </a:xfrm>
        </p:grpSpPr>
        <p:sp>
          <p:nvSpPr>
            <p:cNvPr id="32" name="object 32"/>
            <p:cNvSpPr/>
            <p:nvPr/>
          </p:nvSpPr>
          <p:spPr>
            <a:xfrm>
              <a:off x="6257290" y="1030477"/>
              <a:ext cx="5618480" cy="1219835"/>
            </a:xfrm>
            <a:custGeom>
              <a:avLst/>
              <a:gdLst/>
              <a:ahLst/>
              <a:cxnLst/>
              <a:rect l="l" t="t" r="r" b="b"/>
              <a:pathLst>
                <a:path w="5618480" h="1219835">
                  <a:moveTo>
                    <a:pt x="5562536" y="0"/>
                  </a:moveTo>
                  <a:lnTo>
                    <a:pt x="55435" y="0"/>
                  </a:lnTo>
                  <a:lnTo>
                    <a:pt x="33944" y="4385"/>
                  </a:lnTo>
                  <a:lnTo>
                    <a:pt x="16313" y="16313"/>
                  </a:lnTo>
                  <a:lnTo>
                    <a:pt x="4385" y="33943"/>
                  </a:lnTo>
                  <a:lnTo>
                    <a:pt x="0" y="55435"/>
                  </a:lnTo>
                  <a:lnTo>
                    <a:pt x="0" y="1164271"/>
                  </a:lnTo>
                  <a:lnTo>
                    <a:pt x="4385" y="1185763"/>
                  </a:lnTo>
                  <a:lnTo>
                    <a:pt x="16313" y="1203393"/>
                  </a:lnTo>
                  <a:lnTo>
                    <a:pt x="33944" y="1215322"/>
                  </a:lnTo>
                  <a:lnTo>
                    <a:pt x="55435" y="1219707"/>
                  </a:lnTo>
                  <a:lnTo>
                    <a:pt x="5562536" y="1219707"/>
                  </a:lnTo>
                  <a:lnTo>
                    <a:pt x="5584027" y="1215322"/>
                  </a:lnTo>
                  <a:lnTo>
                    <a:pt x="5601658" y="1203393"/>
                  </a:lnTo>
                  <a:lnTo>
                    <a:pt x="5613586" y="1185763"/>
                  </a:lnTo>
                  <a:lnTo>
                    <a:pt x="5617972" y="1164271"/>
                  </a:lnTo>
                  <a:lnTo>
                    <a:pt x="5617972" y="55435"/>
                  </a:lnTo>
                  <a:lnTo>
                    <a:pt x="5613586" y="33943"/>
                  </a:lnTo>
                  <a:lnTo>
                    <a:pt x="5601658" y="16313"/>
                  </a:lnTo>
                  <a:lnTo>
                    <a:pt x="5584027" y="4385"/>
                  </a:lnTo>
                  <a:lnTo>
                    <a:pt x="5562536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3" name="object 33"/>
            <p:cNvSpPr/>
            <p:nvPr/>
          </p:nvSpPr>
          <p:spPr>
            <a:xfrm>
              <a:off x="6263640" y="1024127"/>
              <a:ext cx="5605780" cy="1207135"/>
            </a:xfrm>
            <a:custGeom>
              <a:avLst/>
              <a:gdLst/>
              <a:ahLst/>
              <a:cxnLst/>
              <a:rect l="l" t="t" r="r" b="b"/>
              <a:pathLst>
                <a:path w="5605780" h="1207135">
                  <a:moveTo>
                    <a:pt x="5550413" y="0"/>
                  </a:moveTo>
                  <a:lnTo>
                    <a:pt x="54858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8"/>
                  </a:lnTo>
                  <a:lnTo>
                    <a:pt x="0" y="1152149"/>
                  </a:lnTo>
                  <a:lnTo>
                    <a:pt x="4339" y="1173417"/>
                  </a:lnTo>
                  <a:lnTo>
                    <a:pt x="16143" y="1190864"/>
                  </a:lnTo>
                  <a:lnTo>
                    <a:pt x="33590" y="1202668"/>
                  </a:lnTo>
                  <a:lnTo>
                    <a:pt x="54858" y="1207008"/>
                  </a:lnTo>
                  <a:lnTo>
                    <a:pt x="5550411" y="1207008"/>
                  </a:lnTo>
                  <a:lnTo>
                    <a:pt x="5571680" y="1202668"/>
                  </a:lnTo>
                  <a:lnTo>
                    <a:pt x="5589128" y="1190864"/>
                  </a:lnTo>
                  <a:lnTo>
                    <a:pt x="5600932" y="1173417"/>
                  </a:lnTo>
                  <a:lnTo>
                    <a:pt x="5605272" y="1152149"/>
                  </a:lnTo>
                  <a:lnTo>
                    <a:pt x="5605272" y="54858"/>
                  </a:lnTo>
                  <a:lnTo>
                    <a:pt x="5600932" y="33590"/>
                  </a:lnTo>
                  <a:lnTo>
                    <a:pt x="5589128" y="16143"/>
                  </a:lnTo>
                  <a:lnTo>
                    <a:pt x="5571681" y="4339"/>
                  </a:lnTo>
                  <a:lnTo>
                    <a:pt x="55504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4" name="object 34"/>
            <p:cNvSpPr/>
            <p:nvPr/>
          </p:nvSpPr>
          <p:spPr>
            <a:xfrm>
              <a:off x="6263640" y="1024127"/>
              <a:ext cx="5605780" cy="1207135"/>
            </a:xfrm>
            <a:custGeom>
              <a:avLst/>
              <a:gdLst/>
              <a:ahLst/>
              <a:cxnLst/>
              <a:rect l="l" t="t" r="r" b="b"/>
              <a:pathLst>
                <a:path w="5605780" h="1207135">
                  <a:moveTo>
                    <a:pt x="0" y="54858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8" y="0"/>
                  </a:lnTo>
                  <a:lnTo>
                    <a:pt x="5550413" y="0"/>
                  </a:lnTo>
                  <a:lnTo>
                    <a:pt x="5571681" y="4339"/>
                  </a:lnTo>
                  <a:lnTo>
                    <a:pt x="5589128" y="16143"/>
                  </a:lnTo>
                  <a:lnTo>
                    <a:pt x="5600932" y="33590"/>
                  </a:lnTo>
                  <a:lnTo>
                    <a:pt x="5605272" y="54858"/>
                  </a:lnTo>
                  <a:lnTo>
                    <a:pt x="5605272" y="1152149"/>
                  </a:lnTo>
                  <a:lnTo>
                    <a:pt x="5600932" y="1173417"/>
                  </a:lnTo>
                  <a:lnTo>
                    <a:pt x="5589128" y="1190864"/>
                  </a:lnTo>
                  <a:lnTo>
                    <a:pt x="5571681" y="1202668"/>
                  </a:lnTo>
                  <a:lnTo>
                    <a:pt x="5550413" y="1207007"/>
                  </a:lnTo>
                  <a:lnTo>
                    <a:pt x="54858" y="1207008"/>
                  </a:lnTo>
                  <a:lnTo>
                    <a:pt x="33590" y="1202668"/>
                  </a:lnTo>
                  <a:lnTo>
                    <a:pt x="16143" y="1190864"/>
                  </a:lnTo>
                  <a:lnTo>
                    <a:pt x="4339" y="1173417"/>
                  </a:lnTo>
                  <a:lnTo>
                    <a:pt x="0" y="1152149"/>
                  </a:lnTo>
                  <a:lnTo>
                    <a:pt x="0" y="54858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5" name="object 35"/>
            <p:cNvSpPr/>
            <p:nvPr/>
          </p:nvSpPr>
          <p:spPr>
            <a:xfrm>
              <a:off x="6263640" y="1024127"/>
              <a:ext cx="50800" cy="1207135"/>
            </a:xfrm>
            <a:custGeom>
              <a:avLst/>
              <a:gdLst/>
              <a:ahLst/>
              <a:cxnLst/>
              <a:rect l="l" t="t" r="r" b="b"/>
              <a:pathLst>
                <a:path w="50800" h="1207135">
                  <a:moveTo>
                    <a:pt x="50292" y="0"/>
                  </a:moveTo>
                  <a:lnTo>
                    <a:pt x="0" y="0"/>
                  </a:lnTo>
                  <a:lnTo>
                    <a:pt x="0" y="1207008"/>
                  </a:lnTo>
                  <a:lnTo>
                    <a:pt x="50292" y="120700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447671" y="1065108"/>
            <a:ext cx="11817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F4D79"/>
                </a:solidFill>
                <a:latin typeface="Calibri"/>
                <a:cs typeface="Calibri"/>
              </a:rPr>
              <a:t>SOCIAL</a:t>
            </a:r>
            <a:r>
              <a:rPr sz="1300" b="1" spc="-30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F4D79"/>
                </a:solidFill>
                <a:latin typeface="Calibri"/>
                <a:cs typeface="Calibri"/>
              </a:rPr>
              <a:t>BENEFITS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18915" y="1289454"/>
            <a:ext cx="4970948" cy="889987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71450" indent="-17145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r>
              <a:rPr lang="en-US" sz="1000" spc="-10" dirty="0">
                <a:solidFill>
                  <a:srgbClr val="2A3544"/>
                </a:solidFill>
                <a:latin typeface="Calibri"/>
                <a:cs typeface="Calibri"/>
              </a:rPr>
              <a:t>Better consumer information — Accurate and readable MRP, quantity and product declarations.</a:t>
            </a:r>
          </a:p>
          <a:p>
            <a:pPr marL="171450" indent="-17145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r>
              <a:rPr lang="en-US" sz="1000" spc="-10" dirty="0">
                <a:solidFill>
                  <a:srgbClr val="2A3544"/>
                </a:solidFill>
                <a:latin typeface="Calibri"/>
                <a:cs typeface="Calibri"/>
              </a:rPr>
              <a:t>Greater consumer confidence — Consistent compliance checks support trustworthy packaged products.</a:t>
            </a:r>
          </a:p>
          <a:p>
            <a:pPr marL="171450" indent="-17145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r>
              <a:rPr lang="en-US" sz="1000" spc="-10" dirty="0">
                <a:solidFill>
                  <a:srgbClr val="2A3544"/>
                </a:solidFill>
                <a:latin typeface="Calibri"/>
                <a:cs typeface="Calibri"/>
              </a:rPr>
              <a:t>Stronger consumer protection — Faster identification of incorrect or missing declarations</a:t>
            </a:r>
            <a:endParaRPr sz="1000" spc="-10" dirty="0">
              <a:solidFill>
                <a:srgbClr val="2A3544"/>
              </a:solidFill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257290" y="2316226"/>
            <a:ext cx="5618480" cy="1232535"/>
            <a:chOff x="6257290" y="2316226"/>
            <a:chExt cx="5618480" cy="1232535"/>
          </a:xfrm>
        </p:grpSpPr>
        <p:sp>
          <p:nvSpPr>
            <p:cNvPr id="39" name="object 39"/>
            <p:cNvSpPr/>
            <p:nvPr/>
          </p:nvSpPr>
          <p:spPr>
            <a:xfrm>
              <a:off x="6257290" y="2328925"/>
              <a:ext cx="5618480" cy="1219835"/>
            </a:xfrm>
            <a:custGeom>
              <a:avLst/>
              <a:gdLst/>
              <a:ahLst/>
              <a:cxnLst/>
              <a:rect l="l" t="t" r="r" b="b"/>
              <a:pathLst>
                <a:path w="5618480" h="1219835">
                  <a:moveTo>
                    <a:pt x="5562536" y="0"/>
                  </a:moveTo>
                  <a:lnTo>
                    <a:pt x="55435" y="0"/>
                  </a:lnTo>
                  <a:lnTo>
                    <a:pt x="33944" y="4385"/>
                  </a:lnTo>
                  <a:lnTo>
                    <a:pt x="16313" y="16313"/>
                  </a:lnTo>
                  <a:lnTo>
                    <a:pt x="4385" y="33943"/>
                  </a:lnTo>
                  <a:lnTo>
                    <a:pt x="0" y="55435"/>
                  </a:lnTo>
                  <a:lnTo>
                    <a:pt x="0" y="1164271"/>
                  </a:lnTo>
                  <a:lnTo>
                    <a:pt x="4385" y="1185763"/>
                  </a:lnTo>
                  <a:lnTo>
                    <a:pt x="16313" y="1203393"/>
                  </a:lnTo>
                  <a:lnTo>
                    <a:pt x="33944" y="1215322"/>
                  </a:lnTo>
                  <a:lnTo>
                    <a:pt x="55435" y="1219707"/>
                  </a:lnTo>
                  <a:lnTo>
                    <a:pt x="5562536" y="1219707"/>
                  </a:lnTo>
                  <a:lnTo>
                    <a:pt x="5584027" y="1215322"/>
                  </a:lnTo>
                  <a:lnTo>
                    <a:pt x="5601658" y="1203393"/>
                  </a:lnTo>
                  <a:lnTo>
                    <a:pt x="5613586" y="1185763"/>
                  </a:lnTo>
                  <a:lnTo>
                    <a:pt x="5617972" y="1164271"/>
                  </a:lnTo>
                  <a:lnTo>
                    <a:pt x="5617972" y="55435"/>
                  </a:lnTo>
                  <a:lnTo>
                    <a:pt x="5613586" y="33943"/>
                  </a:lnTo>
                  <a:lnTo>
                    <a:pt x="5601658" y="16313"/>
                  </a:lnTo>
                  <a:lnTo>
                    <a:pt x="5584027" y="4385"/>
                  </a:lnTo>
                  <a:lnTo>
                    <a:pt x="5562536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0" name="object 40"/>
            <p:cNvSpPr/>
            <p:nvPr/>
          </p:nvSpPr>
          <p:spPr>
            <a:xfrm>
              <a:off x="6263640" y="2322575"/>
              <a:ext cx="5605780" cy="1207135"/>
            </a:xfrm>
            <a:custGeom>
              <a:avLst/>
              <a:gdLst/>
              <a:ahLst/>
              <a:cxnLst/>
              <a:rect l="l" t="t" r="r" b="b"/>
              <a:pathLst>
                <a:path w="5605780" h="1207135">
                  <a:moveTo>
                    <a:pt x="5550413" y="0"/>
                  </a:moveTo>
                  <a:lnTo>
                    <a:pt x="54858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8"/>
                  </a:lnTo>
                  <a:lnTo>
                    <a:pt x="0" y="1152149"/>
                  </a:lnTo>
                  <a:lnTo>
                    <a:pt x="4339" y="1173417"/>
                  </a:lnTo>
                  <a:lnTo>
                    <a:pt x="16143" y="1190864"/>
                  </a:lnTo>
                  <a:lnTo>
                    <a:pt x="33590" y="1202668"/>
                  </a:lnTo>
                  <a:lnTo>
                    <a:pt x="54858" y="1207008"/>
                  </a:lnTo>
                  <a:lnTo>
                    <a:pt x="5550411" y="1207008"/>
                  </a:lnTo>
                  <a:lnTo>
                    <a:pt x="5571680" y="1202668"/>
                  </a:lnTo>
                  <a:lnTo>
                    <a:pt x="5589128" y="1190864"/>
                  </a:lnTo>
                  <a:lnTo>
                    <a:pt x="5600932" y="1173417"/>
                  </a:lnTo>
                  <a:lnTo>
                    <a:pt x="5605272" y="1152149"/>
                  </a:lnTo>
                  <a:lnTo>
                    <a:pt x="5605272" y="54858"/>
                  </a:lnTo>
                  <a:lnTo>
                    <a:pt x="5600932" y="33590"/>
                  </a:lnTo>
                  <a:lnTo>
                    <a:pt x="5589128" y="16143"/>
                  </a:lnTo>
                  <a:lnTo>
                    <a:pt x="5571681" y="4339"/>
                  </a:lnTo>
                  <a:lnTo>
                    <a:pt x="55504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object 41"/>
            <p:cNvSpPr/>
            <p:nvPr/>
          </p:nvSpPr>
          <p:spPr>
            <a:xfrm>
              <a:off x="6263640" y="2322575"/>
              <a:ext cx="5605780" cy="1207135"/>
            </a:xfrm>
            <a:custGeom>
              <a:avLst/>
              <a:gdLst/>
              <a:ahLst/>
              <a:cxnLst/>
              <a:rect l="l" t="t" r="r" b="b"/>
              <a:pathLst>
                <a:path w="5605780" h="1207135">
                  <a:moveTo>
                    <a:pt x="0" y="54858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8" y="0"/>
                  </a:lnTo>
                  <a:lnTo>
                    <a:pt x="5550413" y="0"/>
                  </a:lnTo>
                  <a:lnTo>
                    <a:pt x="5571681" y="4339"/>
                  </a:lnTo>
                  <a:lnTo>
                    <a:pt x="5589128" y="16143"/>
                  </a:lnTo>
                  <a:lnTo>
                    <a:pt x="5600932" y="33590"/>
                  </a:lnTo>
                  <a:lnTo>
                    <a:pt x="5605272" y="54858"/>
                  </a:lnTo>
                  <a:lnTo>
                    <a:pt x="5605272" y="1152149"/>
                  </a:lnTo>
                  <a:lnTo>
                    <a:pt x="5600932" y="1173417"/>
                  </a:lnTo>
                  <a:lnTo>
                    <a:pt x="5589128" y="1190864"/>
                  </a:lnTo>
                  <a:lnTo>
                    <a:pt x="5571681" y="1202668"/>
                  </a:lnTo>
                  <a:lnTo>
                    <a:pt x="5550413" y="1207007"/>
                  </a:lnTo>
                  <a:lnTo>
                    <a:pt x="54858" y="1207008"/>
                  </a:lnTo>
                  <a:lnTo>
                    <a:pt x="33590" y="1202668"/>
                  </a:lnTo>
                  <a:lnTo>
                    <a:pt x="16143" y="1190864"/>
                  </a:lnTo>
                  <a:lnTo>
                    <a:pt x="4339" y="1173417"/>
                  </a:lnTo>
                  <a:lnTo>
                    <a:pt x="0" y="1152149"/>
                  </a:lnTo>
                  <a:lnTo>
                    <a:pt x="0" y="54858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object 42"/>
            <p:cNvSpPr/>
            <p:nvPr/>
          </p:nvSpPr>
          <p:spPr>
            <a:xfrm>
              <a:off x="6263640" y="2322575"/>
              <a:ext cx="50800" cy="1207135"/>
            </a:xfrm>
            <a:custGeom>
              <a:avLst/>
              <a:gdLst/>
              <a:ahLst/>
              <a:cxnLst/>
              <a:rect l="l" t="t" r="r" b="b"/>
              <a:pathLst>
                <a:path w="50800" h="1207135">
                  <a:moveTo>
                    <a:pt x="50292" y="0"/>
                  </a:moveTo>
                  <a:lnTo>
                    <a:pt x="0" y="0"/>
                  </a:lnTo>
                  <a:lnTo>
                    <a:pt x="0" y="1207008"/>
                  </a:lnTo>
                  <a:lnTo>
                    <a:pt x="50292" y="120700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501384" y="2383128"/>
            <a:ext cx="146685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F8A45"/>
                </a:solidFill>
                <a:latin typeface="Calibri"/>
                <a:cs typeface="Calibri"/>
              </a:rPr>
              <a:t>ECONOMIC</a:t>
            </a:r>
            <a:r>
              <a:rPr sz="1300" b="1" spc="-15" dirty="0">
                <a:solidFill>
                  <a:srgbClr val="1F8A45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F8A45"/>
                </a:solidFill>
                <a:latin typeface="Calibri"/>
                <a:cs typeface="Calibri"/>
              </a:rPr>
              <a:t>BENEFITS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418915" y="2576222"/>
            <a:ext cx="5137318" cy="73609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71450" indent="-171450"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r>
              <a:rPr lang="en-US" sz="1000" spc="-10" dirty="0">
                <a:solidFill>
                  <a:srgbClr val="2A3544"/>
                </a:solidFill>
                <a:latin typeface="Calibri"/>
                <a:cs typeface="Calibri"/>
              </a:rPr>
              <a:t>Less inspection effort — Automates routine label checking and reduces manual work for officers.</a:t>
            </a:r>
          </a:p>
          <a:p>
            <a:pPr marL="171450" indent="-171450"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r>
              <a:rPr lang="en-US" sz="1000" spc="-10" dirty="0">
                <a:solidFill>
                  <a:srgbClr val="2A3544"/>
                </a:solidFill>
                <a:latin typeface="Calibri"/>
                <a:cs typeface="Calibri"/>
              </a:rPr>
              <a:t>Higher inspection capacity — Officers can review more products in the same working time.</a:t>
            </a:r>
          </a:p>
          <a:p>
            <a:pPr marL="171450" indent="-171450"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r>
              <a:rPr lang="en-US" sz="1000" spc="-10" dirty="0">
                <a:solidFill>
                  <a:srgbClr val="2A3544"/>
                </a:solidFill>
                <a:latin typeface="Calibri"/>
                <a:cs typeface="Calibri"/>
              </a:rPr>
              <a:t>Reduced rework — Early identification of packaging errors helps businesses correct issues before release.</a:t>
            </a:r>
            <a:endParaRPr sz="1000" spc="-10" dirty="0">
              <a:solidFill>
                <a:srgbClr val="2A3544"/>
              </a:solidFill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257290" y="3614673"/>
            <a:ext cx="5618480" cy="1232535"/>
            <a:chOff x="6257290" y="3614673"/>
            <a:chExt cx="5618480" cy="1232535"/>
          </a:xfrm>
        </p:grpSpPr>
        <p:sp>
          <p:nvSpPr>
            <p:cNvPr id="46" name="object 46"/>
            <p:cNvSpPr/>
            <p:nvPr/>
          </p:nvSpPr>
          <p:spPr>
            <a:xfrm>
              <a:off x="6257290" y="3627373"/>
              <a:ext cx="5618480" cy="1219835"/>
            </a:xfrm>
            <a:custGeom>
              <a:avLst/>
              <a:gdLst/>
              <a:ahLst/>
              <a:cxnLst/>
              <a:rect l="l" t="t" r="r" b="b"/>
              <a:pathLst>
                <a:path w="5618480" h="1219835">
                  <a:moveTo>
                    <a:pt x="5562536" y="0"/>
                  </a:moveTo>
                  <a:lnTo>
                    <a:pt x="55435" y="0"/>
                  </a:lnTo>
                  <a:lnTo>
                    <a:pt x="33944" y="4385"/>
                  </a:lnTo>
                  <a:lnTo>
                    <a:pt x="16313" y="16313"/>
                  </a:lnTo>
                  <a:lnTo>
                    <a:pt x="4385" y="33943"/>
                  </a:lnTo>
                  <a:lnTo>
                    <a:pt x="0" y="55435"/>
                  </a:lnTo>
                  <a:lnTo>
                    <a:pt x="0" y="1164271"/>
                  </a:lnTo>
                  <a:lnTo>
                    <a:pt x="4385" y="1185763"/>
                  </a:lnTo>
                  <a:lnTo>
                    <a:pt x="16313" y="1203393"/>
                  </a:lnTo>
                  <a:lnTo>
                    <a:pt x="33944" y="1215322"/>
                  </a:lnTo>
                  <a:lnTo>
                    <a:pt x="55435" y="1219707"/>
                  </a:lnTo>
                  <a:lnTo>
                    <a:pt x="5562536" y="1219707"/>
                  </a:lnTo>
                  <a:lnTo>
                    <a:pt x="5584027" y="1215322"/>
                  </a:lnTo>
                  <a:lnTo>
                    <a:pt x="5601658" y="1203393"/>
                  </a:lnTo>
                  <a:lnTo>
                    <a:pt x="5613586" y="1185763"/>
                  </a:lnTo>
                  <a:lnTo>
                    <a:pt x="5617972" y="1164271"/>
                  </a:lnTo>
                  <a:lnTo>
                    <a:pt x="5617972" y="55435"/>
                  </a:lnTo>
                  <a:lnTo>
                    <a:pt x="5613586" y="33943"/>
                  </a:lnTo>
                  <a:lnTo>
                    <a:pt x="5601658" y="16313"/>
                  </a:lnTo>
                  <a:lnTo>
                    <a:pt x="5584027" y="4385"/>
                  </a:lnTo>
                  <a:lnTo>
                    <a:pt x="5562536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7" name="object 47"/>
            <p:cNvSpPr/>
            <p:nvPr/>
          </p:nvSpPr>
          <p:spPr>
            <a:xfrm>
              <a:off x="6263640" y="3621023"/>
              <a:ext cx="5605780" cy="1207135"/>
            </a:xfrm>
            <a:custGeom>
              <a:avLst/>
              <a:gdLst/>
              <a:ahLst/>
              <a:cxnLst/>
              <a:rect l="l" t="t" r="r" b="b"/>
              <a:pathLst>
                <a:path w="5605780" h="1207135">
                  <a:moveTo>
                    <a:pt x="5550413" y="0"/>
                  </a:moveTo>
                  <a:lnTo>
                    <a:pt x="54858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8"/>
                  </a:lnTo>
                  <a:lnTo>
                    <a:pt x="0" y="1152149"/>
                  </a:lnTo>
                  <a:lnTo>
                    <a:pt x="4339" y="1173417"/>
                  </a:lnTo>
                  <a:lnTo>
                    <a:pt x="16143" y="1190864"/>
                  </a:lnTo>
                  <a:lnTo>
                    <a:pt x="33590" y="1202668"/>
                  </a:lnTo>
                  <a:lnTo>
                    <a:pt x="54858" y="1207008"/>
                  </a:lnTo>
                  <a:lnTo>
                    <a:pt x="5550411" y="1207008"/>
                  </a:lnTo>
                  <a:lnTo>
                    <a:pt x="5571680" y="1202668"/>
                  </a:lnTo>
                  <a:lnTo>
                    <a:pt x="5589128" y="1190864"/>
                  </a:lnTo>
                  <a:lnTo>
                    <a:pt x="5600932" y="1173417"/>
                  </a:lnTo>
                  <a:lnTo>
                    <a:pt x="5605272" y="1152149"/>
                  </a:lnTo>
                  <a:lnTo>
                    <a:pt x="5605272" y="54858"/>
                  </a:lnTo>
                  <a:lnTo>
                    <a:pt x="5600932" y="33590"/>
                  </a:lnTo>
                  <a:lnTo>
                    <a:pt x="5589128" y="16143"/>
                  </a:lnTo>
                  <a:lnTo>
                    <a:pt x="5571681" y="4339"/>
                  </a:lnTo>
                  <a:lnTo>
                    <a:pt x="55504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8" name="object 48"/>
            <p:cNvSpPr/>
            <p:nvPr/>
          </p:nvSpPr>
          <p:spPr>
            <a:xfrm>
              <a:off x="6263640" y="3621023"/>
              <a:ext cx="5605780" cy="1207135"/>
            </a:xfrm>
            <a:custGeom>
              <a:avLst/>
              <a:gdLst/>
              <a:ahLst/>
              <a:cxnLst/>
              <a:rect l="l" t="t" r="r" b="b"/>
              <a:pathLst>
                <a:path w="5605780" h="1207135">
                  <a:moveTo>
                    <a:pt x="0" y="54858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8" y="0"/>
                  </a:lnTo>
                  <a:lnTo>
                    <a:pt x="5550413" y="0"/>
                  </a:lnTo>
                  <a:lnTo>
                    <a:pt x="5571681" y="4339"/>
                  </a:lnTo>
                  <a:lnTo>
                    <a:pt x="5589128" y="16143"/>
                  </a:lnTo>
                  <a:lnTo>
                    <a:pt x="5600932" y="33590"/>
                  </a:lnTo>
                  <a:lnTo>
                    <a:pt x="5605272" y="54858"/>
                  </a:lnTo>
                  <a:lnTo>
                    <a:pt x="5605272" y="1152149"/>
                  </a:lnTo>
                  <a:lnTo>
                    <a:pt x="5600932" y="1173417"/>
                  </a:lnTo>
                  <a:lnTo>
                    <a:pt x="5589128" y="1190864"/>
                  </a:lnTo>
                  <a:lnTo>
                    <a:pt x="5571681" y="1202668"/>
                  </a:lnTo>
                  <a:lnTo>
                    <a:pt x="5550413" y="1207007"/>
                  </a:lnTo>
                  <a:lnTo>
                    <a:pt x="54858" y="1207008"/>
                  </a:lnTo>
                  <a:lnTo>
                    <a:pt x="33590" y="1202668"/>
                  </a:lnTo>
                  <a:lnTo>
                    <a:pt x="16143" y="1190864"/>
                  </a:lnTo>
                  <a:lnTo>
                    <a:pt x="4339" y="1173417"/>
                  </a:lnTo>
                  <a:lnTo>
                    <a:pt x="0" y="1152149"/>
                  </a:lnTo>
                  <a:lnTo>
                    <a:pt x="0" y="54858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9" name="object 49"/>
            <p:cNvSpPr/>
            <p:nvPr/>
          </p:nvSpPr>
          <p:spPr>
            <a:xfrm>
              <a:off x="6263640" y="3621023"/>
              <a:ext cx="50800" cy="1207135"/>
            </a:xfrm>
            <a:custGeom>
              <a:avLst/>
              <a:gdLst/>
              <a:ahLst/>
              <a:cxnLst/>
              <a:rect l="l" t="t" r="r" b="b"/>
              <a:pathLst>
                <a:path w="50800" h="1207135">
                  <a:moveTo>
                    <a:pt x="50292" y="0"/>
                  </a:moveTo>
                  <a:lnTo>
                    <a:pt x="0" y="0"/>
                  </a:lnTo>
                  <a:lnTo>
                    <a:pt x="0" y="1207008"/>
                  </a:lnTo>
                  <a:lnTo>
                    <a:pt x="50292" y="120700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501384" y="3681576"/>
            <a:ext cx="279019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ENVIRONMENTAL</a:t>
            </a:r>
            <a:r>
              <a:rPr sz="1300" b="1" spc="-1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&amp;</a:t>
            </a: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SYSTEMIC</a:t>
            </a:r>
            <a:r>
              <a:rPr sz="1300" b="1" spc="-1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BENEFITS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441045" y="3875474"/>
            <a:ext cx="5301770" cy="889987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71450" indent="-17145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r>
              <a:rPr lang="en-US" sz="1000" dirty="0">
                <a:solidFill>
                  <a:srgbClr val="2A3544"/>
                </a:solidFill>
                <a:latin typeface="Calibri"/>
                <a:cs typeface="Calibri"/>
              </a:rPr>
              <a:t>Paperless inspections — Digital evidence and reports reduce dependence on physical records.</a:t>
            </a:r>
          </a:p>
          <a:p>
            <a:pPr marL="171450" indent="-171450"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r>
              <a:rPr lang="en-US" sz="1000" dirty="0">
                <a:solidFill>
                  <a:srgbClr val="2A3544"/>
                </a:solidFill>
                <a:latin typeface="Calibri"/>
                <a:cs typeface="Calibri"/>
              </a:rPr>
              <a:t>Fewer unnecessary reprints — Early detection helps avoid printing packaging with compliance errors.</a:t>
            </a:r>
          </a:p>
          <a:p>
            <a:pPr marL="171450" indent="-17145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r>
              <a:rPr lang="en-US" sz="1000" dirty="0">
                <a:solidFill>
                  <a:srgbClr val="2A3544"/>
                </a:solidFill>
                <a:latin typeface="Calibri"/>
                <a:cs typeface="Calibri"/>
              </a:rPr>
              <a:t>Better compliance insights — Digital inspection data can reveal recurring violations and common problem areas.</a:t>
            </a:r>
            <a:endParaRPr sz="1000" dirty="0">
              <a:solidFill>
                <a:srgbClr val="2A3544"/>
              </a:solidFill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34397" y="4962672"/>
            <a:ext cx="11549380" cy="1188720"/>
          </a:xfrm>
          <a:custGeom>
            <a:avLst/>
            <a:gdLst/>
            <a:ahLst/>
            <a:cxnLst/>
            <a:rect l="l" t="t" r="r" b="b"/>
            <a:pathLst>
              <a:path w="11549380" h="1188720">
                <a:moveTo>
                  <a:pt x="11475718" y="0"/>
                </a:moveTo>
                <a:lnTo>
                  <a:pt x="73153" y="0"/>
                </a:lnTo>
                <a:lnTo>
                  <a:pt x="44793" y="5786"/>
                </a:lnTo>
                <a:lnTo>
                  <a:pt x="21527" y="21527"/>
                </a:lnTo>
                <a:lnTo>
                  <a:pt x="5786" y="44792"/>
                </a:lnTo>
                <a:lnTo>
                  <a:pt x="0" y="73153"/>
                </a:lnTo>
                <a:lnTo>
                  <a:pt x="0" y="1115565"/>
                </a:lnTo>
                <a:lnTo>
                  <a:pt x="5786" y="1143926"/>
                </a:lnTo>
                <a:lnTo>
                  <a:pt x="21527" y="1167192"/>
                </a:lnTo>
                <a:lnTo>
                  <a:pt x="44793" y="1182933"/>
                </a:lnTo>
                <a:lnTo>
                  <a:pt x="73153" y="1188720"/>
                </a:lnTo>
                <a:lnTo>
                  <a:pt x="11475718" y="1188720"/>
                </a:lnTo>
                <a:lnTo>
                  <a:pt x="11504078" y="1182933"/>
                </a:lnTo>
                <a:lnTo>
                  <a:pt x="11527344" y="1167192"/>
                </a:lnTo>
                <a:lnTo>
                  <a:pt x="11543085" y="1143926"/>
                </a:lnTo>
                <a:lnTo>
                  <a:pt x="11548872" y="1115565"/>
                </a:lnTo>
                <a:lnTo>
                  <a:pt x="11548872" y="73153"/>
                </a:lnTo>
                <a:lnTo>
                  <a:pt x="11543085" y="44792"/>
                </a:lnTo>
                <a:lnTo>
                  <a:pt x="11527344" y="21527"/>
                </a:lnTo>
                <a:lnTo>
                  <a:pt x="11504078" y="5786"/>
                </a:lnTo>
                <a:lnTo>
                  <a:pt x="11475718" y="0"/>
                </a:lnTo>
                <a:close/>
              </a:path>
            </a:pathLst>
          </a:custGeom>
          <a:solidFill>
            <a:srgbClr val="1F386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/>
          <p:cNvSpPr txBox="1"/>
          <p:nvPr/>
        </p:nvSpPr>
        <p:spPr>
          <a:xfrm>
            <a:off x="548844" y="5071483"/>
            <a:ext cx="21761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80" dirty="0">
                <a:solidFill>
                  <a:srgbClr val="FFBF00"/>
                </a:solidFill>
                <a:latin typeface="Calibri"/>
                <a:cs typeface="Calibri"/>
              </a:rPr>
              <a:t>EXPECTED</a:t>
            </a:r>
            <a:r>
              <a:rPr sz="1100" b="1" spc="225" dirty="0">
                <a:solidFill>
                  <a:srgbClr val="FFBF00"/>
                </a:solidFill>
                <a:latin typeface="Calibri"/>
                <a:cs typeface="Calibri"/>
              </a:rPr>
              <a:t> </a:t>
            </a:r>
            <a:r>
              <a:rPr sz="1100" b="1" spc="75" dirty="0">
                <a:solidFill>
                  <a:srgbClr val="FFBF00"/>
                </a:solidFill>
                <a:latin typeface="Calibri"/>
                <a:cs typeface="Calibri"/>
              </a:rPr>
              <a:t>IMPACT</a:t>
            </a:r>
            <a:r>
              <a:rPr sz="1100" b="1" spc="229" dirty="0">
                <a:solidFill>
                  <a:srgbClr val="FFBF00"/>
                </a:solidFill>
                <a:latin typeface="Calibri"/>
                <a:cs typeface="Calibri"/>
              </a:rPr>
              <a:t> </a:t>
            </a:r>
            <a:r>
              <a:rPr sz="1100" b="1" spc="75" dirty="0">
                <a:solidFill>
                  <a:srgbClr val="FFBF00"/>
                </a:solidFill>
                <a:latin typeface="Calibri"/>
                <a:cs typeface="Calibri"/>
              </a:rPr>
              <a:t>INDICATORS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48827" y="5316892"/>
            <a:ext cx="1993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solidFill>
                  <a:srgbClr val="92D050"/>
                </a:solidFill>
                <a:latin typeface="Calibri"/>
                <a:cs typeface="Calibri"/>
              </a:rPr>
              <a:t>FASTER</a:t>
            </a:r>
            <a:endParaRPr dirty="0">
              <a:solidFill>
                <a:srgbClr val="92D05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IN" sz="900" dirty="0">
                <a:solidFill>
                  <a:srgbClr val="D6E4F4"/>
                </a:solidFill>
                <a:latin typeface="Calibri"/>
                <a:cs typeface="Calibri"/>
              </a:rPr>
              <a:t>Reduced manual label-checking effort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631401" y="5365331"/>
            <a:ext cx="6871970" cy="658495"/>
          </a:xfrm>
          <a:custGeom>
            <a:avLst/>
            <a:gdLst/>
            <a:ahLst/>
            <a:cxnLst/>
            <a:rect l="l" t="t" r="r" b="b"/>
            <a:pathLst>
              <a:path w="6871970" h="658495">
                <a:moveTo>
                  <a:pt x="13716" y="0"/>
                </a:moveTo>
                <a:lnTo>
                  <a:pt x="0" y="0"/>
                </a:lnTo>
                <a:lnTo>
                  <a:pt x="0" y="658368"/>
                </a:lnTo>
                <a:lnTo>
                  <a:pt x="13716" y="658368"/>
                </a:lnTo>
                <a:lnTo>
                  <a:pt x="13716" y="0"/>
                </a:lnTo>
                <a:close/>
              </a:path>
              <a:path w="6871970" h="658495">
                <a:moveTo>
                  <a:pt x="2299716" y="0"/>
                </a:moveTo>
                <a:lnTo>
                  <a:pt x="2286000" y="0"/>
                </a:lnTo>
                <a:lnTo>
                  <a:pt x="2286000" y="658368"/>
                </a:lnTo>
                <a:lnTo>
                  <a:pt x="2299716" y="658368"/>
                </a:lnTo>
                <a:lnTo>
                  <a:pt x="2299716" y="0"/>
                </a:lnTo>
                <a:close/>
              </a:path>
              <a:path w="6871970" h="658495">
                <a:moveTo>
                  <a:pt x="4585716" y="0"/>
                </a:moveTo>
                <a:lnTo>
                  <a:pt x="4572000" y="0"/>
                </a:lnTo>
                <a:lnTo>
                  <a:pt x="4572000" y="658368"/>
                </a:lnTo>
                <a:lnTo>
                  <a:pt x="4585716" y="658368"/>
                </a:lnTo>
                <a:lnTo>
                  <a:pt x="4585716" y="0"/>
                </a:lnTo>
                <a:close/>
              </a:path>
              <a:path w="6871970" h="658495">
                <a:moveTo>
                  <a:pt x="6871716" y="0"/>
                </a:moveTo>
                <a:lnTo>
                  <a:pt x="6858000" y="0"/>
                </a:lnTo>
                <a:lnTo>
                  <a:pt x="6858000" y="658368"/>
                </a:lnTo>
                <a:lnTo>
                  <a:pt x="6871716" y="658368"/>
                </a:lnTo>
                <a:lnTo>
                  <a:pt x="6871716" y="0"/>
                </a:lnTo>
                <a:close/>
              </a:path>
            </a:pathLst>
          </a:custGeom>
          <a:solidFill>
            <a:srgbClr val="4A64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/>
          <p:cNvSpPr txBox="1"/>
          <p:nvPr/>
        </p:nvSpPr>
        <p:spPr>
          <a:xfrm>
            <a:off x="2913379" y="5315610"/>
            <a:ext cx="199339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solidFill>
                  <a:srgbClr val="92D050"/>
                </a:solidFill>
                <a:latin typeface="Calibri"/>
                <a:cs typeface="Calibri"/>
              </a:rPr>
              <a:t>MORE COVERAGE</a:t>
            </a:r>
            <a:endParaRPr dirty="0">
              <a:solidFill>
                <a:srgbClr val="92D05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z="900" spc="-10" dirty="0">
                <a:solidFill>
                  <a:srgbClr val="D6E4F4"/>
                </a:solidFill>
                <a:latin typeface="Calibri"/>
                <a:cs typeface="Calibri"/>
              </a:rPr>
              <a:t>More products inspected per officer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074463" y="5324147"/>
            <a:ext cx="1993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solidFill>
                  <a:srgbClr val="92D050"/>
                </a:solidFill>
                <a:latin typeface="Calibri"/>
                <a:cs typeface="Calibri"/>
              </a:rPr>
              <a:t>CONSISTENT</a:t>
            </a:r>
            <a:endParaRPr dirty="0">
              <a:solidFill>
                <a:srgbClr val="92D05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z="900" spc="-10" dirty="0">
                <a:solidFill>
                  <a:srgbClr val="D6E4F4"/>
                </a:solidFill>
                <a:latin typeface="Calibri"/>
                <a:cs typeface="Calibri"/>
              </a:rPr>
              <a:t>Same rule-based checks across inspections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286444" y="5242073"/>
            <a:ext cx="2086223" cy="669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dirty="0">
                <a:solidFill>
                  <a:srgbClr val="92D050"/>
                </a:solidFill>
                <a:latin typeface="Calibri"/>
                <a:cs typeface="Calibri"/>
              </a:rPr>
              <a:t>TRACEABLE</a:t>
            </a:r>
          </a:p>
          <a:p>
            <a:pPr marL="12700">
              <a:spcBef>
                <a:spcPts val="100"/>
              </a:spcBef>
            </a:pPr>
            <a:endParaRPr lang="en-IN" sz="500" dirty="0">
              <a:solidFill>
                <a:srgbClr val="92D05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900" spc="-10" dirty="0">
                <a:solidFill>
                  <a:srgbClr val="D6E4F4"/>
                </a:solidFill>
                <a:latin typeface="Calibri"/>
                <a:cs typeface="Calibri"/>
              </a:rPr>
              <a:t>Digital evidence preserved with every inspection</a:t>
            </a:r>
            <a:endParaRPr sz="900" spc="-10" dirty="0">
              <a:solidFill>
                <a:srgbClr val="D6E4F4"/>
              </a:solidFill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596099" y="5286957"/>
            <a:ext cx="2086223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IN" dirty="0">
                <a:solidFill>
                  <a:srgbClr val="92D050"/>
                </a:solidFill>
                <a:latin typeface="Calibri"/>
                <a:cs typeface="Calibri"/>
              </a:rPr>
              <a:t>ACTIONABLE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z="900" spc="-10" dirty="0">
                <a:solidFill>
                  <a:srgbClr val="D6E4F4"/>
                </a:solidFill>
                <a:latin typeface="Calibri"/>
                <a:cs typeface="Calibri"/>
              </a:rPr>
              <a:t>Clear COMPLIANT / NON-COMPLIANT / NEEDS REVIEW results</a:t>
            </a:r>
            <a:endParaRPr sz="900" dirty="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0" y="6355079"/>
            <a:ext cx="12192000" cy="502920"/>
            <a:chOff x="0" y="6355079"/>
            <a:chExt cx="12192000" cy="502920"/>
          </a:xfrm>
        </p:grpSpPr>
        <p:sp>
          <p:nvSpPr>
            <p:cNvPr id="61" name="object 61"/>
            <p:cNvSpPr/>
            <p:nvPr/>
          </p:nvSpPr>
          <p:spPr>
            <a:xfrm>
              <a:off x="0" y="6355079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20">
                  <a:moveTo>
                    <a:pt x="12191694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2191694" y="45720"/>
                  </a:lnTo>
                  <a:lnTo>
                    <a:pt x="12191694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2" name="object 62"/>
            <p:cNvSpPr/>
            <p:nvPr/>
          </p:nvSpPr>
          <p:spPr>
            <a:xfrm>
              <a:off x="0" y="6355079"/>
              <a:ext cx="6099175" cy="45720"/>
            </a:xfrm>
            <a:custGeom>
              <a:avLst/>
              <a:gdLst/>
              <a:ahLst/>
              <a:cxnLst/>
              <a:rect l="l" t="t" r="r" b="b"/>
              <a:pathLst>
                <a:path w="6099175" h="45720">
                  <a:moveTo>
                    <a:pt x="6099048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6099048" y="45720"/>
                  </a:lnTo>
                  <a:lnTo>
                    <a:pt x="6099048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3" name="object 63"/>
            <p:cNvSpPr/>
            <p:nvPr/>
          </p:nvSpPr>
          <p:spPr>
            <a:xfrm>
              <a:off x="4206240" y="6400799"/>
              <a:ext cx="7985759" cy="457200"/>
            </a:xfrm>
            <a:custGeom>
              <a:avLst/>
              <a:gdLst/>
              <a:ahLst/>
              <a:cxnLst/>
              <a:rect l="l" t="t" r="r" b="b"/>
              <a:pathLst>
                <a:path w="7985759" h="457200">
                  <a:moveTo>
                    <a:pt x="0" y="457200"/>
                  </a:moveTo>
                  <a:lnTo>
                    <a:pt x="7985454" y="457200"/>
                  </a:lnTo>
                  <a:lnTo>
                    <a:pt x="7985454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4" name="object 64"/>
            <p:cNvSpPr/>
            <p:nvPr/>
          </p:nvSpPr>
          <p:spPr>
            <a:xfrm>
              <a:off x="0" y="6400799"/>
              <a:ext cx="4206240" cy="457200"/>
            </a:xfrm>
            <a:custGeom>
              <a:avLst/>
              <a:gdLst/>
              <a:ahLst/>
              <a:cxnLst/>
              <a:rect l="l" t="t" r="r" b="b"/>
              <a:pathLst>
                <a:path w="4206240" h="457200">
                  <a:moveTo>
                    <a:pt x="420624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206240" y="457200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5" name="object 65"/>
            <p:cNvSpPr/>
            <p:nvPr/>
          </p:nvSpPr>
          <p:spPr>
            <a:xfrm>
              <a:off x="11430000" y="6473951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447" y="0"/>
                  </a:moveTo>
                  <a:lnTo>
                    <a:pt x="106535" y="7980"/>
                  </a:lnTo>
                  <a:lnTo>
                    <a:pt x="63890" y="30158"/>
                  </a:lnTo>
                  <a:lnTo>
                    <a:pt x="30158" y="63890"/>
                  </a:lnTo>
                  <a:lnTo>
                    <a:pt x="7980" y="106535"/>
                  </a:lnTo>
                  <a:lnTo>
                    <a:pt x="0" y="155448"/>
                  </a:lnTo>
                  <a:lnTo>
                    <a:pt x="7980" y="204360"/>
                  </a:lnTo>
                  <a:lnTo>
                    <a:pt x="30158" y="247004"/>
                  </a:lnTo>
                  <a:lnTo>
                    <a:pt x="63890" y="280737"/>
                  </a:lnTo>
                  <a:lnTo>
                    <a:pt x="106535" y="302915"/>
                  </a:lnTo>
                  <a:lnTo>
                    <a:pt x="155447" y="310896"/>
                  </a:lnTo>
                  <a:lnTo>
                    <a:pt x="204360" y="302915"/>
                  </a:lnTo>
                  <a:lnTo>
                    <a:pt x="247004" y="280737"/>
                  </a:lnTo>
                  <a:lnTo>
                    <a:pt x="280737" y="247004"/>
                  </a:lnTo>
                  <a:lnTo>
                    <a:pt x="302915" y="204360"/>
                  </a:lnTo>
                  <a:lnTo>
                    <a:pt x="310895" y="155448"/>
                  </a:lnTo>
                  <a:lnTo>
                    <a:pt x="302915" y="106535"/>
                  </a:lnTo>
                  <a:lnTo>
                    <a:pt x="280737" y="63890"/>
                  </a:lnTo>
                  <a:lnTo>
                    <a:pt x="247004" y="30158"/>
                  </a:lnTo>
                  <a:lnTo>
                    <a:pt x="204360" y="7980"/>
                  </a:lnTo>
                  <a:lnTo>
                    <a:pt x="155447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6" name="object 6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67" name="object 67"/>
          <p:cNvSpPr txBox="1">
            <a:spLocks noGrp="1"/>
          </p:cNvSpPr>
          <p:nvPr>
            <p:ph type="ftr" sz="quarter" idx="5"/>
          </p:nvPr>
        </p:nvSpPr>
        <p:spPr>
          <a:xfrm>
            <a:off x="5426779" y="6558863"/>
            <a:ext cx="4505325" cy="143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659CD90-A3A5-378E-2A9D-B1724C04E1D0}"/>
              </a:ext>
            </a:extLst>
          </p:cNvPr>
          <p:cNvSpPr/>
          <p:nvPr/>
        </p:nvSpPr>
        <p:spPr>
          <a:xfrm>
            <a:off x="10098935" y="77995"/>
            <a:ext cx="1832285" cy="5039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42923C0B-43B7-7498-56CE-1EE9D07C36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646" y="22037"/>
            <a:ext cx="1210481" cy="571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  <p:sndAc>
          <p:stSnd>
            <p:snd r:embed="rId2" name="page-flip.wav"/>
          </p:stSnd>
        </p:sndAc>
      </p:transition>
    </mc:Choice>
    <mc:Fallback xmlns="">
      <p:transition spd="slow">
        <p:fade/>
        <p:sndAc>
          <p:stSnd>
            <p:snd r:embed="rId4" name="page-flip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5389" y="224434"/>
            <a:ext cx="808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VisionMinds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RESEARCH</a:t>
            </a:r>
            <a:r>
              <a:rPr spc="180" dirty="0"/>
              <a:t> </a:t>
            </a:r>
            <a:r>
              <a:rPr dirty="0"/>
              <a:t>AND</a:t>
            </a:r>
            <a:r>
              <a:rPr spc="190" dirty="0"/>
              <a:t> </a:t>
            </a:r>
            <a:r>
              <a:rPr spc="40" dirty="0"/>
              <a:t>REFERENCES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20039" y="640080"/>
            <a:ext cx="11549380" cy="32384"/>
            <a:chOff x="320039" y="640080"/>
            <a:chExt cx="11549380" cy="32384"/>
          </a:xfrm>
        </p:grpSpPr>
        <p:sp>
          <p:nvSpPr>
            <p:cNvPr id="5" name="object 5"/>
            <p:cNvSpPr/>
            <p:nvPr/>
          </p:nvSpPr>
          <p:spPr>
            <a:xfrm>
              <a:off x="320039" y="640080"/>
              <a:ext cx="11549380" cy="32384"/>
            </a:xfrm>
            <a:custGeom>
              <a:avLst/>
              <a:gdLst/>
              <a:ahLst/>
              <a:cxnLst/>
              <a:rect l="l" t="t" r="r" b="b"/>
              <a:pathLst>
                <a:path w="11549380" h="32384">
                  <a:moveTo>
                    <a:pt x="11548872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1548872" y="32003"/>
                  </a:lnTo>
                  <a:lnTo>
                    <a:pt x="11548872" y="0"/>
                  </a:lnTo>
                  <a:close/>
                </a:path>
              </a:pathLst>
            </a:custGeom>
            <a:solidFill>
              <a:srgbClr val="C6D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320040" y="640080"/>
              <a:ext cx="1371600" cy="32384"/>
            </a:xfrm>
            <a:custGeom>
              <a:avLst/>
              <a:gdLst/>
              <a:ahLst/>
              <a:cxnLst/>
              <a:rect l="l" t="t" r="r" b="b"/>
              <a:pathLst>
                <a:path w="1371600" h="32384">
                  <a:moveTo>
                    <a:pt x="1371600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71600" y="3200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1691640" y="640080"/>
              <a:ext cx="1371600" cy="32384"/>
            </a:xfrm>
            <a:custGeom>
              <a:avLst/>
              <a:gdLst/>
              <a:ahLst/>
              <a:cxnLst/>
              <a:rect l="l" t="t" r="r" b="b"/>
              <a:pathLst>
                <a:path w="1371600" h="32384">
                  <a:moveTo>
                    <a:pt x="1371600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71600" y="3200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13690" y="847470"/>
            <a:ext cx="5590540" cy="1598295"/>
            <a:chOff x="313690" y="816610"/>
            <a:chExt cx="5590540" cy="1598295"/>
          </a:xfrm>
        </p:grpSpPr>
        <p:sp>
          <p:nvSpPr>
            <p:cNvPr id="9" name="object 9"/>
            <p:cNvSpPr/>
            <p:nvPr/>
          </p:nvSpPr>
          <p:spPr>
            <a:xfrm>
              <a:off x="313690" y="829309"/>
              <a:ext cx="5590540" cy="1585595"/>
            </a:xfrm>
            <a:custGeom>
              <a:avLst/>
              <a:gdLst/>
              <a:ahLst/>
              <a:cxnLst/>
              <a:rect l="l" t="t" r="r" b="b"/>
              <a:pathLst>
                <a:path w="5590540" h="1585595">
                  <a:moveTo>
                    <a:pt x="5535238" y="0"/>
                  </a:moveTo>
                  <a:lnTo>
                    <a:pt x="55301" y="0"/>
                  </a:lnTo>
                  <a:lnTo>
                    <a:pt x="33861" y="4374"/>
                  </a:lnTo>
                  <a:lnTo>
                    <a:pt x="16273" y="16273"/>
                  </a:lnTo>
                  <a:lnTo>
                    <a:pt x="4374" y="33861"/>
                  </a:lnTo>
                  <a:lnTo>
                    <a:pt x="0" y="55301"/>
                  </a:lnTo>
                  <a:lnTo>
                    <a:pt x="0" y="1530166"/>
                  </a:lnTo>
                  <a:lnTo>
                    <a:pt x="4374" y="1551605"/>
                  </a:lnTo>
                  <a:lnTo>
                    <a:pt x="16273" y="1569193"/>
                  </a:lnTo>
                  <a:lnTo>
                    <a:pt x="33861" y="1581092"/>
                  </a:lnTo>
                  <a:lnTo>
                    <a:pt x="55301" y="1585467"/>
                  </a:lnTo>
                  <a:lnTo>
                    <a:pt x="5535238" y="1585467"/>
                  </a:lnTo>
                  <a:lnTo>
                    <a:pt x="5556678" y="1581092"/>
                  </a:lnTo>
                  <a:lnTo>
                    <a:pt x="5574265" y="1569193"/>
                  </a:lnTo>
                  <a:lnTo>
                    <a:pt x="5586165" y="1551605"/>
                  </a:lnTo>
                  <a:lnTo>
                    <a:pt x="5590539" y="1530166"/>
                  </a:lnTo>
                  <a:lnTo>
                    <a:pt x="5590539" y="55301"/>
                  </a:lnTo>
                  <a:lnTo>
                    <a:pt x="5586165" y="33861"/>
                  </a:lnTo>
                  <a:lnTo>
                    <a:pt x="5574265" y="16273"/>
                  </a:lnTo>
                  <a:lnTo>
                    <a:pt x="5556678" y="4374"/>
                  </a:lnTo>
                  <a:lnTo>
                    <a:pt x="5535238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822960"/>
              <a:ext cx="5577840" cy="1572895"/>
            </a:xfrm>
            <a:custGeom>
              <a:avLst/>
              <a:gdLst/>
              <a:ahLst/>
              <a:cxnLst/>
              <a:rect l="l" t="t" r="r" b="b"/>
              <a:pathLst>
                <a:path w="5577840" h="1572895">
                  <a:moveTo>
                    <a:pt x="5522981" y="0"/>
                  </a:moveTo>
                  <a:lnTo>
                    <a:pt x="54857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7"/>
                  </a:lnTo>
                  <a:lnTo>
                    <a:pt x="0" y="1517909"/>
                  </a:lnTo>
                  <a:lnTo>
                    <a:pt x="4339" y="1539177"/>
                  </a:lnTo>
                  <a:lnTo>
                    <a:pt x="16143" y="1556624"/>
                  </a:lnTo>
                  <a:lnTo>
                    <a:pt x="33590" y="1568428"/>
                  </a:lnTo>
                  <a:lnTo>
                    <a:pt x="54857" y="1572767"/>
                  </a:lnTo>
                  <a:lnTo>
                    <a:pt x="5522981" y="1572767"/>
                  </a:lnTo>
                  <a:lnTo>
                    <a:pt x="5544249" y="1568428"/>
                  </a:lnTo>
                  <a:lnTo>
                    <a:pt x="5561696" y="1556624"/>
                  </a:lnTo>
                  <a:lnTo>
                    <a:pt x="5573500" y="1539177"/>
                  </a:lnTo>
                  <a:lnTo>
                    <a:pt x="5577840" y="1517909"/>
                  </a:lnTo>
                  <a:lnTo>
                    <a:pt x="5577840" y="54857"/>
                  </a:lnTo>
                  <a:lnTo>
                    <a:pt x="5573500" y="33590"/>
                  </a:lnTo>
                  <a:lnTo>
                    <a:pt x="5561696" y="16143"/>
                  </a:lnTo>
                  <a:lnTo>
                    <a:pt x="5544249" y="4339"/>
                  </a:lnTo>
                  <a:lnTo>
                    <a:pt x="55229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320040" y="822960"/>
              <a:ext cx="5577840" cy="1572895"/>
            </a:xfrm>
            <a:custGeom>
              <a:avLst/>
              <a:gdLst/>
              <a:ahLst/>
              <a:cxnLst/>
              <a:rect l="l" t="t" r="r" b="b"/>
              <a:pathLst>
                <a:path w="5577840" h="1572895">
                  <a:moveTo>
                    <a:pt x="0" y="54857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7" y="0"/>
                  </a:lnTo>
                  <a:lnTo>
                    <a:pt x="5522981" y="0"/>
                  </a:lnTo>
                  <a:lnTo>
                    <a:pt x="5544249" y="4339"/>
                  </a:lnTo>
                  <a:lnTo>
                    <a:pt x="5561696" y="16143"/>
                  </a:lnTo>
                  <a:lnTo>
                    <a:pt x="5573500" y="33590"/>
                  </a:lnTo>
                  <a:lnTo>
                    <a:pt x="5577840" y="54857"/>
                  </a:lnTo>
                  <a:lnTo>
                    <a:pt x="5577840" y="1517909"/>
                  </a:lnTo>
                  <a:lnTo>
                    <a:pt x="5573500" y="1539177"/>
                  </a:lnTo>
                  <a:lnTo>
                    <a:pt x="5561696" y="1556624"/>
                  </a:lnTo>
                  <a:lnTo>
                    <a:pt x="5544249" y="1568428"/>
                  </a:lnTo>
                  <a:lnTo>
                    <a:pt x="5522981" y="1572767"/>
                  </a:lnTo>
                  <a:lnTo>
                    <a:pt x="54857" y="1572767"/>
                  </a:lnTo>
                  <a:lnTo>
                    <a:pt x="33590" y="1568428"/>
                  </a:lnTo>
                  <a:lnTo>
                    <a:pt x="16143" y="1556624"/>
                  </a:lnTo>
                  <a:lnTo>
                    <a:pt x="4339" y="1539177"/>
                  </a:lnTo>
                  <a:lnTo>
                    <a:pt x="0" y="1517909"/>
                  </a:lnTo>
                  <a:lnTo>
                    <a:pt x="0" y="54857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040" y="822960"/>
              <a:ext cx="50800" cy="1572895"/>
            </a:xfrm>
            <a:custGeom>
              <a:avLst/>
              <a:gdLst/>
              <a:ahLst/>
              <a:cxnLst/>
              <a:rect l="l" t="t" r="r" b="b"/>
              <a:pathLst>
                <a:path w="50800" h="1572895">
                  <a:moveTo>
                    <a:pt x="50292" y="0"/>
                  </a:moveTo>
                  <a:lnTo>
                    <a:pt x="0" y="0"/>
                  </a:lnTo>
                  <a:lnTo>
                    <a:pt x="0" y="1572767"/>
                  </a:lnTo>
                  <a:lnTo>
                    <a:pt x="50292" y="1572767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57783" y="883512"/>
            <a:ext cx="20961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STATUTE</a:t>
            </a:r>
            <a:r>
              <a:rPr sz="1300" b="1" spc="-2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&amp;</a:t>
            </a:r>
            <a:r>
              <a:rPr sz="1300" b="1" spc="-2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OFFICIAL</a:t>
            </a:r>
            <a:r>
              <a:rPr sz="1300" b="1" spc="-2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SOURCES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4499" y="1209485"/>
            <a:ext cx="5146041" cy="895758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71450" marR="5080" indent="-171450">
              <a:lnSpc>
                <a:spcPts val="1140"/>
              </a:lnSpc>
              <a:spcBef>
                <a:spcPts val="185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sz="1000" dirty="0">
                <a:solidFill>
                  <a:srgbClr val="2A3544"/>
                </a:solidFill>
                <a:latin typeface="Calibri"/>
                <a:cs typeface="Calibri"/>
              </a:rPr>
              <a:t>Legal Metrology Act, 2009 — Department of Consumer Affairs</a:t>
            </a:r>
          </a:p>
          <a:p>
            <a:pPr marL="171450" marR="5080" indent="-171450">
              <a:lnSpc>
                <a:spcPts val="1140"/>
              </a:lnSpc>
              <a:spcBef>
                <a:spcPts val="185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sz="1000" dirty="0">
                <a:solidFill>
                  <a:srgbClr val="2A3544"/>
                </a:solidFill>
                <a:latin typeface="Calibri"/>
                <a:cs typeface="Calibri"/>
              </a:rPr>
              <a:t>Legal Metrology (Packaged Commodities) Rules, 2011 — as amended</a:t>
            </a:r>
          </a:p>
          <a:p>
            <a:pPr marL="171450" marR="5080" indent="-171450">
              <a:lnSpc>
                <a:spcPts val="1140"/>
              </a:lnSpc>
              <a:spcBef>
                <a:spcPts val="185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sz="1000" dirty="0">
                <a:solidFill>
                  <a:srgbClr val="2A3544"/>
                </a:solidFill>
                <a:latin typeface="Calibri"/>
                <a:cs typeface="Calibri"/>
              </a:rPr>
              <a:t>Department of Consumer Affairs — Legal Metrology guidelines, notifications &amp; amendments</a:t>
            </a:r>
          </a:p>
          <a:p>
            <a:pPr marL="171450" marR="5080" indent="-171450">
              <a:lnSpc>
                <a:spcPts val="1140"/>
              </a:lnSpc>
              <a:spcBef>
                <a:spcPts val="185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sz="1000" dirty="0">
                <a:solidFill>
                  <a:srgbClr val="2A3544"/>
                </a:solidFill>
                <a:latin typeface="Calibri"/>
                <a:cs typeface="Calibri"/>
              </a:rPr>
              <a:t>SIH 2026 — Problem Statement 26034</a:t>
            </a:r>
            <a:endParaRPr sz="1000" dirty="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67106" y="844625"/>
            <a:ext cx="5618480" cy="1598295"/>
            <a:chOff x="6257290" y="816610"/>
            <a:chExt cx="5618480" cy="1598295"/>
          </a:xfrm>
        </p:grpSpPr>
        <p:sp>
          <p:nvSpPr>
            <p:cNvPr id="16" name="object 16"/>
            <p:cNvSpPr/>
            <p:nvPr/>
          </p:nvSpPr>
          <p:spPr>
            <a:xfrm>
              <a:off x="6257290" y="829309"/>
              <a:ext cx="5618480" cy="1585595"/>
            </a:xfrm>
            <a:custGeom>
              <a:avLst/>
              <a:gdLst/>
              <a:ahLst/>
              <a:cxnLst/>
              <a:rect l="l" t="t" r="r" b="b"/>
              <a:pathLst>
                <a:path w="5618480" h="1585595">
                  <a:moveTo>
                    <a:pt x="5562670" y="0"/>
                  </a:moveTo>
                  <a:lnTo>
                    <a:pt x="55301" y="0"/>
                  </a:lnTo>
                  <a:lnTo>
                    <a:pt x="33861" y="4374"/>
                  </a:lnTo>
                  <a:lnTo>
                    <a:pt x="16273" y="16273"/>
                  </a:lnTo>
                  <a:lnTo>
                    <a:pt x="4374" y="33861"/>
                  </a:lnTo>
                  <a:lnTo>
                    <a:pt x="0" y="55301"/>
                  </a:lnTo>
                  <a:lnTo>
                    <a:pt x="0" y="1530166"/>
                  </a:lnTo>
                  <a:lnTo>
                    <a:pt x="4374" y="1551605"/>
                  </a:lnTo>
                  <a:lnTo>
                    <a:pt x="16273" y="1569193"/>
                  </a:lnTo>
                  <a:lnTo>
                    <a:pt x="33861" y="1581092"/>
                  </a:lnTo>
                  <a:lnTo>
                    <a:pt x="55301" y="1585467"/>
                  </a:lnTo>
                  <a:lnTo>
                    <a:pt x="5562670" y="1585467"/>
                  </a:lnTo>
                  <a:lnTo>
                    <a:pt x="5584110" y="1581092"/>
                  </a:lnTo>
                  <a:lnTo>
                    <a:pt x="5601697" y="1569193"/>
                  </a:lnTo>
                  <a:lnTo>
                    <a:pt x="5613597" y="1551605"/>
                  </a:lnTo>
                  <a:lnTo>
                    <a:pt x="5617972" y="1530166"/>
                  </a:lnTo>
                  <a:lnTo>
                    <a:pt x="5617972" y="55301"/>
                  </a:lnTo>
                  <a:lnTo>
                    <a:pt x="5613597" y="33861"/>
                  </a:lnTo>
                  <a:lnTo>
                    <a:pt x="5601697" y="16273"/>
                  </a:lnTo>
                  <a:lnTo>
                    <a:pt x="5584110" y="4374"/>
                  </a:lnTo>
                  <a:lnTo>
                    <a:pt x="5562670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263640" y="822960"/>
              <a:ext cx="5605780" cy="1572895"/>
            </a:xfrm>
            <a:custGeom>
              <a:avLst/>
              <a:gdLst/>
              <a:ahLst/>
              <a:cxnLst/>
              <a:rect l="l" t="t" r="r" b="b"/>
              <a:pathLst>
                <a:path w="5605780" h="1572895">
                  <a:moveTo>
                    <a:pt x="5550413" y="0"/>
                  </a:moveTo>
                  <a:lnTo>
                    <a:pt x="54857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7"/>
                  </a:lnTo>
                  <a:lnTo>
                    <a:pt x="0" y="1517909"/>
                  </a:lnTo>
                  <a:lnTo>
                    <a:pt x="4339" y="1539177"/>
                  </a:lnTo>
                  <a:lnTo>
                    <a:pt x="16143" y="1556624"/>
                  </a:lnTo>
                  <a:lnTo>
                    <a:pt x="33590" y="1568428"/>
                  </a:lnTo>
                  <a:lnTo>
                    <a:pt x="54857" y="1572767"/>
                  </a:lnTo>
                  <a:lnTo>
                    <a:pt x="5550413" y="1572767"/>
                  </a:lnTo>
                  <a:lnTo>
                    <a:pt x="5571681" y="1568428"/>
                  </a:lnTo>
                  <a:lnTo>
                    <a:pt x="5589128" y="1556624"/>
                  </a:lnTo>
                  <a:lnTo>
                    <a:pt x="5600932" y="1539177"/>
                  </a:lnTo>
                  <a:lnTo>
                    <a:pt x="5605272" y="1517909"/>
                  </a:lnTo>
                  <a:lnTo>
                    <a:pt x="5605272" y="54857"/>
                  </a:lnTo>
                  <a:lnTo>
                    <a:pt x="5600932" y="33590"/>
                  </a:lnTo>
                  <a:lnTo>
                    <a:pt x="5589128" y="16143"/>
                  </a:lnTo>
                  <a:lnTo>
                    <a:pt x="5571681" y="4339"/>
                  </a:lnTo>
                  <a:lnTo>
                    <a:pt x="55504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18"/>
            <p:cNvSpPr/>
            <p:nvPr/>
          </p:nvSpPr>
          <p:spPr>
            <a:xfrm>
              <a:off x="6263640" y="822960"/>
              <a:ext cx="5605780" cy="1572895"/>
            </a:xfrm>
            <a:custGeom>
              <a:avLst/>
              <a:gdLst/>
              <a:ahLst/>
              <a:cxnLst/>
              <a:rect l="l" t="t" r="r" b="b"/>
              <a:pathLst>
                <a:path w="5605780" h="1572895">
                  <a:moveTo>
                    <a:pt x="0" y="54857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7" y="0"/>
                  </a:lnTo>
                  <a:lnTo>
                    <a:pt x="5550413" y="0"/>
                  </a:lnTo>
                  <a:lnTo>
                    <a:pt x="5571681" y="4339"/>
                  </a:lnTo>
                  <a:lnTo>
                    <a:pt x="5589128" y="16143"/>
                  </a:lnTo>
                  <a:lnTo>
                    <a:pt x="5600932" y="33590"/>
                  </a:lnTo>
                  <a:lnTo>
                    <a:pt x="5605272" y="54857"/>
                  </a:lnTo>
                  <a:lnTo>
                    <a:pt x="5605272" y="1517909"/>
                  </a:lnTo>
                  <a:lnTo>
                    <a:pt x="5600932" y="1539177"/>
                  </a:lnTo>
                  <a:lnTo>
                    <a:pt x="5589128" y="1556624"/>
                  </a:lnTo>
                  <a:lnTo>
                    <a:pt x="5571681" y="1568428"/>
                  </a:lnTo>
                  <a:lnTo>
                    <a:pt x="5550413" y="1572767"/>
                  </a:lnTo>
                  <a:lnTo>
                    <a:pt x="54857" y="1572767"/>
                  </a:lnTo>
                  <a:lnTo>
                    <a:pt x="33590" y="1568428"/>
                  </a:lnTo>
                  <a:lnTo>
                    <a:pt x="16143" y="1556624"/>
                  </a:lnTo>
                  <a:lnTo>
                    <a:pt x="4339" y="1539177"/>
                  </a:lnTo>
                  <a:lnTo>
                    <a:pt x="0" y="1517909"/>
                  </a:lnTo>
                  <a:lnTo>
                    <a:pt x="0" y="54857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6263640" y="822960"/>
              <a:ext cx="50800" cy="1572895"/>
            </a:xfrm>
            <a:custGeom>
              <a:avLst/>
              <a:gdLst/>
              <a:ahLst/>
              <a:cxnLst/>
              <a:rect l="l" t="t" r="r" b="b"/>
              <a:pathLst>
                <a:path w="50800" h="1572895">
                  <a:moveTo>
                    <a:pt x="50292" y="0"/>
                  </a:moveTo>
                  <a:lnTo>
                    <a:pt x="0" y="0"/>
                  </a:lnTo>
                  <a:lnTo>
                    <a:pt x="0" y="1572767"/>
                  </a:lnTo>
                  <a:lnTo>
                    <a:pt x="50292" y="1572767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01384" y="883512"/>
            <a:ext cx="274421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400" dirty="0"/>
              <a:t>OCR &amp; IMAGE PROCESSING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07687" y="1209485"/>
            <a:ext cx="5137318" cy="652102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71450" marR="973455" indent="-171450">
              <a:lnSpc>
                <a:spcPts val="1140"/>
              </a:lnSpc>
              <a:spcBef>
                <a:spcPts val="185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sz="1000" dirty="0" err="1">
                <a:solidFill>
                  <a:srgbClr val="2A3544"/>
                </a:solidFill>
                <a:latin typeface="Calibri"/>
                <a:cs typeface="Calibri"/>
              </a:rPr>
              <a:t>OCR.space</a:t>
            </a:r>
            <a:r>
              <a:rPr lang="en-US" sz="1000" dirty="0">
                <a:solidFill>
                  <a:srgbClr val="2A3544"/>
                </a:solidFill>
                <a:latin typeface="Calibri"/>
                <a:cs typeface="Calibri"/>
              </a:rPr>
              <a:t> API — image-to-text extraction and OCR result overlays</a:t>
            </a:r>
          </a:p>
          <a:p>
            <a:pPr marL="171450" marR="973455" indent="-171450">
              <a:lnSpc>
                <a:spcPts val="1140"/>
              </a:lnSpc>
              <a:spcBef>
                <a:spcPts val="185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sz="1000" dirty="0">
                <a:solidFill>
                  <a:srgbClr val="2A3544"/>
                </a:solidFill>
                <a:latin typeface="Calibri"/>
                <a:cs typeface="Calibri"/>
              </a:rPr>
              <a:t>OpenCV — image preprocessing, resizing and perspective correction</a:t>
            </a:r>
          </a:p>
          <a:p>
            <a:pPr marL="171450" marR="973455" indent="-171450">
              <a:lnSpc>
                <a:spcPts val="1140"/>
              </a:lnSpc>
              <a:spcBef>
                <a:spcPts val="185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sz="1000" dirty="0">
                <a:solidFill>
                  <a:srgbClr val="2A3544"/>
                </a:solidFill>
                <a:latin typeface="Calibri"/>
                <a:cs typeface="Calibri"/>
              </a:rPr>
              <a:t>OCR confidence and extracted text used as inputs for downstream validation</a:t>
            </a:r>
            <a:endParaRPr sz="1000" dirty="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13690" y="2506217"/>
            <a:ext cx="5590540" cy="1598295"/>
            <a:chOff x="313690" y="2480817"/>
            <a:chExt cx="5590540" cy="1598295"/>
          </a:xfrm>
        </p:grpSpPr>
        <p:sp>
          <p:nvSpPr>
            <p:cNvPr id="23" name="object 23"/>
            <p:cNvSpPr/>
            <p:nvPr/>
          </p:nvSpPr>
          <p:spPr>
            <a:xfrm>
              <a:off x="313690" y="2493517"/>
              <a:ext cx="5590540" cy="1585595"/>
            </a:xfrm>
            <a:custGeom>
              <a:avLst/>
              <a:gdLst/>
              <a:ahLst/>
              <a:cxnLst/>
              <a:rect l="l" t="t" r="r" b="b"/>
              <a:pathLst>
                <a:path w="5590540" h="1585595">
                  <a:moveTo>
                    <a:pt x="5535238" y="0"/>
                  </a:moveTo>
                  <a:lnTo>
                    <a:pt x="55301" y="0"/>
                  </a:lnTo>
                  <a:lnTo>
                    <a:pt x="33861" y="4374"/>
                  </a:lnTo>
                  <a:lnTo>
                    <a:pt x="16273" y="16273"/>
                  </a:lnTo>
                  <a:lnTo>
                    <a:pt x="4374" y="33861"/>
                  </a:lnTo>
                  <a:lnTo>
                    <a:pt x="0" y="55301"/>
                  </a:lnTo>
                  <a:lnTo>
                    <a:pt x="0" y="1530166"/>
                  </a:lnTo>
                  <a:lnTo>
                    <a:pt x="4374" y="1551605"/>
                  </a:lnTo>
                  <a:lnTo>
                    <a:pt x="16273" y="1569193"/>
                  </a:lnTo>
                  <a:lnTo>
                    <a:pt x="33861" y="1581092"/>
                  </a:lnTo>
                  <a:lnTo>
                    <a:pt x="55301" y="1585467"/>
                  </a:lnTo>
                  <a:lnTo>
                    <a:pt x="5535238" y="1585467"/>
                  </a:lnTo>
                  <a:lnTo>
                    <a:pt x="5556678" y="1581092"/>
                  </a:lnTo>
                  <a:lnTo>
                    <a:pt x="5574265" y="1569193"/>
                  </a:lnTo>
                  <a:lnTo>
                    <a:pt x="5586165" y="1551605"/>
                  </a:lnTo>
                  <a:lnTo>
                    <a:pt x="5590539" y="1530166"/>
                  </a:lnTo>
                  <a:lnTo>
                    <a:pt x="5590539" y="55301"/>
                  </a:lnTo>
                  <a:lnTo>
                    <a:pt x="5586165" y="33861"/>
                  </a:lnTo>
                  <a:lnTo>
                    <a:pt x="5574265" y="16273"/>
                  </a:lnTo>
                  <a:lnTo>
                    <a:pt x="5556678" y="4374"/>
                  </a:lnTo>
                  <a:lnTo>
                    <a:pt x="5535238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4" name="object 24"/>
            <p:cNvSpPr/>
            <p:nvPr/>
          </p:nvSpPr>
          <p:spPr>
            <a:xfrm>
              <a:off x="320040" y="2487167"/>
              <a:ext cx="5577840" cy="1572895"/>
            </a:xfrm>
            <a:custGeom>
              <a:avLst/>
              <a:gdLst/>
              <a:ahLst/>
              <a:cxnLst/>
              <a:rect l="l" t="t" r="r" b="b"/>
              <a:pathLst>
                <a:path w="5577840" h="1572895">
                  <a:moveTo>
                    <a:pt x="5522981" y="0"/>
                  </a:moveTo>
                  <a:lnTo>
                    <a:pt x="54857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7"/>
                  </a:lnTo>
                  <a:lnTo>
                    <a:pt x="0" y="1517909"/>
                  </a:lnTo>
                  <a:lnTo>
                    <a:pt x="4339" y="1539177"/>
                  </a:lnTo>
                  <a:lnTo>
                    <a:pt x="16143" y="1556624"/>
                  </a:lnTo>
                  <a:lnTo>
                    <a:pt x="33590" y="1568428"/>
                  </a:lnTo>
                  <a:lnTo>
                    <a:pt x="54857" y="1572767"/>
                  </a:lnTo>
                  <a:lnTo>
                    <a:pt x="5522981" y="1572767"/>
                  </a:lnTo>
                  <a:lnTo>
                    <a:pt x="5544249" y="1568428"/>
                  </a:lnTo>
                  <a:lnTo>
                    <a:pt x="5561696" y="1556624"/>
                  </a:lnTo>
                  <a:lnTo>
                    <a:pt x="5573500" y="1539177"/>
                  </a:lnTo>
                  <a:lnTo>
                    <a:pt x="5577840" y="1517909"/>
                  </a:lnTo>
                  <a:lnTo>
                    <a:pt x="5577840" y="54857"/>
                  </a:lnTo>
                  <a:lnTo>
                    <a:pt x="5573500" y="33590"/>
                  </a:lnTo>
                  <a:lnTo>
                    <a:pt x="5561696" y="16143"/>
                  </a:lnTo>
                  <a:lnTo>
                    <a:pt x="5544249" y="4339"/>
                  </a:lnTo>
                  <a:lnTo>
                    <a:pt x="55229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25"/>
            <p:cNvSpPr/>
            <p:nvPr/>
          </p:nvSpPr>
          <p:spPr>
            <a:xfrm>
              <a:off x="320040" y="2487167"/>
              <a:ext cx="5577840" cy="1572895"/>
            </a:xfrm>
            <a:custGeom>
              <a:avLst/>
              <a:gdLst/>
              <a:ahLst/>
              <a:cxnLst/>
              <a:rect l="l" t="t" r="r" b="b"/>
              <a:pathLst>
                <a:path w="5577840" h="1572895">
                  <a:moveTo>
                    <a:pt x="0" y="54857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7" y="0"/>
                  </a:lnTo>
                  <a:lnTo>
                    <a:pt x="5522981" y="0"/>
                  </a:lnTo>
                  <a:lnTo>
                    <a:pt x="5544249" y="4339"/>
                  </a:lnTo>
                  <a:lnTo>
                    <a:pt x="5561696" y="16143"/>
                  </a:lnTo>
                  <a:lnTo>
                    <a:pt x="5573500" y="33590"/>
                  </a:lnTo>
                  <a:lnTo>
                    <a:pt x="5577840" y="54857"/>
                  </a:lnTo>
                  <a:lnTo>
                    <a:pt x="5577840" y="1517909"/>
                  </a:lnTo>
                  <a:lnTo>
                    <a:pt x="5573500" y="1539177"/>
                  </a:lnTo>
                  <a:lnTo>
                    <a:pt x="5561696" y="1556624"/>
                  </a:lnTo>
                  <a:lnTo>
                    <a:pt x="5544249" y="1568428"/>
                  </a:lnTo>
                  <a:lnTo>
                    <a:pt x="5522981" y="1572767"/>
                  </a:lnTo>
                  <a:lnTo>
                    <a:pt x="54857" y="1572767"/>
                  </a:lnTo>
                  <a:lnTo>
                    <a:pt x="33590" y="1568428"/>
                  </a:lnTo>
                  <a:lnTo>
                    <a:pt x="16143" y="1556624"/>
                  </a:lnTo>
                  <a:lnTo>
                    <a:pt x="4339" y="1539177"/>
                  </a:lnTo>
                  <a:lnTo>
                    <a:pt x="0" y="1517909"/>
                  </a:lnTo>
                  <a:lnTo>
                    <a:pt x="0" y="54857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" name="object 26"/>
            <p:cNvSpPr/>
            <p:nvPr/>
          </p:nvSpPr>
          <p:spPr>
            <a:xfrm>
              <a:off x="320040" y="2487167"/>
              <a:ext cx="50800" cy="1572895"/>
            </a:xfrm>
            <a:custGeom>
              <a:avLst/>
              <a:gdLst/>
              <a:ahLst/>
              <a:cxnLst/>
              <a:rect l="l" t="t" r="r" b="b"/>
              <a:pathLst>
                <a:path w="50800" h="1572895">
                  <a:moveTo>
                    <a:pt x="50292" y="0"/>
                  </a:moveTo>
                  <a:lnTo>
                    <a:pt x="0" y="0"/>
                  </a:lnTo>
                  <a:lnTo>
                    <a:pt x="0" y="1572767"/>
                  </a:lnTo>
                  <a:lnTo>
                    <a:pt x="50292" y="1572767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0070B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57783" y="2547720"/>
            <a:ext cx="358647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400" dirty="0"/>
              <a:t>AI / COMPLIANCE PROCESSING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0672" y="2843043"/>
            <a:ext cx="6111241" cy="89601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71450" marR="1088390" indent="-171450">
              <a:lnSpc>
                <a:spcPts val="1140"/>
              </a:lnSpc>
              <a:spcBef>
                <a:spcPts val="185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sz="1050" dirty="0">
                <a:solidFill>
                  <a:srgbClr val="2A3544"/>
                </a:solidFill>
                <a:latin typeface="Calibri"/>
                <a:cs typeface="Calibri"/>
              </a:rPr>
              <a:t>Groq API — fast LLM inference for structured AI processing</a:t>
            </a:r>
          </a:p>
          <a:p>
            <a:pPr marL="171450" marR="1088390" indent="-171450">
              <a:lnSpc>
                <a:spcPts val="1140"/>
              </a:lnSpc>
              <a:spcBef>
                <a:spcPts val="185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sz="1050" dirty="0">
                <a:solidFill>
                  <a:srgbClr val="2A3544"/>
                </a:solidFill>
                <a:latin typeface="Calibri"/>
                <a:cs typeface="Calibri"/>
              </a:rPr>
              <a:t>Rule-based validation — deterministic checks for mandatory declarations</a:t>
            </a:r>
          </a:p>
          <a:p>
            <a:pPr marL="171450" marR="1088390" indent="-171450">
              <a:lnSpc>
                <a:spcPts val="1140"/>
              </a:lnSpc>
              <a:spcBef>
                <a:spcPts val="185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sz="1050" dirty="0">
                <a:solidFill>
                  <a:srgbClr val="2A3544"/>
                </a:solidFill>
                <a:latin typeface="Calibri"/>
                <a:cs typeface="Calibri"/>
              </a:rPr>
              <a:t>Confidence-aware validation — uncertain extraction/validation routed to NEEDS REVIEW</a:t>
            </a:r>
          </a:p>
          <a:p>
            <a:pPr marL="171450" marR="1088390" indent="-171450">
              <a:lnSpc>
                <a:spcPts val="1140"/>
              </a:lnSpc>
              <a:spcBef>
                <a:spcPts val="185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sz="1050" dirty="0">
                <a:solidFill>
                  <a:srgbClr val="2A3544"/>
                </a:solidFill>
                <a:latin typeface="Calibri"/>
                <a:cs typeface="Calibri"/>
              </a:rPr>
              <a:t>AI output is treated as decision support, not an independent legal verdict</a:t>
            </a:r>
            <a:endParaRPr lang="en-US" sz="1050" dirty="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257290" y="2480817"/>
            <a:ext cx="5618480" cy="1598295"/>
            <a:chOff x="6257290" y="2480817"/>
            <a:chExt cx="5618480" cy="1598295"/>
          </a:xfrm>
        </p:grpSpPr>
        <p:sp>
          <p:nvSpPr>
            <p:cNvPr id="30" name="object 30"/>
            <p:cNvSpPr/>
            <p:nvPr/>
          </p:nvSpPr>
          <p:spPr>
            <a:xfrm>
              <a:off x="6257290" y="2493517"/>
              <a:ext cx="5618480" cy="1585595"/>
            </a:xfrm>
            <a:custGeom>
              <a:avLst/>
              <a:gdLst/>
              <a:ahLst/>
              <a:cxnLst/>
              <a:rect l="l" t="t" r="r" b="b"/>
              <a:pathLst>
                <a:path w="5618480" h="1585595">
                  <a:moveTo>
                    <a:pt x="5562670" y="0"/>
                  </a:moveTo>
                  <a:lnTo>
                    <a:pt x="55301" y="0"/>
                  </a:lnTo>
                  <a:lnTo>
                    <a:pt x="33861" y="4374"/>
                  </a:lnTo>
                  <a:lnTo>
                    <a:pt x="16273" y="16273"/>
                  </a:lnTo>
                  <a:lnTo>
                    <a:pt x="4374" y="33861"/>
                  </a:lnTo>
                  <a:lnTo>
                    <a:pt x="0" y="55301"/>
                  </a:lnTo>
                  <a:lnTo>
                    <a:pt x="0" y="1530166"/>
                  </a:lnTo>
                  <a:lnTo>
                    <a:pt x="4374" y="1551605"/>
                  </a:lnTo>
                  <a:lnTo>
                    <a:pt x="16273" y="1569193"/>
                  </a:lnTo>
                  <a:lnTo>
                    <a:pt x="33861" y="1581092"/>
                  </a:lnTo>
                  <a:lnTo>
                    <a:pt x="55301" y="1585467"/>
                  </a:lnTo>
                  <a:lnTo>
                    <a:pt x="5562670" y="1585467"/>
                  </a:lnTo>
                  <a:lnTo>
                    <a:pt x="5584110" y="1581092"/>
                  </a:lnTo>
                  <a:lnTo>
                    <a:pt x="5601697" y="1569193"/>
                  </a:lnTo>
                  <a:lnTo>
                    <a:pt x="5613597" y="1551605"/>
                  </a:lnTo>
                  <a:lnTo>
                    <a:pt x="5617972" y="1530166"/>
                  </a:lnTo>
                  <a:lnTo>
                    <a:pt x="5617972" y="55301"/>
                  </a:lnTo>
                  <a:lnTo>
                    <a:pt x="5613597" y="33861"/>
                  </a:lnTo>
                  <a:lnTo>
                    <a:pt x="5601697" y="16273"/>
                  </a:lnTo>
                  <a:lnTo>
                    <a:pt x="5584110" y="4374"/>
                  </a:lnTo>
                  <a:lnTo>
                    <a:pt x="5562670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object 31"/>
            <p:cNvSpPr/>
            <p:nvPr/>
          </p:nvSpPr>
          <p:spPr>
            <a:xfrm>
              <a:off x="6263640" y="2487167"/>
              <a:ext cx="5605780" cy="1572895"/>
            </a:xfrm>
            <a:custGeom>
              <a:avLst/>
              <a:gdLst/>
              <a:ahLst/>
              <a:cxnLst/>
              <a:rect l="l" t="t" r="r" b="b"/>
              <a:pathLst>
                <a:path w="5605780" h="1572895">
                  <a:moveTo>
                    <a:pt x="5550413" y="0"/>
                  </a:moveTo>
                  <a:lnTo>
                    <a:pt x="54857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7"/>
                  </a:lnTo>
                  <a:lnTo>
                    <a:pt x="0" y="1517909"/>
                  </a:lnTo>
                  <a:lnTo>
                    <a:pt x="4339" y="1539177"/>
                  </a:lnTo>
                  <a:lnTo>
                    <a:pt x="16143" y="1556624"/>
                  </a:lnTo>
                  <a:lnTo>
                    <a:pt x="33590" y="1568428"/>
                  </a:lnTo>
                  <a:lnTo>
                    <a:pt x="54857" y="1572767"/>
                  </a:lnTo>
                  <a:lnTo>
                    <a:pt x="5550413" y="1572767"/>
                  </a:lnTo>
                  <a:lnTo>
                    <a:pt x="5571681" y="1568428"/>
                  </a:lnTo>
                  <a:lnTo>
                    <a:pt x="5589128" y="1556624"/>
                  </a:lnTo>
                  <a:lnTo>
                    <a:pt x="5600932" y="1539177"/>
                  </a:lnTo>
                  <a:lnTo>
                    <a:pt x="5605272" y="1517909"/>
                  </a:lnTo>
                  <a:lnTo>
                    <a:pt x="5605272" y="54857"/>
                  </a:lnTo>
                  <a:lnTo>
                    <a:pt x="5600932" y="33590"/>
                  </a:lnTo>
                  <a:lnTo>
                    <a:pt x="5589128" y="16143"/>
                  </a:lnTo>
                  <a:lnTo>
                    <a:pt x="5571681" y="4339"/>
                  </a:lnTo>
                  <a:lnTo>
                    <a:pt x="55504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2" name="object 32"/>
            <p:cNvSpPr/>
            <p:nvPr/>
          </p:nvSpPr>
          <p:spPr>
            <a:xfrm>
              <a:off x="6263640" y="2487167"/>
              <a:ext cx="5605780" cy="1572895"/>
            </a:xfrm>
            <a:custGeom>
              <a:avLst/>
              <a:gdLst/>
              <a:ahLst/>
              <a:cxnLst/>
              <a:rect l="l" t="t" r="r" b="b"/>
              <a:pathLst>
                <a:path w="5605780" h="1572895">
                  <a:moveTo>
                    <a:pt x="0" y="54857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7" y="0"/>
                  </a:lnTo>
                  <a:lnTo>
                    <a:pt x="5550413" y="0"/>
                  </a:lnTo>
                  <a:lnTo>
                    <a:pt x="5571681" y="4339"/>
                  </a:lnTo>
                  <a:lnTo>
                    <a:pt x="5589128" y="16143"/>
                  </a:lnTo>
                  <a:lnTo>
                    <a:pt x="5600932" y="33590"/>
                  </a:lnTo>
                  <a:lnTo>
                    <a:pt x="5605272" y="54857"/>
                  </a:lnTo>
                  <a:lnTo>
                    <a:pt x="5605272" y="1517909"/>
                  </a:lnTo>
                  <a:lnTo>
                    <a:pt x="5600932" y="1539177"/>
                  </a:lnTo>
                  <a:lnTo>
                    <a:pt x="5589128" y="1556624"/>
                  </a:lnTo>
                  <a:lnTo>
                    <a:pt x="5571681" y="1568428"/>
                  </a:lnTo>
                  <a:lnTo>
                    <a:pt x="5550413" y="1572767"/>
                  </a:lnTo>
                  <a:lnTo>
                    <a:pt x="54857" y="1572767"/>
                  </a:lnTo>
                  <a:lnTo>
                    <a:pt x="33590" y="1568428"/>
                  </a:lnTo>
                  <a:lnTo>
                    <a:pt x="16143" y="1556624"/>
                  </a:lnTo>
                  <a:lnTo>
                    <a:pt x="4339" y="1539177"/>
                  </a:lnTo>
                  <a:lnTo>
                    <a:pt x="0" y="1517909"/>
                  </a:lnTo>
                  <a:lnTo>
                    <a:pt x="0" y="54857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3" name="object 33"/>
            <p:cNvSpPr/>
            <p:nvPr/>
          </p:nvSpPr>
          <p:spPr>
            <a:xfrm>
              <a:off x="6263640" y="2487167"/>
              <a:ext cx="50800" cy="1572895"/>
            </a:xfrm>
            <a:custGeom>
              <a:avLst/>
              <a:gdLst/>
              <a:ahLst/>
              <a:cxnLst/>
              <a:rect l="l" t="t" r="r" b="b"/>
              <a:pathLst>
                <a:path w="50800" h="1572895">
                  <a:moveTo>
                    <a:pt x="50292" y="0"/>
                  </a:moveTo>
                  <a:lnTo>
                    <a:pt x="0" y="0"/>
                  </a:lnTo>
                  <a:lnTo>
                    <a:pt x="0" y="1572767"/>
                  </a:lnTo>
                  <a:lnTo>
                    <a:pt x="50292" y="1572767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501384" y="2547720"/>
            <a:ext cx="297497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F4D79"/>
                </a:solidFill>
                <a:latin typeface="Calibri"/>
                <a:cs typeface="Calibri"/>
              </a:rPr>
              <a:t>PROJECT</a:t>
            </a:r>
            <a:r>
              <a:rPr sz="1300" b="1" spc="-30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F4D79"/>
                </a:solidFill>
                <a:latin typeface="Calibri"/>
                <a:cs typeface="Calibri"/>
              </a:rPr>
              <a:t>REPOSITORY</a:t>
            </a:r>
            <a:r>
              <a:rPr sz="1300" b="1" spc="-25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F4D79"/>
                </a:solidFill>
                <a:latin typeface="Calibri"/>
                <a:cs typeface="Calibri"/>
              </a:rPr>
              <a:t>&amp;</a:t>
            </a:r>
            <a:r>
              <a:rPr sz="1300" b="1" spc="-25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F4D79"/>
                </a:solidFill>
                <a:latin typeface="Calibri"/>
                <a:cs typeface="Calibri"/>
              </a:rPr>
              <a:t>DOCUMENTATION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537958" y="2851911"/>
            <a:ext cx="5697221" cy="972702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42900" marR="755015" indent="-342900">
              <a:lnSpc>
                <a:spcPts val="1140"/>
              </a:lnSpc>
              <a:spcBef>
                <a:spcPts val="185"/>
              </a:spcBef>
              <a:buChar char="•"/>
              <a:tabLst>
                <a:tab pos="342900" algn="l"/>
              </a:tabLst>
            </a:pPr>
            <a:r>
              <a:rPr lang="en-IN" sz="1000" dirty="0">
                <a:solidFill>
                  <a:srgbClr val="2A3544"/>
                </a:solidFill>
                <a:latin typeface="Calibri"/>
                <a:cs typeface="Calibri"/>
              </a:rPr>
              <a:t>VALIDRA — source code, architecture and technical documentation (github.com/dhruvpatel16120/Validra)</a:t>
            </a:r>
          </a:p>
          <a:p>
            <a:pPr marL="342900" marR="755015" indent="-342900">
              <a:lnSpc>
                <a:spcPts val="1140"/>
              </a:lnSpc>
              <a:spcBef>
                <a:spcPts val="185"/>
              </a:spcBef>
              <a:buChar char="•"/>
              <a:tabLst>
                <a:tab pos="342900" algn="l"/>
              </a:tabLst>
            </a:pPr>
            <a:r>
              <a:rPr lang="en-IN" sz="1000" dirty="0">
                <a:solidFill>
                  <a:srgbClr val="2A3544"/>
                </a:solidFill>
                <a:latin typeface="Calibri"/>
                <a:cs typeface="Calibri"/>
              </a:rPr>
              <a:t>Next.js — frontend framework</a:t>
            </a:r>
          </a:p>
          <a:p>
            <a:pPr marL="342900" marR="755015" indent="-342900">
              <a:lnSpc>
                <a:spcPts val="1140"/>
              </a:lnSpc>
              <a:spcBef>
                <a:spcPts val="185"/>
              </a:spcBef>
              <a:buChar char="•"/>
              <a:tabLst>
                <a:tab pos="342900" algn="l"/>
              </a:tabLst>
            </a:pPr>
            <a:r>
              <a:rPr lang="en-IN" sz="1000" dirty="0">
                <a:solidFill>
                  <a:srgbClr val="2A3544"/>
                </a:solidFill>
                <a:latin typeface="Calibri"/>
                <a:cs typeface="Calibri"/>
              </a:rPr>
              <a:t>FastAPI — backend API framework</a:t>
            </a:r>
          </a:p>
          <a:p>
            <a:pPr marL="342900" marR="755015" indent="-342900">
              <a:lnSpc>
                <a:spcPts val="1140"/>
              </a:lnSpc>
              <a:spcBef>
                <a:spcPts val="185"/>
              </a:spcBef>
              <a:buChar char="•"/>
              <a:tabLst>
                <a:tab pos="342900" algn="l"/>
              </a:tabLst>
            </a:pPr>
            <a:r>
              <a:rPr lang="en-IN" sz="1000" dirty="0">
                <a:solidFill>
                  <a:srgbClr val="2A3544"/>
                </a:solidFill>
                <a:latin typeface="Calibri"/>
                <a:cs typeface="Calibri"/>
              </a:rPr>
              <a:t>PostgreSQL — inspection and compliance data</a:t>
            </a:r>
          </a:p>
          <a:p>
            <a:pPr marL="342900" marR="755015" indent="-342900">
              <a:lnSpc>
                <a:spcPts val="1140"/>
              </a:lnSpc>
              <a:spcBef>
                <a:spcPts val="185"/>
              </a:spcBef>
              <a:buChar char="•"/>
              <a:tabLst>
                <a:tab pos="342900" algn="l"/>
              </a:tabLst>
            </a:pPr>
            <a:r>
              <a:rPr lang="en-IN" sz="1000" dirty="0">
                <a:solidFill>
                  <a:srgbClr val="2A3544"/>
                </a:solidFill>
                <a:latin typeface="Calibri"/>
                <a:cs typeface="Calibri"/>
              </a:rPr>
              <a:t>ReportLab — compliance report generation</a:t>
            </a:r>
            <a:endParaRPr sz="1000" dirty="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514090" y="4145026"/>
            <a:ext cx="4173220" cy="2037080"/>
            <a:chOff x="3514090" y="4145026"/>
            <a:chExt cx="4173220" cy="2037080"/>
          </a:xfrm>
        </p:grpSpPr>
        <p:sp>
          <p:nvSpPr>
            <p:cNvPr id="44" name="object 44"/>
            <p:cNvSpPr/>
            <p:nvPr/>
          </p:nvSpPr>
          <p:spPr>
            <a:xfrm>
              <a:off x="3514090" y="4157725"/>
              <a:ext cx="4173220" cy="2024380"/>
            </a:xfrm>
            <a:custGeom>
              <a:avLst/>
              <a:gdLst/>
              <a:ahLst/>
              <a:cxnLst/>
              <a:rect l="l" t="t" r="r" b="b"/>
              <a:pathLst>
                <a:path w="4173220" h="2024379">
                  <a:moveTo>
                    <a:pt x="4118015" y="0"/>
                  </a:moveTo>
                  <a:lnTo>
                    <a:pt x="55204" y="0"/>
                  </a:lnTo>
                  <a:lnTo>
                    <a:pt x="33802" y="4366"/>
                  </a:lnTo>
                  <a:lnTo>
                    <a:pt x="16245" y="16245"/>
                  </a:lnTo>
                  <a:lnTo>
                    <a:pt x="4366" y="33802"/>
                  </a:lnTo>
                  <a:lnTo>
                    <a:pt x="0" y="55204"/>
                  </a:lnTo>
                  <a:lnTo>
                    <a:pt x="0" y="1969174"/>
                  </a:lnTo>
                  <a:lnTo>
                    <a:pt x="4366" y="1990576"/>
                  </a:lnTo>
                  <a:lnTo>
                    <a:pt x="16245" y="2008134"/>
                  </a:lnTo>
                  <a:lnTo>
                    <a:pt x="33802" y="2020012"/>
                  </a:lnTo>
                  <a:lnTo>
                    <a:pt x="55204" y="2024379"/>
                  </a:lnTo>
                  <a:lnTo>
                    <a:pt x="4118015" y="2024379"/>
                  </a:lnTo>
                  <a:lnTo>
                    <a:pt x="4139417" y="2020012"/>
                  </a:lnTo>
                  <a:lnTo>
                    <a:pt x="4156974" y="2008134"/>
                  </a:lnTo>
                  <a:lnTo>
                    <a:pt x="4168852" y="1990576"/>
                  </a:lnTo>
                  <a:lnTo>
                    <a:pt x="4173219" y="1969174"/>
                  </a:lnTo>
                  <a:lnTo>
                    <a:pt x="4173219" y="55204"/>
                  </a:lnTo>
                  <a:lnTo>
                    <a:pt x="4168852" y="33802"/>
                  </a:lnTo>
                  <a:lnTo>
                    <a:pt x="4156974" y="16245"/>
                  </a:lnTo>
                  <a:lnTo>
                    <a:pt x="4139417" y="4366"/>
                  </a:lnTo>
                  <a:lnTo>
                    <a:pt x="4118015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5" name="object 45"/>
            <p:cNvSpPr/>
            <p:nvPr/>
          </p:nvSpPr>
          <p:spPr>
            <a:xfrm>
              <a:off x="3520440" y="4151375"/>
              <a:ext cx="4160520" cy="2011680"/>
            </a:xfrm>
            <a:custGeom>
              <a:avLst/>
              <a:gdLst/>
              <a:ahLst/>
              <a:cxnLst/>
              <a:rect l="l" t="t" r="r" b="b"/>
              <a:pathLst>
                <a:path w="4160520" h="2011679">
                  <a:moveTo>
                    <a:pt x="4105661" y="0"/>
                  </a:moveTo>
                  <a:lnTo>
                    <a:pt x="54858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8"/>
                  </a:lnTo>
                  <a:lnTo>
                    <a:pt x="0" y="1956821"/>
                  </a:lnTo>
                  <a:lnTo>
                    <a:pt x="4339" y="1978089"/>
                  </a:lnTo>
                  <a:lnTo>
                    <a:pt x="16143" y="1995536"/>
                  </a:lnTo>
                  <a:lnTo>
                    <a:pt x="33590" y="2007340"/>
                  </a:lnTo>
                  <a:lnTo>
                    <a:pt x="54858" y="2011679"/>
                  </a:lnTo>
                  <a:lnTo>
                    <a:pt x="4105661" y="2011679"/>
                  </a:lnTo>
                  <a:lnTo>
                    <a:pt x="4126929" y="2007340"/>
                  </a:lnTo>
                  <a:lnTo>
                    <a:pt x="4144376" y="1995536"/>
                  </a:lnTo>
                  <a:lnTo>
                    <a:pt x="4156180" y="1978089"/>
                  </a:lnTo>
                  <a:lnTo>
                    <a:pt x="4160520" y="1956821"/>
                  </a:lnTo>
                  <a:lnTo>
                    <a:pt x="4160520" y="54858"/>
                  </a:lnTo>
                  <a:lnTo>
                    <a:pt x="4156180" y="33590"/>
                  </a:lnTo>
                  <a:lnTo>
                    <a:pt x="4144376" y="16143"/>
                  </a:lnTo>
                  <a:lnTo>
                    <a:pt x="4126929" y="4339"/>
                  </a:lnTo>
                  <a:lnTo>
                    <a:pt x="41056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6" name="object 46"/>
            <p:cNvSpPr/>
            <p:nvPr/>
          </p:nvSpPr>
          <p:spPr>
            <a:xfrm>
              <a:off x="3520440" y="4151375"/>
              <a:ext cx="4160520" cy="2011680"/>
            </a:xfrm>
            <a:custGeom>
              <a:avLst/>
              <a:gdLst/>
              <a:ahLst/>
              <a:cxnLst/>
              <a:rect l="l" t="t" r="r" b="b"/>
              <a:pathLst>
                <a:path w="4160520" h="2011679">
                  <a:moveTo>
                    <a:pt x="0" y="54858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8" y="0"/>
                  </a:lnTo>
                  <a:lnTo>
                    <a:pt x="4105661" y="0"/>
                  </a:lnTo>
                  <a:lnTo>
                    <a:pt x="4126929" y="4339"/>
                  </a:lnTo>
                  <a:lnTo>
                    <a:pt x="4144376" y="16143"/>
                  </a:lnTo>
                  <a:lnTo>
                    <a:pt x="4156180" y="33590"/>
                  </a:lnTo>
                  <a:lnTo>
                    <a:pt x="4160520" y="54858"/>
                  </a:lnTo>
                  <a:lnTo>
                    <a:pt x="4160520" y="1956821"/>
                  </a:lnTo>
                  <a:lnTo>
                    <a:pt x="4156180" y="1978089"/>
                  </a:lnTo>
                  <a:lnTo>
                    <a:pt x="4144376" y="1995536"/>
                  </a:lnTo>
                  <a:lnTo>
                    <a:pt x="4126929" y="2007340"/>
                  </a:lnTo>
                  <a:lnTo>
                    <a:pt x="4105661" y="2011679"/>
                  </a:lnTo>
                  <a:lnTo>
                    <a:pt x="54858" y="2011679"/>
                  </a:lnTo>
                  <a:lnTo>
                    <a:pt x="33590" y="2007340"/>
                  </a:lnTo>
                  <a:lnTo>
                    <a:pt x="16143" y="1995536"/>
                  </a:lnTo>
                  <a:lnTo>
                    <a:pt x="4339" y="1978089"/>
                  </a:lnTo>
                  <a:lnTo>
                    <a:pt x="0" y="1956821"/>
                  </a:lnTo>
                  <a:lnTo>
                    <a:pt x="0" y="54858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7" name="object 47"/>
            <p:cNvSpPr/>
            <p:nvPr/>
          </p:nvSpPr>
          <p:spPr>
            <a:xfrm>
              <a:off x="3520440" y="4151375"/>
              <a:ext cx="50800" cy="2011680"/>
            </a:xfrm>
            <a:custGeom>
              <a:avLst/>
              <a:gdLst/>
              <a:ahLst/>
              <a:cxnLst/>
              <a:rect l="l" t="t" r="r" b="b"/>
              <a:pathLst>
                <a:path w="50800" h="2011679">
                  <a:moveTo>
                    <a:pt x="50292" y="0"/>
                  </a:moveTo>
                  <a:lnTo>
                    <a:pt x="0" y="0"/>
                  </a:lnTo>
                  <a:lnTo>
                    <a:pt x="0" y="2011679"/>
                  </a:lnTo>
                  <a:lnTo>
                    <a:pt x="50292" y="2011679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758184" y="4211928"/>
            <a:ext cx="278447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300" b="1" dirty="0">
                <a:solidFill>
                  <a:srgbClr val="1F8A45"/>
                </a:solidFill>
                <a:latin typeface="Calibri"/>
                <a:cs typeface="Calibri"/>
              </a:rPr>
              <a:t>VALIDATION &amp; BENCHMARKING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717522" y="4477196"/>
            <a:ext cx="3961269" cy="122405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88550" marR="571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sz="1050" dirty="0">
                <a:solidFill>
                  <a:srgbClr val="2A3544"/>
                </a:solidFill>
                <a:latin typeface="Calibri"/>
                <a:cs typeface="Calibri"/>
              </a:rPr>
              <a:t>Curated product-label images across selected categories</a:t>
            </a:r>
          </a:p>
          <a:p>
            <a:pPr marL="188550" marR="571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sz="1050" dirty="0">
                <a:solidFill>
                  <a:srgbClr val="2A3544"/>
                </a:solidFill>
                <a:latin typeface="Calibri"/>
                <a:cs typeface="Calibri"/>
              </a:rPr>
              <a:t>Ground-truth annotations for MRP, net quantity, dates, manufacturer/packer and consumer-care fields</a:t>
            </a:r>
          </a:p>
          <a:p>
            <a:pPr marL="188550" marR="571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sz="1050" dirty="0">
                <a:solidFill>
                  <a:srgbClr val="2A3544"/>
                </a:solidFill>
                <a:latin typeface="Calibri"/>
                <a:cs typeface="Calibri"/>
              </a:rPr>
              <a:t>Metrics: extraction accuracy, rule-validation accuracy and processing time</a:t>
            </a:r>
          </a:p>
          <a:p>
            <a:pPr marL="188550" marR="571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sz="1050" dirty="0">
                <a:solidFill>
                  <a:srgbClr val="2A3544"/>
                </a:solidFill>
                <a:latin typeface="Calibri"/>
                <a:cs typeface="Calibri"/>
              </a:rPr>
              <a:t>Edge cases: glare, low contrast, curved surfaces and complex layouts</a:t>
            </a:r>
            <a:endParaRPr sz="1050" dirty="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7851140" y="4112307"/>
            <a:ext cx="4018279" cy="2037080"/>
            <a:chOff x="7857490" y="4145026"/>
            <a:chExt cx="4018279" cy="2037080"/>
          </a:xfrm>
        </p:grpSpPr>
        <p:sp>
          <p:nvSpPr>
            <p:cNvPr id="51" name="object 51"/>
            <p:cNvSpPr/>
            <p:nvPr/>
          </p:nvSpPr>
          <p:spPr>
            <a:xfrm>
              <a:off x="7857490" y="4157725"/>
              <a:ext cx="4018279" cy="2024380"/>
            </a:xfrm>
            <a:custGeom>
              <a:avLst/>
              <a:gdLst/>
              <a:ahLst/>
              <a:cxnLst/>
              <a:rect l="l" t="t" r="r" b="b"/>
              <a:pathLst>
                <a:path w="4018279" h="2024379">
                  <a:moveTo>
                    <a:pt x="3962566" y="0"/>
                  </a:moveTo>
                  <a:lnTo>
                    <a:pt x="55204" y="0"/>
                  </a:lnTo>
                  <a:lnTo>
                    <a:pt x="33802" y="4366"/>
                  </a:lnTo>
                  <a:lnTo>
                    <a:pt x="16245" y="16245"/>
                  </a:lnTo>
                  <a:lnTo>
                    <a:pt x="4366" y="33802"/>
                  </a:lnTo>
                  <a:lnTo>
                    <a:pt x="0" y="55204"/>
                  </a:lnTo>
                  <a:lnTo>
                    <a:pt x="0" y="1969174"/>
                  </a:lnTo>
                  <a:lnTo>
                    <a:pt x="4366" y="1990576"/>
                  </a:lnTo>
                  <a:lnTo>
                    <a:pt x="16245" y="2008134"/>
                  </a:lnTo>
                  <a:lnTo>
                    <a:pt x="33802" y="2020012"/>
                  </a:lnTo>
                  <a:lnTo>
                    <a:pt x="55204" y="2024379"/>
                  </a:lnTo>
                  <a:lnTo>
                    <a:pt x="3962566" y="2024379"/>
                  </a:lnTo>
                  <a:lnTo>
                    <a:pt x="3983968" y="2020012"/>
                  </a:lnTo>
                  <a:lnTo>
                    <a:pt x="4001526" y="2008134"/>
                  </a:lnTo>
                  <a:lnTo>
                    <a:pt x="4013404" y="1990576"/>
                  </a:lnTo>
                  <a:lnTo>
                    <a:pt x="4017772" y="1969174"/>
                  </a:lnTo>
                  <a:lnTo>
                    <a:pt x="4017772" y="55204"/>
                  </a:lnTo>
                  <a:lnTo>
                    <a:pt x="4013404" y="33802"/>
                  </a:lnTo>
                  <a:lnTo>
                    <a:pt x="4001526" y="16245"/>
                  </a:lnTo>
                  <a:lnTo>
                    <a:pt x="3983968" y="4366"/>
                  </a:lnTo>
                  <a:lnTo>
                    <a:pt x="3962566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2" name="object 52"/>
            <p:cNvSpPr/>
            <p:nvPr/>
          </p:nvSpPr>
          <p:spPr>
            <a:xfrm>
              <a:off x="7863840" y="4151375"/>
              <a:ext cx="4005579" cy="2011680"/>
            </a:xfrm>
            <a:custGeom>
              <a:avLst/>
              <a:gdLst/>
              <a:ahLst/>
              <a:cxnLst/>
              <a:rect l="l" t="t" r="r" b="b"/>
              <a:pathLst>
                <a:path w="4005579" h="2011679">
                  <a:moveTo>
                    <a:pt x="3950213" y="0"/>
                  </a:moveTo>
                  <a:lnTo>
                    <a:pt x="54858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8"/>
                  </a:lnTo>
                  <a:lnTo>
                    <a:pt x="0" y="1956821"/>
                  </a:lnTo>
                  <a:lnTo>
                    <a:pt x="4339" y="1978089"/>
                  </a:lnTo>
                  <a:lnTo>
                    <a:pt x="16143" y="1995536"/>
                  </a:lnTo>
                  <a:lnTo>
                    <a:pt x="33590" y="2007340"/>
                  </a:lnTo>
                  <a:lnTo>
                    <a:pt x="54858" y="2011679"/>
                  </a:lnTo>
                  <a:lnTo>
                    <a:pt x="3950213" y="2011679"/>
                  </a:lnTo>
                  <a:lnTo>
                    <a:pt x="3971481" y="2007340"/>
                  </a:lnTo>
                  <a:lnTo>
                    <a:pt x="3988928" y="1995536"/>
                  </a:lnTo>
                  <a:lnTo>
                    <a:pt x="4000732" y="1978089"/>
                  </a:lnTo>
                  <a:lnTo>
                    <a:pt x="4005072" y="1956821"/>
                  </a:lnTo>
                  <a:lnTo>
                    <a:pt x="4005072" y="54858"/>
                  </a:lnTo>
                  <a:lnTo>
                    <a:pt x="4000732" y="33590"/>
                  </a:lnTo>
                  <a:lnTo>
                    <a:pt x="3988928" y="16143"/>
                  </a:lnTo>
                  <a:lnTo>
                    <a:pt x="3971481" y="4339"/>
                  </a:lnTo>
                  <a:lnTo>
                    <a:pt x="39502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3" name="object 53"/>
            <p:cNvSpPr/>
            <p:nvPr/>
          </p:nvSpPr>
          <p:spPr>
            <a:xfrm>
              <a:off x="7863840" y="4151375"/>
              <a:ext cx="4005579" cy="2011680"/>
            </a:xfrm>
            <a:custGeom>
              <a:avLst/>
              <a:gdLst/>
              <a:ahLst/>
              <a:cxnLst/>
              <a:rect l="l" t="t" r="r" b="b"/>
              <a:pathLst>
                <a:path w="4005579" h="2011679">
                  <a:moveTo>
                    <a:pt x="0" y="54858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8" y="0"/>
                  </a:lnTo>
                  <a:lnTo>
                    <a:pt x="3950213" y="0"/>
                  </a:lnTo>
                  <a:lnTo>
                    <a:pt x="3971481" y="4339"/>
                  </a:lnTo>
                  <a:lnTo>
                    <a:pt x="3988928" y="16143"/>
                  </a:lnTo>
                  <a:lnTo>
                    <a:pt x="4000732" y="33590"/>
                  </a:lnTo>
                  <a:lnTo>
                    <a:pt x="4005072" y="54858"/>
                  </a:lnTo>
                  <a:lnTo>
                    <a:pt x="4005072" y="1956821"/>
                  </a:lnTo>
                  <a:lnTo>
                    <a:pt x="4000732" y="1978089"/>
                  </a:lnTo>
                  <a:lnTo>
                    <a:pt x="3988928" y="1995536"/>
                  </a:lnTo>
                  <a:lnTo>
                    <a:pt x="3971481" y="2007340"/>
                  </a:lnTo>
                  <a:lnTo>
                    <a:pt x="3950213" y="2011679"/>
                  </a:lnTo>
                  <a:lnTo>
                    <a:pt x="54858" y="2011679"/>
                  </a:lnTo>
                  <a:lnTo>
                    <a:pt x="33590" y="2007340"/>
                  </a:lnTo>
                  <a:lnTo>
                    <a:pt x="16143" y="1995536"/>
                  </a:lnTo>
                  <a:lnTo>
                    <a:pt x="4339" y="1978089"/>
                  </a:lnTo>
                  <a:lnTo>
                    <a:pt x="0" y="1956821"/>
                  </a:lnTo>
                  <a:lnTo>
                    <a:pt x="0" y="54858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4" name="object 54"/>
            <p:cNvSpPr/>
            <p:nvPr/>
          </p:nvSpPr>
          <p:spPr>
            <a:xfrm>
              <a:off x="7863840" y="4151375"/>
              <a:ext cx="50800" cy="2011680"/>
            </a:xfrm>
            <a:custGeom>
              <a:avLst/>
              <a:gdLst/>
              <a:ahLst/>
              <a:cxnLst/>
              <a:rect l="l" t="t" r="r" b="b"/>
              <a:pathLst>
                <a:path w="50800" h="2011679">
                  <a:moveTo>
                    <a:pt x="50292" y="0"/>
                  </a:moveTo>
                  <a:lnTo>
                    <a:pt x="0" y="0"/>
                  </a:lnTo>
                  <a:lnTo>
                    <a:pt x="0" y="2011679"/>
                  </a:lnTo>
                  <a:lnTo>
                    <a:pt x="50292" y="2011679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988871" y="4301657"/>
            <a:ext cx="267017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300" b="1" dirty="0">
                <a:solidFill>
                  <a:srgbClr val="E7720C"/>
                </a:solidFill>
                <a:latin typeface="Calibri"/>
                <a:cs typeface="Calibri"/>
              </a:rPr>
              <a:t>COMPLIANCE PRACTICE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016950" y="4496005"/>
            <a:ext cx="3491957" cy="1290097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71450" indent="-17145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r>
              <a:rPr lang="en-US" sz="1050" spc="-10" dirty="0">
                <a:solidFill>
                  <a:srgbClr val="2A3544"/>
                </a:solidFill>
                <a:latin typeface="Calibri"/>
                <a:cs typeface="Calibri"/>
              </a:rPr>
              <a:t>Mandatory declarations defined under the Packaged Commodities Rules</a:t>
            </a:r>
          </a:p>
          <a:p>
            <a:pPr marL="171450" indent="-17145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r>
              <a:rPr lang="en-US" sz="1050" spc="-10" dirty="0">
                <a:solidFill>
                  <a:srgbClr val="2A3544"/>
                </a:solidFill>
                <a:latin typeface="Calibri"/>
                <a:cs typeface="Calibri"/>
              </a:rPr>
              <a:t>Validation of presence, value, format and applicable visual requirements</a:t>
            </a:r>
          </a:p>
          <a:p>
            <a:pPr marL="171450" indent="-17145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r>
              <a:rPr lang="en-US" sz="1050" spc="-10" dirty="0">
                <a:solidFill>
                  <a:srgbClr val="2A3544"/>
                </a:solidFill>
                <a:latin typeface="Calibri"/>
                <a:cs typeface="Calibri"/>
              </a:rPr>
              <a:t>Evidence preservation through original images and extracted data</a:t>
            </a:r>
          </a:p>
          <a:p>
            <a:pPr marL="171450" indent="-17145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r>
              <a:rPr lang="en-US" sz="1050" spc="-10" dirty="0">
                <a:solidFill>
                  <a:srgbClr val="2A3544"/>
                </a:solidFill>
                <a:latin typeface="Calibri"/>
                <a:cs typeface="Calibri"/>
              </a:rPr>
              <a:t>RBAC and audit logs for inspection traceability</a:t>
            </a:r>
            <a:endParaRPr sz="1050" dirty="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0" y="6355079"/>
            <a:ext cx="12192000" cy="502920"/>
            <a:chOff x="0" y="6355079"/>
            <a:chExt cx="12192000" cy="502920"/>
          </a:xfrm>
        </p:grpSpPr>
        <p:sp>
          <p:nvSpPr>
            <p:cNvPr id="58" name="object 58"/>
            <p:cNvSpPr/>
            <p:nvPr/>
          </p:nvSpPr>
          <p:spPr>
            <a:xfrm>
              <a:off x="0" y="6355079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20">
                  <a:moveTo>
                    <a:pt x="12191694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2191694" y="45720"/>
                  </a:lnTo>
                  <a:lnTo>
                    <a:pt x="12191694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9" name="object 59"/>
            <p:cNvSpPr/>
            <p:nvPr/>
          </p:nvSpPr>
          <p:spPr>
            <a:xfrm>
              <a:off x="0" y="6355079"/>
              <a:ext cx="6099175" cy="45720"/>
            </a:xfrm>
            <a:custGeom>
              <a:avLst/>
              <a:gdLst/>
              <a:ahLst/>
              <a:cxnLst/>
              <a:rect l="l" t="t" r="r" b="b"/>
              <a:pathLst>
                <a:path w="6099175" h="45720">
                  <a:moveTo>
                    <a:pt x="6099048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6099048" y="45720"/>
                  </a:lnTo>
                  <a:lnTo>
                    <a:pt x="6099048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0" name="object 60"/>
            <p:cNvSpPr/>
            <p:nvPr/>
          </p:nvSpPr>
          <p:spPr>
            <a:xfrm>
              <a:off x="4206240" y="6400799"/>
              <a:ext cx="7985759" cy="457200"/>
            </a:xfrm>
            <a:custGeom>
              <a:avLst/>
              <a:gdLst/>
              <a:ahLst/>
              <a:cxnLst/>
              <a:rect l="l" t="t" r="r" b="b"/>
              <a:pathLst>
                <a:path w="7985759" h="457200">
                  <a:moveTo>
                    <a:pt x="0" y="457200"/>
                  </a:moveTo>
                  <a:lnTo>
                    <a:pt x="7985454" y="457200"/>
                  </a:lnTo>
                  <a:lnTo>
                    <a:pt x="7985454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1" name="object 61"/>
            <p:cNvSpPr/>
            <p:nvPr/>
          </p:nvSpPr>
          <p:spPr>
            <a:xfrm>
              <a:off x="0" y="6400799"/>
              <a:ext cx="4206240" cy="457200"/>
            </a:xfrm>
            <a:custGeom>
              <a:avLst/>
              <a:gdLst/>
              <a:ahLst/>
              <a:cxnLst/>
              <a:rect l="l" t="t" r="r" b="b"/>
              <a:pathLst>
                <a:path w="4206240" h="457200">
                  <a:moveTo>
                    <a:pt x="420624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206240" y="457200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2" name="object 62"/>
            <p:cNvSpPr/>
            <p:nvPr/>
          </p:nvSpPr>
          <p:spPr>
            <a:xfrm>
              <a:off x="11430000" y="6473951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447" y="0"/>
                  </a:moveTo>
                  <a:lnTo>
                    <a:pt x="106535" y="7980"/>
                  </a:lnTo>
                  <a:lnTo>
                    <a:pt x="63890" y="30158"/>
                  </a:lnTo>
                  <a:lnTo>
                    <a:pt x="30158" y="63890"/>
                  </a:lnTo>
                  <a:lnTo>
                    <a:pt x="7980" y="106535"/>
                  </a:lnTo>
                  <a:lnTo>
                    <a:pt x="0" y="155448"/>
                  </a:lnTo>
                  <a:lnTo>
                    <a:pt x="7980" y="204360"/>
                  </a:lnTo>
                  <a:lnTo>
                    <a:pt x="30158" y="247004"/>
                  </a:lnTo>
                  <a:lnTo>
                    <a:pt x="63890" y="280737"/>
                  </a:lnTo>
                  <a:lnTo>
                    <a:pt x="106535" y="302915"/>
                  </a:lnTo>
                  <a:lnTo>
                    <a:pt x="155447" y="310896"/>
                  </a:lnTo>
                  <a:lnTo>
                    <a:pt x="204360" y="302915"/>
                  </a:lnTo>
                  <a:lnTo>
                    <a:pt x="247004" y="280737"/>
                  </a:lnTo>
                  <a:lnTo>
                    <a:pt x="280737" y="247004"/>
                  </a:lnTo>
                  <a:lnTo>
                    <a:pt x="302915" y="204360"/>
                  </a:lnTo>
                  <a:lnTo>
                    <a:pt x="310895" y="155448"/>
                  </a:lnTo>
                  <a:lnTo>
                    <a:pt x="302915" y="106535"/>
                  </a:lnTo>
                  <a:lnTo>
                    <a:pt x="280737" y="63890"/>
                  </a:lnTo>
                  <a:lnTo>
                    <a:pt x="247004" y="30158"/>
                  </a:lnTo>
                  <a:lnTo>
                    <a:pt x="204360" y="7980"/>
                  </a:lnTo>
                  <a:lnTo>
                    <a:pt x="155447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3" name="object 6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xfrm>
            <a:off x="5426779" y="6558863"/>
            <a:ext cx="4505325" cy="143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A1EF46B-75D2-6F0D-963A-2D5DE0327EBF}"/>
              </a:ext>
            </a:extLst>
          </p:cNvPr>
          <p:cNvSpPr/>
          <p:nvPr/>
        </p:nvSpPr>
        <p:spPr>
          <a:xfrm>
            <a:off x="10098935" y="77995"/>
            <a:ext cx="1832285" cy="5039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5BFF3509-DCA2-9CDC-9E9A-DC65141126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646" y="22037"/>
            <a:ext cx="1210481" cy="571566"/>
          </a:xfrm>
          <a:prstGeom prst="rect">
            <a:avLst/>
          </a:prstGeom>
        </p:spPr>
      </p:pic>
      <p:sp>
        <p:nvSpPr>
          <p:cNvPr id="68" name="Shape 22">
            <a:extLst>
              <a:ext uri="{FF2B5EF4-FFF2-40B4-BE49-F238E27FC236}">
                <a16:creationId xmlns:a16="http://schemas.microsoft.com/office/drawing/2014/main" id="{D4B7A1C7-86A3-92C0-D9F6-0C9D658A8384}"/>
              </a:ext>
            </a:extLst>
          </p:cNvPr>
          <p:cNvSpPr/>
          <p:nvPr/>
        </p:nvSpPr>
        <p:spPr>
          <a:xfrm>
            <a:off x="320040" y="4151376"/>
            <a:ext cx="3017520" cy="2011680"/>
          </a:xfrm>
          <a:prstGeom prst="roundRect">
            <a:avLst>
              <a:gd name="adj" fmla="val 2727"/>
            </a:avLst>
          </a:prstGeom>
          <a:solidFill>
            <a:srgbClr val="F5F7FA"/>
          </a:solidFill>
          <a:ln w="12700">
            <a:solidFill>
              <a:srgbClr val="C7D6E8"/>
            </a:solidFill>
            <a:prstDash val="solid"/>
          </a:ln>
          <a:effectLst>
            <a:outerShdw blurRad="76200" dist="12700" dir="5400000" algn="bl" rotWithShape="0">
              <a:srgbClr val="9AA9BD">
                <a:alpha val="22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69" name="Shape 23">
            <a:extLst>
              <a:ext uri="{FF2B5EF4-FFF2-40B4-BE49-F238E27FC236}">
                <a16:creationId xmlns:a16="http://schemas.microsoft.com/office/drawing/2014/main" id="{DE1AB9B6-DEA7-D193-CCAB-2DB16F8ABCF1}"/>
              </a:ext>
            </a:extLst>
          </p:cNvPr>
          <p:cNvSpPr/>
          <p:nvPr/>
        </p:nvSpPr>
        <p:spPr>
          <a:xfrm>
            <a:off x="320040" y="4151376"/>
            <a:ext cx="50292" cy="2011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BF8166CD-0239-CD7D-B970-4671CCE19A07}"/>
              </a:ext>
            </a:extLst>
          </p:cNvPr>
          <p:cNvSpPr/>
          <p:nvPr/>
        </p:nvSpPr>
        <p:spPr>
          <a:xfrm>
            <a:off x="466344" y="41970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sz="1300" b="1" dirty="0">
                <a:solidFill>
                  <a:srgbClr val="1F3864"/>
                </a:solidFill>
                <a:latin typeface="Calibri"/>
              </a:rPr>
              <a:t>KEY RESEARCH TAKEAWAYS</a:t>
            </a:r>
            <a:endParaRPr lang="en-US" sz="1300" dirty="0"/>
          </a:p>
        </p:txBody>
      </p:sp>
      <p:sp>
        <p:nvSpPr>
          <p:cNvPr id="71" name="Text 25">
            <a:extLst>
              <a:ext uri="{FF2B5EF4-FFF2-40B4-BE49-F238E27FC236}">
                <a16:creationId xmlns:a16="http://schemas.microsoft.com/office/drawing/2014/main" id="{FD715339-A8CF-AF8E-F244-097F0A7E8826}"/>
              </a:ext>
            </a:extLst>
          </p:cNvPr>
          <p:cNvSpPr/>
          <p:nvPr/>
        </p:nvSpPr>
        <p:spPr>
          <a:xfrm>
            <a:off x="411480" y="4484414"/>
            <a:ext cx="299395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A3644"/>
                </a:solidFill>
                <a:latin typeface="Calibri" pitchFamily="34" charset="0"/>
              </a:rPr>
              <a:t>OCR enables automated extraction of mandatory declarations from product-label images.</a:t>
            </a:r>
          </a:p>
          <a:p>
            <a:pPr marL="171450" indent="-17145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A3644"/>
                </a:solidFill>
                <a:latin typeface="Calibri" pitchFamily="34" charset="0"/>
              </a:rPr>
              <a:t>Visual information matters — Text location and bounding boxes help validate placement and other visual requirements.</a:t>
            </a:r>
          </a:p>
          <a:p>
            <a:pPr marL="171450" indent="-17145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A3644"/>
                </a:solidFill>
                <a:latin typeface="Calibri" pitchFamily="34" charset="0"/>
              </a:rPr>
              <a:t>Confidence-based review is essential — Uncertain OCR or extraction results should be flagged for human verification.</a:t>
            </a:r>
          </a:p>
          <a:p>
            <a:pPr marL="171450" indent="-17145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A3644"/>
                </a:solidFill>
                <a:latin typeface="Calibri" pitchFamily="34" charset="0"/>
              </a:rPr>
              <a:t>Rule-based validation improves consistency — Compliance checks can be applied systematically across product inspections.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  <p:sndAc>
          <p:stSnd>
            <p:snd r:embed="rId2" name="page-flip.wav"/>
          </p:stSnd>
        </p:sndAc>
      </p:transition>
    </mc:Choice>
    <mc:Fallback xmlns="">
      <p:transition spd="slow">
        <p:fade/>
        <p:sndAc>
          <p:stSnd>
            <p:snd r:embed="rId4" name="page-flip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1302</TotalTime>
  <Words>1830</Words>
  <Application>Microsoft Office PowerPoint</Application>
  <PresentationFormat>Widescreen</PresentationFormat>
  <Paragraphs>290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SMART INDIA HACKATHON 2026</vt:lpstr>
      <vt:lpstr>IDEA / PROPOSED SOLUTION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DHRUV PATEL</cp:lastModifiedBy>
  <cp:revision>12</cp:revision>
  <dcterms:created xsi:type="dcterms:W3CDTF">2026-08-30T11:25:46Z</dcterms:created>
  <dcterms:modified xsi:type="dcterms:W3CDTF">2026-09-17T05:08:02Z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2026-08-30T00:00:00Z</vt:filetime>
  </property>
  <property fmtid="{D5CDD505-2E9C-101B-9397-08002B2CF9AE}" pid="4" name="Creator">
    <vt:lpwstr>www.smallpdf.com</vt:lpwstr>
  </property>
  <property fmtid="{D5CDD505-2E9C-101B-9397-08002B2CF9AE}" pid="5" name="LastSaved">
    <vt:filetime>2026-08-30T00:00:00Z</vt:filetime>
  </property>
  <property fmtid="{D5CDD505-2E9C-101B-9397-08002B2CF9AE}" pid="6" name="Producer">
    <vt:lpwstr>www.smallpdf.com</vt:lpwstr>
  </property>
</Properties>
</file>