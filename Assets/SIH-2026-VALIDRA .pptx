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78440" y="91439"/>
            <a:ext cx="1463040" cy="51206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0039" y="146304"/>
            <a:ext cx="1600200" cy="384175"/>
          </a:xfrm>
          <a:custGeom>
            <a:avLst/>
            <a:gdLst/>
            <a:ahLst/>
            <a:cxnLst/>
            <a:rect l="l" t="t" r="r" b="b"/>
            <a:pathLst>
              <a:path w="1600200" h="384175">
                <a:moveTo>
                  <a:pt x="1408176" y="0"/>
                </a:moveTo>
                <a:lnTo>
                  <a:pt x="192023" y="0"/>
                </a:lnTo>
                <a:lnTo>
                  <a:pt x="148218" y="5108"/>
                </a:lnTo>
                <a:lnTo>
                  <a:pt x="107887" y="19641"/>
                </a:lnTo>
                <a:lnTo>
                  <a:pt x="72221" y="42409"/>
                </a:lnTo>
                <a:lnTo>
                  <a:pt x="42409" y="72221"/>
                </a:lnTo>
                <a:lnTo>
                  <a:pt x="19641" y="107887"/>
                </a:lnTo>
                <a:lnTo>
                  <a:pt x="5108" y="148218"/>
                </a:lnTo>
                <a:lnTo>
                  <a:pt x="0" y="192024"/>
                </a:lnTo>
                <a:lnTo>
                  <a:pt x="5108" y="235829"/>
                </a:lnTo>
                <a:lnTo>
                  <a:pt x="19641" y="276160"/>
                </a:lnTo>
                <a:lnTo>
                  <a:pt x="42409" y="311826"/>
                </a:lnTo>
                <a:lnTo>
                  <a:pt x="72221" y="341638"/>
                </a:lnTo>
                <a:lnTo>
                  <a:pt x="107887" y="364406"/>
                </a:lnTo>
                <a:lnTo>
                  <a:pt x="148218" y="378939"/>
                </a:lnTo>
                <a:lnTo>
                  <a:pt x="192024" y="384048"/>
                </a:lnTo>
                <a:lnTo>
                  <a:pt x="1408176" y="384048"/>
                </a:lnTo>
                <a:lnTo>
                  <a:pt x="1451981" y="378939"/>
                </a:lnTo>
                <a:lnTo>
                  <a:pt x="1492312" y="364406"/>
                </a:lnTo>
                <a:lnTo>
                  <a:pt x="1527978" y="341638"/>
                </a:lnTo>
                <a:lnTo>
                  <a:pt x="1557790" y="311826"/>
                </a:lnTo>
                <a:lnTo>
                  <a:pt x="1580558" y="276160"/>
                </a:lnTo>
                <a:lnTo>
                  <a:pt x="1595091" y="235829"/>
                </a:lnTo>
                <a:lnTo>
                  <a:pt x="1600200" y="192024"/>
                </a:lnTo>
                <a:lnTo>
                  <a:pt x="1595091" y="148218"/>
                </a:lnTo>
                <a:lnTo>
                  <a:pt x="1580558" y="107887"/>
                </a:lnTo>
                <a:lnTo>
                  <a:pt x="1557790" y="72221"/>
                </a:lnTo>
                <a:lnTo>
                  <a:pt x="1527978" y="42409"/>
                </a:lnTo>
                <a:lnTo>
                  <a:pt x="1492312" y="19641"/>
                </a:lnTo>
                <a:lnTo>
                  <a:pt x="1451981" y="5108"/>
                </a:lnTo>
                <a:lnTo>
                  <a:pt x="1408176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20039" y="146304"/>
            <a:ext cx="1600200" cy="384175"/>
          </a:xfrm>
          <a:custGeom>
            <a:avLst/>
            <a:gdLst/>
            <a:ahLst/>
            <a:cxnLst/>
            <a:rect l="l" t="t" r="r" b="b"/>
            <a:pathLst>
              <a:path w="1600200" h="384175">
                <a:moveTo>
                  <a:pt x="0" y="192024"/>
                </a:moveTo>
                <a:lnTo>
                  <a:pt x="5108" y="148218"/>
                </a:lnTo>
                <a:lnTo>
                  <a:pt x="19641" y="107887"/>
                </a:lnTo>
                <a:lnTo>
                  <a:pt x="42409" y="72221"/>
                </a:lnTo>
                <a:lnTo>
                  <a:pt x="72221" y="42409"/>
                </a:lnTo>
                <a:lnTo>
                  <a:pt x="107887" y="19641"/>
                </a:lnTo>
                <a:lnTo>
                  <a:pt x="148218" y="5108"/>
                </a:lnTo>
                <a:lnTo>
                  <a:pt x="192023" y="0"/>
                </a:lnTo>
                <a:lnTo>
                  <a:pt x="1408176" y="0"/>
                </a:lnTo>
                <a:lnTo>
                  <a:pt x="1451981" y="5108"/>
                </a:lnTo>
                <a:lnTo>
                  <a:pt x="1492312" y="19641"/>
                </a:lnTo>
                <a:lnTo>
                  <a:pt x="1527978" y="42409"/>
                </a:lnTo>
                <a:lnTo>
                  <a:pt x="1557790" y="72221"/>
                </a:lnTo>
                <a:lnTo>
                  <a:pt x="1580558" y="107887"/>
                </a:lnTo>
                <a:lnTo>
                  <a:pt x="1595091" y="148218"/>
                </a:lnTo>
                <a:lnTo>
                  <a:pt x="1600200" y="192024"/>
                </a:lnTo>
                <a:lnTo>
                  <a:pt x="1595091" y="235829"/>
                </a:lnTo>
                <a:lnTo>
                  <a:pt x="1580558" y="276160"/>
                </a:lnTo>
                <a:lnTo>
                  <a:pt x="1557790" y="311826"/>
                </a:lnTo>
                <a:lnTo>
                  <a:pt x="1527978" y="341638"/>
                </a:lnTo>
                <a:lnTo>
                  <a:pt x="1492312" y="364406"/>
                </a:lnTo>
                <a:lnTo>
                  <a:pt x="1451981" y="378939"/>
                </a:lnTo>
                <a:lnTo>
                  <a:pt x="1408176" y="384048"/>
                </a:lnTo>
                <a:lnTo>
                  <a:pt x="192024" y="384048"/>
                </a:lnTo>
                <a:lnTo>
                  <a:pt x="148218" y="378939"/>
                </a:lnTo>
                <a:lnTo>
                  <a:pt x="107887" y="364406"/>
                </a:lnTo>
                <a:lnTo>
                  <a:pt x="72221" y="341638"/>
                </a:lnTo>
                <a:lnTo>
                  <a:pt x="42409" y="311826"/>
                </a:lnTo>
                <a:lnTo>
                  <a:pt x="19641" y="276160"/>
                </a:lnTo>
                <a:lnTo>
                  <a:pt x="5108" y="235829"/>
                </a:lnTo>
                <a:lnTo>
                  <a:pt x="0" y="192024"/>
                </a:lnTo>
                <a:close/>
              </a:path>
            </a:pathLst>
          </a:custGeom>
          <a:ln w="15874">
            <a:solidFill>
              <a:srgbClr val="E772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46861" y="77215"/>
            <a:ext cx="476948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4524" y="3148330"/>
            <a:ext cx="6142355" cy="2192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Template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4499" y="6558863"/>
            <a:ext cx="183896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E4F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08907" y="6553606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3.wav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126" cy="6400800"/>
            <a:chOff x="0" y="0"/>
            <a:chExt cx="12192126" cy="6400800"/>
          </a:xfrm>
        </p:grpSpPr>
        <p:sp>
          <p:nvSpPr>
            <p:cNvPr id="3" name="object 3"/>
            <p:cNvSpPr/>
            <p:nvPr/>
          </p:nvSpPr>
          <p:spPr>
            <a:xfrm>
              <a:off x="256031" y="0"/>
              <a:ext cx="11936095" cy="6400800"/>
            </a:xfrm>
            <a:custGeom>
              <a:avLst/>
              <a:gdLst/>
              <a:ahLst/>
              <a:cxnLst/>
              <a:rect l="l" t="t" r="r" b="b"/>
              <a:pathLst>
                <a:path w="11936095" h="6400800">
                  <a:moveTo>
                    <a:pt x="0" y="6400800"/>
                  </a:moveTo>
                  <a:lnTo>
                    <a:pt x="11935662" y="6400800"/>
                  </a:lnTo>
                  <a:lnTo>
                    <a:pt x="11935662" y="0"/>
                  </a:lnTo>
                  <a:lnTo>
                    <a:pt x="0" y="0"/>
                  </a:lnTo>
                  <a:lnTo>
                    <a:pt x="0" y="6400800"/>
                  </a:lnTo>
                  <a:close/>
                </a:path>
              </a:pathLst>
            </a:custGeom>
            <a:solidFill>
              <a:srgbClr val="FAF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719" y="1234439"/>
              <a:ext cx="3657600" cy="4800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286000"/>
              <a:ext cx="256540" cy="2286000"/>
            </a:xfrm>
            <a:custGeom>
              <a:avLst/>
              <a:gdLst/>
              <a:ahLst/>
              <a:cxnLst/>
              <a:rect l="l" t="t" r="r" b="b"/>
              <a:pathLst>
                <a:path w="256540" h="2286000">
                  <a:moveTo>
                    <a:pt x="0" y="2286000"/>
                  </a:moveTo>
                  <a:lnTo>
                    <a:pt x="256032" y="228600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56540" cy="2286000"/>
            </a:xfrm>
            <a:custGeom>
              <a:avLst/>
              <a:gdLst/>
              <a:ahLst/>
              <a:cxnLst/>
              <a:rect l="l" t="t" r="r" b="b"/>
              <a:pathLst>
                <a:path w="256540" h="2286000">
                  <a:moveTo>
                    <a:pt x="256032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56032" y="228600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72000"/>
              <a:ext cx="256540" cy="1828800"/>
            </a:xfrm>
            <a:custGeom>
              <a:avLst/>
              <a:gdLst/>
              <a:ahLst/>
              <a:cxnLst/>
              <a:rect l="l" t="t" r="r" b="b"/>
              <a:pathLst>
                <a:path w="256540" h="1828800">
                  <a:moveTo>
                    <a:pt x="0" y="1828800"/>
                  </a:moveTo>
                  <a:lnTo>
                    <a:pt x="256032" y="182880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64539" y="557274"/>
            <a:ext cx="5337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SMART</a:t>
            </a:r>
            <a:r>
              <a:rPr spc="340" dirty="0"/>
              <a:t> </a:t>
            </a:r>
            <a:r>
              <a:rPr dirty="0"/>
              <a:t>INDIA</a:t>
            </a:r>
            <a:r>
              <a:rPr spc="345" dirty="0"/>
              <a:t> </a:t>
            </a:r>
            <a:r>
              <a:rPr dirty="0"/>
              <a:t>HACKATHON</a:t>
            </a:r>
            <a:r>
              <a:rPr spc="340" dirty="0"/>
              <a:t> </a:t>
            </a:r>
            <a:r>
              <a:rPr spc="-20" dirty="0"/>
              <a:t>2026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718483" y="1179574"/>
            <a:ext cx="2161540" cy="360680"/>
            <a:chOff x="706881" y="1182369"/>
            <a:chExt cx="2161540" cy="360680"/>
          </a:xfrm>
        </p:grpSpPr>
        <p:sp>
          <p:nvSpPr>
            <p:cNvPr id="11" name="object 11"/>
            <p:cNvSpPr/>
            <p:nvPr/>
          </p:nvSpPr>
          <p:spPr>
            <a:xfrm>
              <a:off x="713231" y="1188719"/>
              <a:ext cx="2148840" cy="347980"/>
            </a:xfrm>
            <a:custGeom>
              <a:avLst/>
              <a:gdLst/>
              <a:ahLst/>
              <a:cxnLst/>
              <a:rect l="l" t="t" r="r" b="b"/>
              <a:pathLst>
                <a:path w="2148840" h="347980">
                  <a:moveTo>
                    <a:pt x="1975104" y="0"/>
                  </a:moveTo>
                  <a:lnTo>
                    <a:pt x="173735" y="0"/>
                  </a:lnTo>
                  <a:lnTo>
                    <a:pt x="127773" y="6250"/>
                  </a:lnTo>
                  <a:lnTo>
                    <a:pt x="86333" y="23862"/>
                  </a:lnTo>
                  <a:lnTo>
                    <a:pt x="51127" y="51127"/>
                  </a:lnTo>
                  <a:lnTo>
                    <a:pt x="23862" y="86333"/>
                  </a:lnTo>
                  <a:lnTo>
                    <a:pt x="6250" y="127773"/>
                  </a:lnTo>
                  <a:lnTo>
                    <a:pt x="0" y="173735"/>
                  </a:lnTo>
                  <a:lnTo>
                    <a:pt x="6250" y="219698"/>
                  </a:lnTo>
                  <a:lnTo>
                    <a:pt x="23862" y="261138"/>
                  </a:lnTo>
                  <a:lnTo>
                    <a:pt x="51127" y="296344"/>
                  </a:lnTo>
                  <a:lnTo>
                    <a:pt x="86333" y="323609"/>
                  </a:lnTo>
                  <a:lnTo>
                    <a:pt x="127773" y="341221"/>
                  </a:lnTo>
                  <a:lnTo>
                    <a:pt x="173735" y="347472"/>
                  </a:lnTo>
                  <a:lnTo>
                    <a:pt x="1975104" y="347472"/>
                  </a:lnTo>
                  <a:lnTo>
                    <a:pt x="2021066" y="341221"/>
                  </a:lnTo>
                  <a:lnTo>
                    <a:pt x="2062506" y="323609"/>
                  </a:lnTo>
                  <a:lnTo>
                    <a:pt x="2097712" y="296344"/>
                  </a:lnTo>
                  <a:lnTo>
                    <a:pt x="2124977" y="261138"/>
                  </a:lnTo>
                  <a:lnTo>
                    <a:pt x="2142589" y="219698"/>
                  </a:lnTo>
                  <a:lnTo>
                    <a:pt x="2148840" y="173735"/>
                  </a:lnTo>
                  <a:lnTo>
                    <a:pt x="2142589" y="127773"/>
                  </a:lnTo>
                  <a:lnTo>
                    <a:pt x="2124977" y="86333"/>
                  </a:lnTo>
                  <a:lnTo>
                    <a:pt x="2097712" y="51127"/>
                  </a:lnTo>
                  <a:lnTo>
                    <a:pt x="2062506" y="23862"/>
                  </a:lnTo>
                  <a:lnTo>
                    <a:pt x="2021066" y="6250"/>
                  </a:lnTo>
                  <a:lnTo>
                    <a:pt x="1975104" y="0"/>
                  </a:lnTo>
                  <a:close/>
                </a:path>
              </a:pathLst>
            </a:custGeom>
            <a:solidFill>
              <a:srgbClr val="EDF2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3231" y="1188719"/>
              <a:ext cx="2148840" cy="347980"/>
            </a:xfrm>
            <a:custGeom>
              <a:avLst/>
              <a:gdLst/>
              <a:ahLst/>
              <a:cxnLst/>
              <a:rect l="l" t="t" r="r" b="b"/>
              <a:pathLst>
                <a:path w="2148840" h="347980">
                  <a:moveTo>
                    <a:pt x="0" y="173735"/>
                  </a:moveTo>
                  <a:lnTo>
                    <a:pt x="6250" y="127773"/>
                  </a:lnTo>
                  <a:lnTo>
                    <a:pt x="23862" y="86333"/>
                  </a:lnTo>
                  <a:lnTo>
                    <a:pt x="51127" y="51127"/>
                  </a:lnTo>
                  <a:lnTo>
                    <a:pt x="86333" y="23862"/>
                  </a:lnTo>
                  <a:lnTo>
                    <a:pt x="127773" y="6250"/>
                  </a:lnTo>
                  <a:lnTo>
                    <a:pt x="173735" y="0"/>
                  </a:lnTo>
                  <a:lnTo>
                    <a:pt x="1975104" y="0"/>
                  </a:lnTo>
                  <a:lnTo>
                    <a:pt x="2021066" y="6250"/>
                  </a:lnTo>
                  <a:lnTo>
                    <a:pt x="2062506" y="23862"/>
                  </a:lnTo>
                  <a:lnTo>
                    <a:pt x="2097712" y="51127"/>
                  </a:lnTo>
                  <a:lnTo>
                    <a:pt x="2124977" y="86333"/>
                  </a:lnTo>
                  <a:lnTo>
                    <a:pt x="2142589" y="127773"/>
                  </a:lnTo>
                  <a:lnTo>
                    <a:pt x="2148840" y="173735"/>
                  </a:lnTo>
                  <a:lnTo>
                    <a:pt x="2142589" y="219698"/>
                  </a:lnTo>
                  <a:lnTo>
                    <a:pt x="2124977" y="261138"/>
                  </a:lnTo>
                  <a:lnTo>
                    <a:pt x="2097712" y="296344"/>
                  </a:lnTo>
                  <a:lnTo>
                    <a:pt x="2062506" y="323609"/>
                  </a:lnTo>
                  <a:lnTo>
                    <a:pt x="2021066" y="341221"/>
                  </a:lnTo>
                  <a:lnTo>
                    <a:pt x="1975104" y="347472"/>
                  </a:lnTo>
                  <a:lnTo>
                    <a:pt x="173735" y="347472"/>
                  </a:lnTo>
                  <a:lnTo>
                    <a:pt x="127773" y="341221"/>
                  </a:lnTo>
                  <a:lnTo>
                    <a:pt x="86333" y="323609"/>
                  </a:lnTo>
                  <a:lnTo>
                    <a:pt x="51127" y="296344"/>
                  </a:lnTo>
                  <a:lnTo>
                    <a:pt x="23862" y="261138"/>
                  </a:lnTo>
                  <a:lnTo>
                    <a:pt x="6250" y="219698"/>
                  </a:lnTo>
                  <a:lnTo>
                    <a:pt x="0" y="173735"/>
                  </a:lnTo>
                  <a:close/>
                </a:path>
              </a:pathLst>
            </a:custGeom>
            <a:ln w="1269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49705" y="1256994"/>
            <a:ext cx="12636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75" dirty="0">
                <a:solidFill>
                  <a:srgbClr val="0070BF"/>
                </a:solidFill>
                <a:latin typeface="Calibri"/>
                <a:cs typeface="Calibri"/>
              </a:rPr>
              <a:t>IDEA</a:t>
            </a:r>
            <a:r>
              <a:rPr sz="1100" b="1" spc="200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0070BF"/>
                </a:solidFill>
                <a:latin typeface="Calibri"/>
                <a:cs typeface="Calibri"/>
              </a:rPr>
              <a:t>SUBMISSION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539" y="1596440"/>
            <a:ext cx="317436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1" spc="140" dirty="0">
                <a:solidFill>
                  <a:srgbClr val="1F4D79"/>
                </a:solidFill>
                <a:latin typeface="Calibri"/>
                <a:cs typeface="Calibri"/>
              </a:rPr>
              <a:t>VALIDRA</a:t>
            </a:r>
            <a:endParaRPr sz="6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259" y="2649728"/>
            <a:ext cx="4836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Evidence-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first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compliance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engine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536A"/>
                </a:solidFill>
                <a:latin typeface="Calibri"/>
                <a:cs typeface="Calibri"/>
              </a:rPr>
              <a:t>for</a:t>
            </a:r>
            <a:r>
              <a:rPr sz="1500" i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packaged</a:t>
            </a:r>
            <a:r>
              <a:rPr sz="1500" i="1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536A"/>
                </a:solidFill>
                <a:latin typeface="Calibri"/>
                <a:cs typeface="Calibri"/>
              </a:rPr>
              <a:t>commodities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5799" y="3154679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5799" y="4251959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799" y="5020055"/>
            <a:ext cx="6035040" cy="329565"/>
          </a:xfrm>
          <a:custGeom>
            <a:avLst/>
            <a:gdLst/>
            <a:ahLst/>
            <a:cxnLst/>
            <a:rect l="l" t="t" r="r" b="b"/>
            <a:pathLst>
              <a:path w="6035040" h="329564">
                <a:moveTo>
                  <a:pt x="6035039" y="0"/>
                </a:moveTo>
                <a:lnTo>
                  <a:pt x="0" y="0"/>
                </a:lnTo>
                <a:lnTo>
                  <a:pt x="0" y="329183"/>
                </a:lnTo>
                <a:lnTo>
                  <a:pt x="6035039" y="329183"/>
                </a:lnTo>
                <a:lnTo>
                  <a:pt x="6035039" y="0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82624" y="3148330"/>
          <a:ext cx="6019165" cy="219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57150">
                      <a:solidFill>
                        <a:srgbClr val="0070B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26034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Statement</a:t>
                      </a:r>
                      <a:r>
                        <a:rPr sz="1100" b="1" spc="-1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57150">
                      <a:solidFill>
                        <a:srgbClr val="E7720C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 marR="422275">
                        <a:lnSpc>
                          <a:spcPts val="1200"/>
                        </a:lnSpc>
                        <a:spcBef>
                          <a:spcPts val="994"/>
                        </a:spcBef>
                      </a:pP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check</a:t>
                      </a:r>
                      <a:r>
                        <a:rPr sz="1050" spc="-3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compliance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Packaged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Commodities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under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Legal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Metrology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(Packaged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Commodities)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Rules,</a:t>
                      </a:r>
                      <a:r>
                        <a:rPr sz="1050" spc="-3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2011</a:t>
                      </a:r>
                      <a:r>
                        <a:rPr sz="1050" spc="-3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by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scanning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products,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images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labels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Theme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57150">
                      <a:solidFill>
                        <a:srgbClr val="0070BF"/>
                      </a:solidFill>
                      <a:prstDash val="solid"/>
                    </a:lnL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Miscellaneous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PS</a:t>
                      </a:r>
                      <a:r>
                        <a:rPr sz="1100" b="1" spc="-2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L w="57150">
                      <a:solidFill>
                        <a:srgbClr val="0070B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100" b="1" spc="-45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57150">
                      <a:solidFill>
                        <a:srgbClr val="0070B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050" spc="-10" dirty="0">
                          <a:solidFill>
                            <a:srgbClr val="2A3544"/>
                          </a:solidFill>
                          <a:latin typeface="Calibri"/>
                          <a:cs typeface="Calibri"/>
                        </a:rPr>
                        <a:t>VisionMinds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21" name="object 21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916"/>
          <a:stretch/>
        </p:blipFill>
        <p:spPr>
          <a:xfrm>
            <a:off x="7959089" y="1651626"/>
            <a:ext cx="3203509" cy="34262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910E4A-CF2C-34F4-3D2F-15AC8FA41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119" y="26105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6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185" dirty="0"/>
              <a:t> </a:t>
            </a:r>
            <a:r>
              <a:rPr dirty="0"/>
              <a:t>/</a:t>
            </a:r>
            <a:r>
              <a:rPr spc="185" dirty="0"/>
              <a:t> </a:t>
            </a:r>
            <a:r>
              <a:rPr spc="45" dirty="0"/>
              <a:t>PROPOSED</a:t>
            </a:r>
            <a:r>
              <a:rPr spc="190" dirty="0"/>
              <a:t> </a:t>
            </a:r>
            <a:r>
              <a:rPr spc="35" dirty="0"/>
              <a:t>SOLUTION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13690" y="816610"/>
            <a:ext cx="3716020" cy="1653539"/>
            <a:chOff x="313690" y="816610"/>
            <a:chExt cx="3716020" cy="1653539"/>
          </a:xfrm>
        </p:grpSpPr>
        <p:sp>
          <p:nvSpPr>
            <p:cNvPr id="9" name="object 9"/>
            <p:cNvSpPr/>
            <p:nvPr/>
          </p:nvSpPr>
          <p:spPr>
            <a:xfrm>
              <a:off x="313690" y="829309"/>
              <a:ext cx="3716020" cy="1640839"/>
            </a:xfrm>
            <a:custGeom>
              <a:avLst/>
              <a:gdLst/>
              <a:ahLst/>
              <a:cxnLst/>
              <a:rect l="l" t="t" r="r" b="b"/>
              <a:pathLst>
                <a:path w="3716020" h="1640839">
                  <a:moveTo>
                    <a:pt x="3660724" y="0"/>
                  </a:moveTo>
                  <a:lnTo>
                    <a:pt x="55295" y="0"/>
                  </a:lnTo>
                  <a:lnTo>
                    <a:pt x="33858" y="4374"/>
                  </a:lnTo>
                  <a:lnTo>
                    <a:pt x="16272" y="16272"/>
                  </a:lnTo>
                  <a:lnTo>
                    <a:pt x="4374" y="33857"/>
                  </a:lnTo>
                  <a:lnTo>
                    <a:pt x="0" y="55294"/>
                  </a:lnTo>
                  <a:lnTo>
                    <a:pt x="0" y="1585036"/>
                  </a:lnTo>
                  <a:lnTo>
                    <a:pt x="4374" y="1606473"/>
                  </a:lnTo>
                  <a:lnTo>
                    <a:pt x="16272" y="1624059"/>
                  </a:lnTo>
                  <a:lnTo>
                    <a:pt x="33858" y="1635957"/>
                  </a:lnTo>
                  <a:lnTo>
                    <a:pt x="55295" y="1640331"/>
                  </a:lnTo>
                  <a:lnTo>
                    <a:pt x="3660724" y="1640331"/>
                  </a:lnTo>
                  <a:lnTo>
                    <a:pt x="3682161" y="1635957"/>
                  </a:lnTo>
                  <a:lnTo>
                    <a:pt x="3699747" y="1624059"/>
                  </a:lnTo>
                  <a:lnTo>
                    <a:pt x="3711645" y="1606473"/>
                  </a:lnTo>
                  <a:lnTo>
                    <a:pt x="3716019" y="1585036"/>
                  </a:lnTo>
                  <a:lnTo>
                    <a:pt x="3716019" y="55294"/>
                  </a:lnTo>
                  <a:lnTo>
                    <a:pt x="3711645" y="33857"/>
                  </a:lnTo>
                  <a:lnTo>
                    <a:pt x="3699747" y="16272"/>
                  </a:lnTo>
                  <a:lnTo>
                    <a:pt x="3682161" y="4374"/>
                  </a:lnTo>
                  <a:lnTo>
                    <a:pt x="366072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22960"/>
              <a:ext cx="3703320" cy="1628139"/>
            </a:xfrm>
            <a:custGeom>
              <a:avLst/>
              <a:gdLst/>
              <a:ahLst/>
              <a:cxnLst/>
              <a:rect l="l" t="t" r="r" b="b"/>
              <a:pathLst>
                <a:path w="3703320" h="1628139">
                  <a:moveTo>
                    <a:pt x="3648452" y="0"/>
                  </a:moveTo>
                  <a:lnTo>
                    <a:pt x="54867" y="0"/>
                  </a:lnTo>
                  <a:lnTo>
                    <a:pt x="33596" y="4340"/>
                  </a:lnTo>
                  <a:lnTo>
                    <a:pt x="16146" y="16146"/>
                  </a:lnTo>
                  <a:lnTo>
                    <a:pt x="4340" y="33595"/>
                  </a:lnTo>
                  <a:lnTo>
                    <a:pt x="0" y="54866"/>
                  </a:lnTo>
                  <a:lnTo>
                    <a:pt x="0" y="1572764"/>
                  </a:lnTo>
                  <a:lnTo>
                    <a:pt x="4340" y="1594035"/>
                  </a:lnTo>
                  <a:lnTo>
                    <a:pt x="16146" y="1611485"/>
                  </a:lnTo>
                  <a:lnTo>
                    <a:pt x="33596" y="1623291"/>
                  </a:lnTo>
                  <a:lnTo>
                    <a:pt x="54867" y="1627632"/>
                  </a:lnTo>
                  <a:lnTo>
                    <a:pt x="3648452" y="1627632"/>
                  </a:lnTo>
                  <a:lnTo>
                    <a:pt x="3669723" y="1623291"/>
                  </a:lnTo>
                  <a:lnTo>
                    <a:pt x="3687173" y="1611485"/>
                  </a:lnTo>
                  <a:lnTo>
                    <a:pt x="3698979" y="1594035"/>
                  </a:lnTo>
                  <a:lnTo>
                    <a:pt x="3703320" y="1572764"/>
                  </a:lnTo>
                  <a:lnTo>
                    <a:pt x="3703320" y="54866"/>
                  </a:lnTo>
                  <a:lnTo>
                    <a:pt x="3698979" y="33595"/>
                  </a:lnTo>
                  <a:lnTo>
                    <a:pt x="3687173" y="16146"/>
                  </a:lnTo>
                  <a:lnTo>
                    <a:pt x="3669723" y="4340"/>
                  </a:lnTo>
                  <a:lnTo>
                    <a:pt x="36484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822960"/>
              <a:ext cx="3703320" cy="1628139"/>
            </a:xfrm>
            <a:custGeom>
              <a:avLst/>
              <a:gdLst/>
              <a:ahLst/>
              <a:cxnLst/>
              <a:rect l="l" t="t" r="r" b="b"/>
              <a:pathLst>
                <a:path w="3703320" h="1628139">
                  <a:moveTo>
                    <a:pt x="0" y="54866"/>
                  </a:moveTo>
                  <a:lnTo>
                    <a:pt x="4340" y="33595"/>
                  </a:lnTo>
                  <a:lnTo>
                    <a:pt x="16146" y="16146"/>
                  </a:lnTo>
                  <a:lnTo>
                    <a:pt x="33596" y="4340"/>
                  </a:lnTo>
                  <a:lnTo>
                    <a:pt x="54867" y="0"/>
                  </a:lnTo>
                  <a:lnTo>
                    <a:pt x="3648452" y="0"/>
                  </a:lnTo>
                  <a:lnTo>
                    <a:pt x="3669723" y="4340"/>
                  </a:lnTo>
                  <a:lnTo>
                    <a:pt x="3687173" y="16146"/>
                  </a:lnTo>
                  <a:lnTo>
                    <a:pt x="3698979" y="33595"/>
                  </a:lnTo>
                  <a:lnTo>
                    <a:pt x="3703320" y="54866"/>
                  </a:lnTo>
                  <a:lnTo>
                    <a:pt x="3703320" y="1572764"/>
                  </a:lnTo>
                  <a:lnTo>
                    <a:pt x="3698979" y="1594035"/>
                  </a:lnTo>
                  <a:lnTo>
                    <a:pt x="3687173" y="1611485"/>
                  </a:lnTo>
                  <a:lnTo>
                    <a:pt x="3669723" y="1623291"/>
                  </a:lnTo>
                  <a:lnTo>
                    <a:pt x="3648452" y="1627632"/>
                  </a:lnTo>
                  <a:lnTo>
                    <a:pt x="54867" y="1627632"/>
                  </a:lnTo>
                  <a:lnTo>
                    <a:pt x="33596" y="1623291"/>
                  </a:lnTo>
                  <a:lnTo>
                    <a:pt x="16146" y="1611485"/>
                  </a:lnTo>
                  <a:lnTo>
                    <a:pt x="4340" y="1594035"/>
                  </a:lnTo>
                  <a:lnTo>
                    <a:pt x="0" y="1572764"/>
                  </a:lnTo>
                  <a:lnTo>
                    <a:pt x="0" y="54866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822960"/>
              <a:ext cx="50800" cy="1628139"/>
            </a:xfrm>
            <a:custGeom>
              <a:avLst/>
              <a:gdLst/>
              <a:ahLst/>
              <a:cxnLst/>
              <a:rect l="l" t="t" r="r" b="b"/>
              <a:pathLst>
                <a:path w="50800" h="1628139">
                  <a:moveTo>
                    <a:pt x="50292" y="0"/>
                  </a:moveTo>
                  <a:lnTo>
                    <a:pt x="0" y="0"/>
                  </a:lnTo>
                  <a:lnTo>
                    <a:pt x="0" y="1627632"/>
                  </a:lnTo>
                  <a:lnTo>
                    <a:pt x="50292" y="162763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7783" y="883512"/>
            <a:ext cx="17373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BF392B"/>
                </a:solidFill>
                <a:latin typeface="Calibri"/>
                <a:cs typeface="Calibri"/>
              </a:rPr>
              <a:t>THE</a:t>
            </a:r>
            <a:r>
              <a:rPr sz="1300" b="1" spc="-30" dirty="0">
                <a:solidFill>
                  <a:srgbClr val="BF392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BF392B"/>
                </a:solidFill>
                <a:latin typeface="Calibri"/>
                <a:cs typeface="Calibri"/>
              </a:rPr>
              <a:t>PROBLEM</a:t>
            </a:r>
            <a:r>
              <a:rPr sz="1300" b="1" spc="-25" dirty="0">
                <a:solidFill>
                  <a:srgbClr val="BF392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BF392B"/>
                </a:solidFill>
                <a:latin typeface="Calibri"/>
                <a:cs typeface="Calibri"/>
              </a:rPr>
              <a:t>WE</a:t>
            </a:r>
            <a:r>
              <a:rPr sz="1300" b="1" spc="-30" dirty="0">
                <a:solidFill>
                  <a:srgbClr val="BF392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BF392B"/>
                </a:solidFill>
                <a:latin typeface="Calibri"/>
                <a:cs typeface="Calibri"/>
              </a:rPr>
              <a:t>SOLVE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359" y="1170202"/>
            <a:ext cx="3248025" cy="10718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177800" indent="-342900">
              <a:lnSpc>
                <a:spcPts val="108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Every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packaged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commodity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must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carry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mandatory declarations</a:t>
            </a:r>
            <a:r>
              <a:rPr sz="95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50" spc="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manufacturer/packer,</a:t>
            </a:r>
            <a:r>
              <a:rPr sz="950" spc="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net</a:t>
            </a:r>
            <a:r>
              <a:rPr sz="950" spc="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quantity,</a:t>
            </a:r>
            <a:r>
              <a:rPr sz="950" spc="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MRP,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dates,</a:t>
            </a:r>
            <a:r>
              <a:rPr sz="95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consumer-care.</a:t>
            </a:r>
            <a:endParaRPr sz="950">
              <a:latin typeface="Calibri"/>
              <a:cs typeface="Calibri"/>
            </a:endParaRPr>
          </a:p>
          <a:p>
            <a:pPr marL="342900" marR="5080" indent="-342900">
              <a:lnSpc>
                <a:spcPts val="1080"/>
              </a:lnSpc>
              <a:spcBef>
                <a:spcPts val="310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Manual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enforcement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is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slow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unscalable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across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millions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SKUs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retail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e-commerce.</a:t>
            </a:r>
            <a:endParaRPr sz="950">
              <a:latin typeface="Calibri"/>
              <a:cs typeface="Calibri"/>
            </a:endParaRPr>
          </a:p>
          <a:p>
            <a:pPr marL="342900" marR="268605" indent="-342900">
              <a:lnSpc>
                <a:spcPts val="1080"/>
              </a:lnSpc>
              <a:spcBef>
                <a:spcPts val="305"/>
              </a:spcBef>
              <a:buChar char="•"/>
              <a:tabLst>
                <a:tab pos="342900" algn="l"/>
              </a:tabLst>
            </a:pP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Common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violations: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missing</a:t>
            </a:r>
            <a:r>
              <a:rPr sz="95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declarations,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wrong</a:t>
            </a:r>
            <a:r>
              <a:rPr sz="95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MRP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format,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undersized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fonts,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improper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placement.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287" y="2563576"/>
            <a:ext cx="3716020" cy="2668270"/>
            <a:chOff x="313690" y="2535681"/>
            <a:chExt cx="3716020" cy="2668270"/>
          </a:xfrm>
        </p:grpSpPr>
        <p:sp>
          <p:nvSpPr>
            <p:cNvPr id="16" name="object 16"/>
            <p:cNvSpPr/>
            <p:nvPr/>
          </p:nvSpPr>
          <p:spPr>
            <a:xfrm>
              <a:off x="313690" y="2548381"/>
              <a:ext cx="3716020" cy="2655570"/>
            </a:xfrm>
            <a:custGeom>
              <a:avLst/>
              <a:gdLst/>
              <a:ahLst/>
              <a:cxnLst/>
              <a:rect l="l" t="t" r="r" b="b"/>
              <a:pathLst>
                <a:path w="3716020" h="2655570">
                  <a:moveTo>
                    <a:pt x="3660895" y="0"/>
                  </a:moveTo>
                  <a:lnTo>
                    <a:pt x="55124" y="0"/>
                  </a:lnTo>
                  <a:lnTo>
                    <a:pt x="33753" y="4360"/>
                  </a:lnTo>
                  <a:lnTo>
                    <a:pt x="16221" y="16221"/>
                  </a:lnTo>
                  <a:lnTo>
                    <a:pt x="4360" y="33753"/>
                  </a:lnTo>
                  <a:lnTo>
                    <a:pt x="0" y="55124"/>
                  </a:lnTo>
                  <a:lnTo>
                    <a:pt x="0" y="2600191"/>
                  </a:lnTo>
                  <a:lnTo>
                    <a:pt x="4360" y="2621562"/>
                  </a:lnTo>
                  <a:lnTo>
                    <a:pt x="16221" y="2639093"/>
                  </a:lnTo>
                  <a:lnTo>
                    <a:pt x="33753" y="2650955"/>
                  </a:lnTo>
                  <a:lnTo>
                    <a:pt x="55124" y="2655316"/>
                  </a:lnTo>
                  <a:lnTo>
                    <a:pt x="3660895" y="2655316"/>
                  </a:lnTo>
                  <a:lnTo>
                    <a:pt x="3682266" y="2650955"/>
                  </a:lnTo>
                  <a:lnTo>
                    <a:pt x="3699797" y="2639093"/>
                  </a:lnTo>
                  <a:lnTo>
                    <a:pt x="3711659" y="2621562"/>
                  </a:lnTo>
                  <a:lnTo>
                    <a:pt x="3716019" y="2600191"/>
                  </a:lnTo>
                  <a:lnTo>
                    <a:pt x="3716019" y="55124"/>
                  </a:lnTo>
                  <a:lnTo>
                    <a:pt x="3711659" y="33753"/>
                  </a:lnTo>
                  <a:lnTo>
                    <a:pt x="3699797" y="16221"/>
                  </a:lnTo>
                  <a:lnTo>
                    <a:pt x="3682266" y="4360"/>
                  </a:lnTo>
                  <a:lnTo>
                    <a:pt x="366089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0040" y="2542031"/>
              <a:ext cx="3703320" cy="2642870"/>
            </a:xfrm>
            <a:custGeom>
              <a:avLst/>
              <a:gdLst/>
              <a:ahLst/>
              <a:cxnLst/>
              <a:rect l="l" t="t" r="r" b="b"/>
              <a:pathLst>
                <a:path w="3703320" h="2642870">
                  <a:moveTo>
                    <a:pt x="3648459" y="0"/>
                  </a:moveTo>
                  <a:lnTo>
                    <a:pt x="54860" y="0"/>
                  </a:lnTo>
                  <a:lnTo>
                    <a:pt x="33591" y="4339"/>
                  </a:lnTo>
                  <a:lnTo>
                    <a:pt x="16144" y="16144"/>
                  </a:lnTo>
                  <a:lnTo>
                    <a:pt x="4339" y="33591"/>
                  </a:lnTo>
                  <a:lnTo>
                    <a:pt x="0" y="54860"/>
                  </a:lnTo>
                  <a:lnTo>
                    <a:pt x="0" y="2587755"/>
                  </a:lnTo>
                  <a:lnTo>
                    <a:pt x="4339" y="2609023"/>
                  </a:lnTo>
                  <a:lnTo>
                    <a:pt x="16144" y="2626471"/>
                  </a:lnTo>
                  <a:lnTo>
                    <a:pt x="33591" y="2638276"/>
                  </a:lnTo>
                  <a:lnTo>
                    <a:pt x="54860" y="2642616"/>
                  </a:lnTo>
                  <a:lnTo>
                    <a:pt x="3648459" y="2642616"/>
                  </a:lnTo>
                  <a:lnTo>
                    <a:pt x="3669728" y="2638276"/>
                  </a:lnTo>
                  <a:lnTo>
                    <a:pt x="3687175" y="2626471"/>
                  </a:lnTo>
                  <a:lnTo>
                    <a:pt x="3698980" y="2609023"/>
                  </a:lnTo>
                  <a:lnTo>
                    <a:pt x="3703320" y="2587755"/>
                  </a:lnTo>
                  <a:lnTo>
                    <a:pt x="3703320" y="54860"/>
                  </a:lnTo>
                  <a:lnTo>
                    <a:pt x="3698980" y="33591"/>
                  </a:lnTo>
                  <a:lnTo>
                    <a:pt x="3687175" y="16144"/>
                  </a:lnTo>
                  <a:lnTo>
                    <a:pt x="3669728" y="4339"/>
                  </a:lnTo>
                  <a:lnTo>
                    <a:pt x="3648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542031"/>
              <a:ext cx="3703320" cy="2642870"/>
            </a:xfrm>
            <a:custGeom>
              <a:avLst/>
              <a:gdLst/>
              <a:ahLst/>
              <a:cxnLst/>
              <a:rect l="l" t="t" r="r" b="b"/>
              <a:pathLst>
                <a:path w="3703320" h="2642870">
                  <a:moveTo>
                    <a:pt x="0" y="54860"/>
                  </a:moveTo>
                  <a:lnTo>
                    <a:pt x="4339" y="33591"/>
                  </a:lnTo>
                  <a:lnTo>
                    <a:pt x="16144" y="16144"/>
                  </a:lnTo>
                  <a:lnTo>
                    <a:pt x="33591" y="4339"/>
                  </a:lnTo>
                  <a:lnTo>
                    <a:pt x="54860" y="0"/>
                  </a:lnTo>
                  <a:lnTo>
                    <a:pt x="3648459" y="0"/>
                  </a:lnTo>
                  <a:lnTo>
                    <a:pt x="3669728" y="4339"/>
                  </a:lnTo>
                  <a:lnTo>
                    <a:pt x="3687175" y="16144"/>
                  </a:lnTo>
                  <a:lnTo>
                    <a:pt x="3698980" y="33591"/>
                  </a:lnTo>
                  <a:lnTo>
                    <a:pt x="3703320" y="54860"/>
                  </a:lnTo>
                  <a:lnTo>
                    <a:pt x="3703320" y="2587755"/>
                  </a:lnTo>
                  <a:lnTo>
                    <a:pt x="3698980" y="2609023"/>
                  </a:lnTo>
                  <a:lnTo>
                    <a:pt x="3687175" y="2626471"/>
                  </a:lnTo>
                  <a:lnTo>
                    <a:pt x="3669728" y="2638276"/>
                  </a:lnTo>
                  <a:lnTo>
                    <a:pt x="3648459" y="2642616"/>
                  </a:lnTo>
                  <a:lnTo>
                    <a:pt x="54860" y="2642616"/>
                  </a:lnTo>
                  <a:lnTo>
                    <a:pt x="33591" y="2638276"/>
                  </a:lnTo>
                  <a:lnTo>
                    <a:pt x="16144" y="2626471"/>
                  </a:lnTo>
                  <a:lnTo>
                    <a:pt x="4339" y="2609023"/>
                  </a:lnTo>
                  <a:lnTo>
                    <a:pt x="0" y="2587755"/>
                  </a:lnTo>
                  <a:lnTo>
                    <a:pt x="0" y="54860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542031"/>
              <a:ext cx="50800" cy="2642870"/>
            </a:xfrm>
            <a:custGeom>
              <a:avLst/>
              <a:gdLst/>
              <a:ahLst/>
              <a:cxnLst/>
              <a:rect l="l" t="t" r="r" b="b"/>
              <a:pathLst>
                <a:path w="50800" h="2642870">
                  <a:moveTo>
                    <a:pt x="50292" y="0"/>
                  </a:moveTo>
                  <a:lnTo>
                    <a:pt x="0" y="0"/>
                  </a:lnTo>
                  <a:lnTo>
                    <a:pt x="0" y="2642616"/>
                  </a:lnTo>
                  <a:lnTo>
                    <a:pt x="50292" y="2642616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7783" y="2602584"/>
            <a:ext cx="3107055" cy="46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OUR</a:t>
            </a:r>
            <a:r>
              <a:rPr sz="1300" b="1" spc="-20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SOLUTION</a:t>
            </a:r>
            <a:r>
              <a:rPr sz="1300" b="1" spc="-1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-</a:t>
            </a:r>
            <a:r>
              <a:rPr sz="1300" b="1" spc="-1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VALIDRA</a:t>
            </a:r>
            <a:endParaRPr sz="1300">
              <a:latin typeface="Calibri"/>
              <a:cs typeface="Calibri"/>
            </a:endParaRPr>
          </a:p>
          <a:p>
            <a:pPr marL="36195">
              <a:lnSpc>
                <a:spcPct val="100000"/>
              </a:lnSpc>
              <a:spcBef>
                <a:spcPts val="760"/>
              </a:spcBef>
            </a:pP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sz="950" b="1" i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extracts</a:t>
            </a:r>
            <a:r>
              <a:rPr sz="950" b="1" i="1" spc="2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&gt;</a:t>
            </a:r>
            <a:r>
              <a:rPr sz="950" b="1" i="1" spc="2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rules</a:t>
            </a:r>
            <a:r>
              <a:rPr sz="950" b="1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decide</a:t>
            </a:r>
            <a:r>
              <a:rPr sz="950" b="1" i="1" spc="1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&gt;</a:t>
            </a:r>
            <a:r>
              <a:rPr sz="950" b="1" i="1" spc="2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RAG</a:t>
            </a:r>
            <a:r>
              <a:rPr sz="950" b="1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explains</a:t>
            </a:r>
            <a:r>
              <a:rPr sz="950" b="1" i="1" spc="2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&gt;</a:t>
            </a:r>
            <a:r>
              <a:rPr sz="950" b="1" i="1" spc="2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950" b="1" i="1" dirty="0">
                <a:solidFill>
                  <a:srgbClr val="44536A"/>
                </a:solidFill>
                <a:latin typeface="Calibri"/>
                <a:cs typeface="Calibri"/>
              </a:rPr>
              <a:t>humans</a:t>
            </a:r>
            <a:r>
              <a:rPr sz="950" b="1" i="1" spc="-10" dirty="0">
                <a:solidFill>
                  <a:srgbClr val="44536A"/>
                </a:solidFill>
                <a:latin typeface="Calibri"/>
                <a:cs typeface="Calibri"/>
              </a:rPr>
              <a:t> review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2063" y="3145535"/>
            <a:ext cx="201295" cy="1938655"/>
            <a:chOff x="512063" y="3145535"/>
            <a:chExt cx="201295" cy="193865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" y="3145535"/>
              <a:ext cx="201167" cy="2011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063" y="3493007"/>
              <a:ext cx="201167" cy="2011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" y="3840479"/>
              <a:ext cx="201167" cy="2011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063" y="4187951"/>
              <a:ext cx="201167" cy="2011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" y="4535423"/>
              <a:ext cx="201167" cy="2011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063" y="4882895"/>
              <a:ext cx="201167" cy="20116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84110" y="3167353"/>
            <a:ext cx="64769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8680" y="3119780"/>
            <a:ext cx="2912745" cy="20383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R="198120">
              <a:lnSpc>
                <a:spcPts val="1030"/>
              </a:lnSpc>
              <a:spcBef>
                <a:spcPts val="22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SCAN</a:t>
            </a:r>
            <a:r>
              <a:rPr sz="950" b="1" spc="1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Upload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or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capture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label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images;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originals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kept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as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tamper-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evident</a:t>
            </a:r>
            <a:r>
              <a:rPr sz="95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evidence.</a:t>
            </a:r>
            <a:endParaRPr sz="950">
              <a:latin typeface="Calibri"/>
              <a:cs typeface="Calibri"/>
            </a:endParaRPr>
          </a:p>
          <a:p>
            <a:pPr marR="226060">
              <a:lnSpc>
                <a:spcPts val="1030"/>
              </a:lnSpc>
              <a:spcBef>
                <a:spcPts val="67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EXTRACT</a:t>
            </a:r>
            <a:r>
              <a:rPr sz="950" b="1" spc="204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OpenCV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preprocessing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+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OCR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with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bounding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boxes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localise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every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declaration.</a:t>
            </a:r>
            <a:endParaRPr sz="950">
              <a:latin typeface="Calibri"/>
              <a:cs typeface="Calibri"/>
            </a:endParaRPr>
          </a:p>
          <a:p>
            <a:pPr marR="421640">
              <a:lnSpc>
                <a:spcPts val="1030"/>
              </a:lnSpc>
              <a:spcBef>
                <a:spcPts val="67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VALIDATE</a:t>
            </a:r>
            <a:r>
              <a:rPr sz="950" b="1" spc="1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Versioned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engine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checks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presence, correctness,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format,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placement,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font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size.</a:t>
            </a:r>
            <a:endParaRPr sz="950">
              <a:latin typeface="Calibri"/>
              <a:cs typeface="Calibri"/>
            </a:endParaRPr>
          </a:p>
          <a:p>
            <a:pPr marR="5080">
              <a:lnSpc>
                <a:spcPts val="1030"/>
              </a:lnSpc>
              <a:spcBef>
                <a:spcPts val="67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EXPLAIN</a:t>
            </a:r>
            <a:r>
              <a:rPr sz="950" b="1" spc="1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RAG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over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Act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attaches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exact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legal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provision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each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finding.</a:t>
            </a:r>
            <a:endParaRPr sz="950">
              <a:latin typeface="Calibri"/>
              <a:cs typeface="Calibri"/>
            </a:endParaRPr>
          </a:p>
          <a:p>
            <a:pPr marR="181610">
              <a:lnSpc>
                <a:spcPts val="1030"/>
              </a:lnSpc>
              <a:spcBef>
                <a:spcPts val="680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REPORT</a:t>
            </a:r>
            <a:r>
              <a:rPr sz="9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PDF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+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editable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reports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cropped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evidence,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confidence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references.</a:t>
            </a:r>
            <a:endParaRPr sz="950">
              <a:latin typeface="Calibri"/>
              <a:cs typeface="Calibri"/>
            </a:endParaRPr>
          </a:p>
          <a:p>
            <a:pPr marR="137795">
              <a:lnSpc>
                <a:spcPts val="1030"/>
              </a:lnSpc>
              <a:spcBef>
                <a:spcPts val="67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REVIEW</a:t>
            </a:r>
            <a:r>
              <a:rPr sz="950" b="1" spc="1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Searchable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inspection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history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enforcement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dashboard</a:t>
            </a:r>
            <a:r>
              <a:rPr sz="95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RBAC.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181602" y="816610"/>
            <a:ext cx="3807460" cy="2631440"/>
            <a:chOff x="4181602" y="816610"/>
            <a:chExt cx="3807460" cy="2631440"/>
          </a:xfrm>
        </p:grpSpPr>
        <p:sp>
          <p:nvSpPr>
            <p:cNvPr id="31" name="object 31"/>
            <p:cNvSpPr/>
            <p:nvPr/>
          </p:nvSpPr>
          <p:spPr>
            <a:xfrm>
              <a:off x="4181602" y="829309"/>
              <a:ext cx="3807460" cy="2618740"/>
            </a:xfrm>
            <a:custGeom>
              <a:avLst/>
              <a:gdLst/>
              <a:ahLst/>
              <a:cxnLst/>
              <a:rect l="l" t="t" r="r" b="b"/>
              <a:pathLst>
                <a:path w="3807459" h="2618740">
                  <a:moveTo>
                    <a:pt x="3752335" y="0"/>
                  </a:moveTo>
                  <a:lnTo>
                    <a:pt x="55124" y="0"/>
                  </a:lnTo>
                  <a:lnTo>
                    <a:pt x="33753" y="4360"/>
                  </a:lnTo>
                  <a:lnTo>
                    <a:pt x="16221" y="16221"/>
                  </a:lnTo>
                  <a:lnTo>
                    <a:pt x="4360" y="33753"/>
                  </a:lnTo>
                  <a:lnTo>
                    <a:pt x="0" y="55124"/>
                  </a:lnTo>
                  <a:lnTo>
                    <a:pt x="0" y="2563615"/>
                  </a:lnTo>
                  <a:lnTo>
                    <a:pt x="4360" y="2584986"/>
                  </a:lnTo>
                  <a:lnTo>
                    <a:pt x="16221" y="2602517"/>
                  </a:lnTo>
                  <a:lnTo>
                    <a:pt x="33753" y="2614378"/>
                  </a:lnTo>
                  <a:lnTo>
                    <a:pt x="55124" y="2618739"/>
                  </a:lnTo>
                  <a:lnTo>
                    <a:pt x="3752335" y="2618739"/>
                  </a:lnTo>
                  <a:lnTo>
                    <a:pt x="3773706" y="2614378"/>
                  </a:lnTo>
                  <a:lnTo>
                    <a:pt x="3791237" y="2602517"/>
                  </a:lnTo>
                  <a:lnTo>
                    <a:pt x="3803099" y="2584986"/>
                  </a:lnTo>
                  <a:lnTo>
                    <a:pt x="3807460" y="2563615"/>
                  </a:lnTo>
                  <a:lnTo>
                    <a:pt x="3807460" y="55124"/>
                  </a:lnTo>
                  <a:lnTo>
                    <a:pt x="3803099" y="33753"/>
                  </a:lnTo>
                  <a:lnTo>
                    <a:pt x="3791237" y="16221"/>
                  </a:lnTo>
                  <a:lnTo>
                    <a:pt x="3773706" y="4360"/>
                  </a:lnTo>
                  <a:lnTo>
                    <a:pt x="375233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87951" y="822960"/>
              <a:ext cx="3794760" cy="2606040"/>
            </a:xfrm>
            <a:custGeom>
              <a:avLst/>
              <a:gdLst/>
              <a:ahLst/>
              <a:cxnLst/>
              <a:rect l="l" t="t" r="r" b="b"/>
              <a:pathLst>
                <a:path w="3794759" h="2606040">
                  <a:moveTo>
                    <a:pt x="3739902" y="0"/>
                  </a:moveTo>
                  <a:lnTo>
                    <a:pt x="54856" y="0"/>
                  </a:lnTo>
                  <a:lnTo>
                    <a:pt x="33589" y="4339"/>
                  </a:lnTo>
                  <a:lnTo>
                    <a:pt x="16143" y="16143"/>
                  </a:lnTo>
                  <a:lnTo>
                    <a:pt x="4339" y="33589"/>
                  </a:lnTo>
                  <a:lnTo>
                    <a:pt x="0" y="54856"/>
                  </a:lnTo>
                  <a:lnTo>
                    <a:pt x="0" y="2551182"/>
                  </a:lnTo>
                  <a:lnTo>
                    <a:pt x="4339" y="2572449"/>
                  </a:lnTo>
                  <a:lnTo>
                    <a:pt x="16143" y="2589896"/>
                  </a:lnTo>
                  <a:lnTo>
                    <a:pt x="33589" y="2601700"/>
                  </a:lnTo>
                  <a:lnTo>
                    <a:pt x="54856" y="2606040"/>
                  </a:lnTo>
                  <a:lnTo>
                    <a:pt x="3739902" y="2606040"/>
                  </a:lnTo>
                  <a:lnTo>
                    <a:pt x="3761169" y="2601700"/>
                  </a:lnTo>
                  <a:lnTo>
                    <a:pt x="3778616" y="2589896"/>
                  </a:lnTo>
                  <a:lnTo>
                    <a:pt x="3790420" y="2572449"/>
                  </a:lnTo>
                  <a:lnTo>
                    <a:pt x="3794760" y="2551182"/>
                  </a:lnTo>
                  <a:lnTo>
                    <a:pt x="3794760" y="54856"/>
                  </a:lnTo>
                  <a:lnTo>
                    <a:pt x="3790420" y="33589"/>
                  </a:lnTo>
                  <a:lnTo>
                    <a:pt x="3778616" y="16143"/>
                  </a:lnTo>
                  <a:lnTo>
                    <a:pt x="3761169" y="4339"/>
                  </a:lnTo>
                  <a:lnTo>
                    <a:pt x="3739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87951" y="822960"/>
              <a:ext cx="3794760" cy="2606040"/>
            </a:xfrm>
            <a:custGeom>
              <a:avLst/>
              <a:gdLst/>
              <a:ahLst/>
              <a:cxnLst/>
              <a:rect l="l" t="t" r="r" b="b"/>
              <a:pathLst>
                <a:path w="3794759" h="2606040">
                  <a:moveTo>
                    <a:pt x="0" y="54856"/>
                  </a:moveTo>
                  <a:lnTo>
                    <a:pt x="4339" y="33589"/>
                  </a:lnTo>
                  <a:lnTo>
                    <a:pt x="16143" y="16143"/>
                  </a:lnTo>
                  <a:lnTo>
                    <a:pt x="33589" y="4339"/>
                  </a:lnTo>
                  <a:lnTo>
                    <a:pt x="54856" y="0"/>
                  </a:lnTo>
                  <a:lnTo>
                    <a:pt x="3739902" y="0"/>
                  </a:lnTo>
                  <a:lnTo>
                    <a:pt x="3761169" y="4339"/>
                  </a:lnTo>
                  <a:lnTo>
                    <a:pt x="3778616" y="16143"/>
                  </a:lnTo>
                  <a:lnTo>
                    <a:pt x="3790420" y="33589"/>
                  </a:lnTo>
                  <a:lnTo>
                    <a:pt x="3794760" y="54856"/>
                  </a:lnTo>
                  <a:lnTo>
                    <a:pt x="3794760" y="2551182"/>
                  </a:lnTo>
                  <a:lnTo>
                    <a:pt x="3790420" y="2572449"/>
                  </a:lnTo>
                  <a:lnTo>
                    <a:pt x="3778616" y="2589896"/>
                  </a:lnTo>
                  <a:lnTo>
                    <a:pt x="3761169" y="2601700"/>
                  </a:lnTo>
                  <a:lnTo>
                    <a:pt x="3739902" y="2606040"/>
                  </a:lnTo>
                  <a:lnTo>
                    <a:pt x="54856" y="2606040"/>
                  </a:lnTo>
                  <a:lnTo>
                    <a:pt x="33589" y="2601700"/>
                  </a:lnTo>
                  <a:lnTo>
                    <a:pt x="16143" y="2589896"/>
                  </a:lnTo>
                  <a:lnTo>
                    <a:pt x="4339" y="2572449"/>
                  </a:lnTo>
                  <a:lnTo>
                    <a:pt x="0" y="2551182"/>
                  </a:lnTo>
                  <a:lnTo>
                    <a:pt x="0" y="54856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87952" y="822959"/>
              <a:ext cx="219710" cy="2606040"/>
            </a:xfrm>
            <a:custGeom>
              <a:avLst/>
              <a:gdLst/>
              <a:ahLst/>
              <a:cxnLst/>
              <a:rect l="l" t="t" r="r" b="b"/>
              <a:pathLst>
                <a:path w="219710" h="2606040">
                  <a:moveTo>
                    <a:pt x="50292" y="0"/>
                  </a:moveTo>
                  <a:lnTo>
                    <a:pt x="0" y="0"/>
                  </a:lnTo>
                  <a:lnTo>
                    <a:pt x="0" y="2606040"/>
                  </a:lnTo>
                  <a:lnTo>
                    <a:pt x="50292" y="2606040"/>
                  </a:lnTo>
                  <a:lnTo>
                    <a:pt x="50292" y="0"/>
                  </a:lnTo>
                  <a:close/>
                </a:path>
                <a:path w="219710" h="2606040">
                  <a:moveTo>
                    <a:pt x="219456" y="2112264"/>
                  </a:moveTo>
                  <a:lnTo>
                    <a:pt x="155448" y="2112264"/>
                  </a:lnTo>
                  <a:lnTo>
                    <a:pt x="155448" y="2176272"/>
                  </a:lnTo>
                  <a:lnTo>
                    <a:pt x="219456" y="2176272"/>
                  </a:lnTo>
                  <a:lnTo>
                    <a:pt x="219456" y="2112264"/>
                  </a:lnTo>
                  <a:close/>
                </a:path>
                <a:path w="219710" h="2606040">
                  <a:moveTo>
                    <a:pt x="219456" y="1682496"/>
                  </a:moveTo>
                  <a:lnTo>
                    <a:pt x="155448" y="1682496"/>
                  </a:lnTo>
                  <a:lnTo>
                    <a:pt x="155448" y="1746504"/>
                  </a:lnTo>
                  <a:lnTo>
                    <a:pt x="219456" y="1746504"/>
                  </a:lnTo>
                  <a:lnTo>
                    <a:pt x="219456" y="1682496"/>
                  </a:lnTo>
                  <a:close/>
                </a:path>
                <a:path w="219710" h="2606040">
                  <a:moveTo>
                    <a:pt x="219456" y="1252728"/>
                  </a:moveTo>
                  <a:lnTo>
                    <a:pt x="155448" y="1252728"/>
                  </a:lnTo>
                  <a:lnTo>
                    <a:pt x="155448" y="1316736"/>
                  </a:lnTo>
                  <a:lnTo>
                    <a:pt x="219456" y="1316736"/>
                  </a:lnTo>
                  <a:lnTo>
                    <a:pt x="219456" y="1252728"/>
                  </a:lnTo>
                  <a:close/>
                </a:path>
                <a:path w="219710" h="2606040">
                  <a:moveTo>
                    <a:pt x="219456" y="822960"/>
                  </a:moveTo>
                  <a:lnTo>
                    <a:pt x="155448" y="822960"/>
                  </a:lnTo>
                  <a:lnTo>
                    <a:pt x="155448" y="886968"/>
                  </a:lnTo>
                  <a:lnTo>
                    <a:pt x="219456" y="886968"/>
                  </a:lnTo>
                  <a:lnTo>
                    <a:pt x="219456" y="822960"/>
                  </a:lnTo>
                  <a:close/>
                </a:path>
                <a:path w="219710" h="2606040">
                  <a:moveTo>
                    <a:pt x="219456" y="393192"/>
                  </a:moveTo>
                  <a:lnTo>
                    <a:pt x="155448" y="393192"/>
                  </a:lnTo>
                  <a:lnTo>
                    <a:pt x="155448" y="457200"/>
                  </a:lnTo>
                  <a:lnTo>
                    <a:pt x="219456" y="457200"/>
                  </a:lnTo>
                  <a:lnTo>
                    <a:pt x="219456" y="393192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235069" y="772216"/>
            <a:ext cx="3747770" cy="241046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75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UNIQUENESS</a:t>
            </a:r>
            <a:r>
              <a:rPr sz="1300" b="1" spc="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INNOVATION</a:t>
            </a:r>
            <a:endParaRPr sz="1300">
              <a:latin typeface="Calibri"/>
              <a:cs typeface="Calibri"/>
            </a:endParaRPr>
          </a:p>
          <a:p>
            <a:pPr marL="354965" marR="346075">
              <a:lnSpc>
                <a:spcPts val="1030"/>
              </a:lnSpc>
              <a:spcBef>
                <a:spcPts val="765"/>
              </a:spcBef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Separation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decision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&amp;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language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engine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decides;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LLM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only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explains - no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hallucinated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legal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verdicts.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Calibri"/>
              <a:cs typeface="Calibri"/>
            </a:endParaRPr>
          </a:p>
          <a:p>
            <a:pPr marL="354965" marR="528320">
              <a:lnSpc>
                <a:spcPts val="1030"/>
              </a:lnSpc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Confidence-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aware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pipeline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OCR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&gt;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extraction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&gt;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validation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confidence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propagated;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low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=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NEEDS</a:t>
            </a:r>
            <a:r>
              <a:rPr sz="95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REVIEW.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Calibri"/>
              <a:cs typeface="Calibri"/>
            </a:endParaRPr>
          </a:p>
          <a:p>
            <a:pPr marL="354965" marR="419734">
              <a:lnSpc>
                <a:spcPts val="1030"/>
              </a:lnSpc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Legal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RAG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with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citations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Every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finding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carries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retrieved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provision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Act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/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Rules.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Calibri"/>
              <a:cs typeface="Calibri"/>
            </a:endParaRPr>
          </a:p>
          <a:p>
            <a:pPr marL="354965" marR="393065">
              <a:lnSpc>
                <a:spcPts val="1030"/>
              </a:lnSpc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Versioned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rule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repository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carry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effective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dates;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packs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judged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by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law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at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inspection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date.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Calibri"/>
              <a:cs typeface="Calibri"/>
            </a:endParaRPr>
          </a:p>
          <a:p>
            <a:pPr marL="354965" marR="335280">
              <a:lnSpc>
                <a:spcPts val="1030"/>
              </a:lnSpc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Evidence-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grade</a:t>
            </a: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audit</a:t>
            </a: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trail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Immutable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records,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bounding-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box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 evidence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logs.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81601" y="3514090"/>
            <a:ext cx="3807460" cy="1689735"/>
            <a:chOff x="4181601" y="3514090"/>
            <a:chExt cx="3807460" cy="1689735"/>
          </a:xfrm>
        </p:grpSpPr>
        <p:sp>
          <p:nvSpPr>
            <p:cNvPr id="37" name="object 37"/>
            <p:cNvSpPr/>
            <p:nvPr/>
          </p:nvSpPr>
          <p:spPr>
            <a:xfrm>
              <a:off x="4181601" y="3526790"/>
              <a:ext cx="3807460" cy="1677035"/>
            </a:xfrm>
            <a:custGeom>
              <a:avLst/>
              <a:gdLst/>
              <a:ahLst/>
              <a:cxnLst/>
              <a:rect l="l" t="t" r="r" b="b"/>
              <a:pathLst>
                <a:path w="3807459" h="1677035">
                  <a:moveTo>
                    <a:pt x="3752172" y="0"/>
                  </a:moveTo>
                  <a:lnTo>
                    <a:pt x="55287" y="0"/>
                  </a:lnTo>
                  <a:lnTo>
                    <a:pt x="33853" y="4373"/>
                  </a:lnTo>
                  <a:lnTo>
                    <a:pt x="16270" y="16269"/>
                  </a:lnTo>
                  <a:lnTo>
                    <a:pt x="4373" y="33852"/>
                  </a:lnTo>
                  <a:lnTo>
                    <a:pt x="0" y="55287"/>
                  </a:lnTo>
                  <a:lnTo>
                    <a:pt x="0" y="1621619"/>
                  </a:lnTo>
                  <a:lnTo>
                    <a:pt x="4373" y="1643054"/>
                  </a:lnTo>
                  <a:lnTo>
                    <a:pt x="16270" y="1660637"/>
                  </a:lnTo>
                  <a:lnTo>
                    <a:pt x="33853" y="1672534"/>
                  </a:lnTo>
                  <a:lnTo>
                    <a:pt x="55287" y="1676907"/>
                  </a:lnTo>
                  <a:lnTo>
                    <a:pt x="3752172" y="1676907"/>
                  </a:lnTo>
                  <a:lnTo>
                    <a:pt x="3773606" y="1672534"/>
                  </a:lnTo>
                  <a:lnTo>
                    <a:pt x="3791189" y="1660637"/>
                  </a:lnTo>
                  <a:lnTo>
                    <a:pt x="3803086" y="1643054"/>
                  </a:lnTo>
                  <a:lnTo>
                    <a:pt x="3807460" y="1621619"/>
                  </a:lnTo>
                  <a:lnTo>
                    <a:pt x="3807460" y="55287"/>
                  </a:lnTo>
                  <a:lnTo>
                    <a:pt x="3803086" y="33852"/>
                  </a:lnTo>
                  <a:lnTo>
                    <a:pt x="3791189" y="16269"/>
                  </a:lnTo>
                  <a:lnTo>
                    <a:pt x="3773606" y="4373"/>
                  </a:lnTo>
                  <a:lnTo>
                    <a:pt x="3752172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87951" y="3520440"/>
              <a:ext cx="3794760" cy="1664335"/>
            </a:xfrm>
            <a:custGeom>
              <a:avLst/>
              <a:gdLst/>
              <a:ahLst/>
              <a:cxnLst/>
              <a:rect l="l" t="t" r="r" b="b"/>
              <a:pathLst>
                <a:path w="3794759" h="1664335">
                  <a:moveTo>
                    <a:pt x="3739890" y="0"/>
                  </a:moveTo>
                  <a:lnTo>
                    <a:pt x="54868" y="0"/>
                  </a:lnTo>
                  <a:lnTo>
                    <a:pt x="33597" y="4340"/>
                  </a:lnTo>
                  <a:lnTo>
                    <a:pt x="16146" y="16146"/>
                  </a:lnTo>
                  <a:lnTo>
                    <a:pt x="4340" y="33597"/>
                  </a:lnTo>
                  <a:lnTo>
                    <a:pt x="0" y="54869"/>
                  </a:lnTo>
                  <a:lnTo>
                    <a:pt x="0" y="1609338"/>
                  </a:lnTo>
                  <a:lnTo>
                    <a:pt x="4340" y="1630610"/>
                  </a:lnTo>
                  <a:lnTo>
                    <a:pt x="16146" y="1648061"/>
                  </a:lnTo>
                  <a:lnTo>
                    <a:pt x="33597" y="1659867"/>
                  </a:lnTo>
                  <a:lnTo>
                    <a:pt x="54868" y="1664208"/>
                  </a:lnTo>
                  <a:lnTo>
                    <a:pt x="3739890" y="1664208"/>
                  </a:lnTo>
                  <a:lnTo>
                    <a:pt x="3761162" y="1659867"/>
                  </a:lnTo>
                  <a:lnTo>
                    <a:pt x="3778612" y="1648061"/>
                  </a:lnTo>
                  <a:lnTo>
                    <a:pt x="3790419" y="1630610"/>
                  </a:lnTo>
                  <a:lnTo>
                    <a:pt x="3794760" y="1609338"/>
                  </a:lnTo>
                  <a:lnTo>
                    <a:pt x="3794760" y="54869"/>
                  </a:lnTo>
                  <a:lnTo>
                    <a:pt x="3790419" y="33597"/>
                  </a:lnTo>
                  <a:lnTo>
                    <a:pt x="3778612" y="16146"/>
                  </a:lnTo>
                  <a:lnTo>
                    <a:pt x="3761162" y="4340"/>
                  </a:lnTo>
                  <a:lnTo>
                    <a:pt x="3739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87951" y="3520440"/>
              <a:ext cx="3794760" cy="1664335"/>
            </a:xfrm>
            <a:custGeom>
              <a:avLst/>
              <a:gdLst/>
              <a:ahLst/>
              <a:cxnLst/>
              <a:rect l="l" t="t" r="r" b="b"/>
              <a:pathLst>
                <a:path w="3794759" h="1664335">
                  <a:moveTo>
                    <a:pt x="0" y="54869"/>
                  </a:moveTo>
                  <a:lnTo>
                    <a:pt x="4340" y="33597"/>
                  </a:lnTo>
                  <a:lnTo>
                    <a:pt x="16146" y="16146"/>
                  </a:lnTo>
                  <a:lnTo>
                    <a:pt x="33597" y="4340"/>
                  </a:lnTo>
                  <a:lnTo>
                    <a:pt x="54868" y="0"/>
                  </a:lnTo>
                  <a:lnTo>
                    <a:pt x="3739890" y="0"/>
                  </a:lnTo>
                  <a:lnTo>
                    <a:pt x="3761162" y="4340"/>
                  </a:lnTo>
                  <a:lnTo>
                    <a:pt x="3778612" y="16146"/>
                  </a:lnTo>
                  <a:lnTo>
                    <a:pt x="3790419" y="33597"/>
                  </a:lnTo>
                  <a:lnTo>
                    <a:pt x="3794760" y="54869"/>
                  </a:lnTo>
                  <a:lnTo>
                    <a:pt x="3794760" y="1609338"/>
                  </a:lnTo>
                  <a:lnTo>
                    <a:pt x="3790419" y="1630610"/>
                  </a:lnTo>
                  <a:lnTo>
                    <a:pt x="3778612" y="1648061"/>
                  </a:lnTo>
                  <a:lnTo>
                    <a:pt x="3761162" y="1659867"/>
                  </a:lnTo>
                  <a:lnTo>
                    <a:pt x="3739890" y="1664208"/>
                  </a:lnTo>
                  <a:lnTo>
                    <a:pt x="54868" y="1664208"/>
                  </a:lnTo>
                  <a:lnTo>
                    <a:pt x="33597" y="1659867"/>
                  </a:lnTo>
                  <a:lnTo>
                    <a:pt x="16146" y="1648061"/>
                  </a:lnTo>
                  <a:lnTo>
                    <a:pt x="4340" y="1630610"/>
                  </a:lnTo>
                  <a:lnTo>
                    <a:pt x="0" y="1609338"/>
                  </a:lnTo>
                  <a:lnTo>
                    <a:pt x="0" y="5486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87952" y="3520439"/>
              <a:ext cx="1454150" cy="1664335"/>
            </a:xfrm>
            <a:custGeom>
              <a:avLst/>
              <a:gdLst/>
              <a:ahLst/>
              <a:cxnLst/>
              <a:rect l="l" t="t" r="r" b="b"/>
              <a:pathLst>
                <a:path w="1454150" h="1664335">
                  <a:moveTo>
                    <a:pt x="50292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50292" y="1664208"/>
                  </a:lnTo>
                  <a:lnTo>
                    <a:pt x="50292" y="0"/>
                  </a:lnTo>
                  <a:close/>
                </a:path>
                <a:path w="1454150" h="1664335">
                  <a:moveTo>
                    <a:pt x="1453883" y="493776"/>
                  </a:moveTo>
                  <a:lnTo>
                    <a:pt x="1443761" y="444157"/>
                  </a:lnTo>
                  <a:lnTo>
                    <a:pt x="1416215" y="403440"/>
                  </a:lnTo>
                  <a:lnTo>
                    <a:pt x="1375498" y="375894"/>
                  </a:lnTo>
                  <a:lnTo>
                    <a:pt x="1325880" y="365760"/>
                  </a:lnTo>
                  <a:lnTo>
                    <a:pt x="283451" y="365760"/>
                  </a:lnTo>
                  <a:lnTo>
                    <a:pt x="233832" y="375894"/>
                  </a:lnTo>
                  <a:lnTo>
                    <a:pt x="193116" y="403440"/>
                  </a:lnTo>
                  <a:lnTo>
                    <a:pt x="165569" y="444157"/>
                  </a:lnTo>
                  <a:lnTo>
                    <a:pt x="155448" y="493776"/>
                  </a:lnTo>
                  <a:lnTo>
                    <a:pt x="165569" y="543407"/>
                  </a:lnTo>
                  <a:lnTo>
                    <a:pt x="193116" y="584123"/>
                  </a:lnTo>
                  <a:lnTo>
                    <a:pt x="233832" y="611670"/>
                  </a:lnTo>
                  <a:lnTo>
                    <a:pt x="283464" y="621792"/>
                  </a:lnTo>
                  <a:lnTo>
                    <a:pt x="1325880" y="621792"/>
                  </a:lnTo>
                  <a:lnTo>
                    <a:pt x="1375498" y="611670"/>
                  </a:lnTo>
                  <a:lnTo>
                    <a:pt x="1416215" y="584123"/>
                  </a:lnTo>
                  <a:lnTo>
                    <a:pt x="1443761" y="543407"/>
                  </a:lnTo>
                  <a:lnTo>
                    <a:pt x="1453883" y="493776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400296" y="3580993"/>
            <a:ext cx="3405504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DECISION</a:t>
            </a:r>
            <a:r>
              <a:rPr sz="1300" b="1" spc="-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STATES</a:t>
            </a:r>
            <a:endParaRPr sz="1300">
              <a:latin typeface="Calibri"/>
              <a:cs typeface="Calibri"/>
            </a:endParaRPr>
          </a:p>
          <a:p>
            <a:pPr marL="1433195" marR="30480" indent="-1130300">
              <a:lnSpc>
                <a:spcPts val="969"/>
              </a:lnSpc>
              <a:spcBef>
                <a:spcPts val="810"/>
              </a:spcBef>
              <a:tabLst>
                <a:tab pos="1433195" algn="l"/>
              </a:tabLst>
            </a:pPr>
            <a:r>
              <a:rPr sz="1350" b="1" spc="-15" baseline="-27777" dirty="0">
                <a:solidFill>
                  <a:srgbClr val="FFFFFF"/>
                </a:solidFill>
                <a:latin typeface="Calibri"/>
                <a:cs typeface="Calibri"/>
              </a:rPr>
              <a:t>COMPLIANT</a:t>
            </a:r>
            <a:r>
              <a:rPr sz="1350" b="1" baseline="-27777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Declaration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present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passes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validation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at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high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confidence.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343400" y="4297679"/>
            <a:ext cx="1298575" cy="256540"/>
          </a:xfrm>
          <a:custGeom>
            <a:avLst/>
            <a:gdLst/>
            <a:ahLst/>
            <a:cxnLst/>
            <a:rect l="l" t="t" r="r" b="b"/>
            <a:pathLst>
              <a:path w="1298575" h="256539">
                <a:moveTo>
                  <a:pt x="1170432" y="0"/>
                </a:moveTo>
                <a:lnTo>
                  <a:pt x="128015" y="0"/>
                </a:lnTo>
                <a:lnTo>
                  <a:pt x="78386" y="10126"/>
                </a:lnTo>
                <a:lnTo>
                  <a:pt x="37672" y="37672"/>
                </a:lnTo>
                <a:lnTo>
                  <a:pt x="10126" y="78385"/>
                </a:lnTo>
                <a:lnTo>
                  <a:pt x="0" y="128016"/>
                </a:lnTo>
                <a:lnTo>
                  <a:pt x="10126" y="177645"/>
                </a:lnTo>
                <a:lnTo>
                  <a:pt x="37672" y="218359"/>
                </a:lnTo>
                <a:lnTo>
                  <a:pt x="78386" y="245905"/>
                </a:lnTo>
                <a:lnTo>
                  <a:pt x="128016" y="256031"/>
                </a:lnTo>
                <a:lnTo>
                  <a:pt x="1170432" y="256031"/>
                </a:lnTo>
                <a:lnTo>
                  <a:pt x="1220061" y="245905"/>
                </a:lnTo>
                <a:lnTo>
                  <a:pt x="1260775" y="218359"/>
                </a:lnTo>
                <a:lnTo>
                  <a:pt x="1288320" y="177645"/>
                </a:lnTo>
                <a:lnTo>
                  <a:pt x="1298447" y="128016"/>
                </a:lnTo>
                <a:lnTo>
                  <a:pt x="1288321" y="78385"/>
                </a:lnTo>
                <a:lnTo>
                  <a:pt x="1260775" y="37672"/>
                </a:lnTo>
                <a:lnTo>
                  <a:pt x="1220061" y="10126"/>
                </a:lnTo>
                <a:lnTo>
                  <a:pt x="1170432" y="0"/>
                </a:lnTo>
                <a:close/>
              </a:path>
            </a:pathLst>
          </a:custGeom>
          <a:solidFill>
            <a:srgbClr val="BF39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72138" y="4337099"/>
            <a:ext cx="854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NON-COMPLIANT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33871" y="4277664"/>
            <a:ext cx="1799589" cy="2863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Declaration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missing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or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invalid;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severity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classified</a:t>
            </a:r>
            <a:r>
              <a:rPr sz="90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cited.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343400" y="4709159"/>
            <a:ext cx="1298575" cy="256540"/>
          </a:xfrm>
          <a:custGeom>
            <a:avLst/>
            <a:gdLst/>
            <a:ahLst/>
            <a:cxnLst/>
            <a:rect l="l" t="t" r="r" b="b"/>
            <a:pathLst>
              <a:path w="1298575" h="256539">
                <a:moveTo>
                  <a:pt x="1170432" y="0"/>
                </a:moveTo>
                <a:lnTo>
                  <a:pt x="128015" y="0"/>
                </a:lnTo>
                <a:lnTo>
                  <a:pt x="78386" y="10126"/>
                </a:lnTo>
                <a:lnTo>
                  <a:pt x="37672" y="37672"/>
                </a:lnTo>
                <a:lnTo>
                  <a:pt x="10126" y="78385"/>
                </a:lnTo>
                <a:lnTo>
                  <a:pt x="0" y="128016"/>
                </a:lnTo>
                <a:lnTo>
                  <a:pt x="10126" y="177645"/>
                </a:lnTo>
                <a:lnTo>
                  <a:pt x="37672" y="218359"/>
                </a:lnTo>
                <a:lnTo>
                  <a:pt x="78386" y="245905"/>
                </a:lnTo>
                <a:lnTo>
                  <a:pt x="128016" y="256031"/>
                </a:lnTo>
                <a:lnTo>
                  <a:pt x="1170432" y="256031"/>
                </a:lnTo>
                <a:lnTo>
                  <a:pt x="1220061" y="245905"/>
                </a:lnTo>
                <a:lnTo>
                  <a:pt x="1260775" y="218359"/>
                </a:lnTo>
                <a:lnTo>
                  <a:pt x="1288320" y="177645"/>
                </a:lnTo>
                <a:lnTo>
                  <a:pt x="1298447" y="128016"/>
                </a:lnTo>
                <a:lnTo>
                  <a:pt x="1288321" y="78385"/>
                </a:lnTo>
                <a:lnTo>
                  <a:pt x="1260775" y="37672"/>
                </a:lnTo>
                <a:lnTo>
                  <a:pt x="1220061" y="10126"/>
                </a:lnTo>
                <a:lnTo>
                  <a:pt x="1170432" y="0"/>
                </a:lnTo>
                <a:close/>
              </a:path>
            </a:pathLst>
          </a:custGeom>
          <a:solidFill>
            <a:srgbClr val="B885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634701" y="4748579"/>
            <a:ext cx="7289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33871" y="4689144"/>
            <a:ext cx="1833880" cy="2863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Extraction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confidence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below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threshold;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routed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human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officer.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140954" y="816610"/>
            <a:ext cx="3734435" cy="2219960"/>
            <a:chOff x="8140954" y="816610"/>
            <a:chExt cx="3734435" cy="2219960"/>
          </a:xfrm>
        </p:grpSpPr>
        <p:sp>
          <p:nvSpPr>
            <p:cNvPr id="49" name="object 49"/>
            <p:cNvSpPr/>
            <p:nvPr/>
          </p:nvSpPr>
          <p:spPr>
            <a:xfrm>
              <a:off x="8140954" y="829309"/>
              <a:ext cx="3734435" cy="2207260"/>
            </a:xfrm>
            <a:custGeom>
              <a:avLst/>
              <a:gdLst/>
              <a:ahLst/>
              <a:cxnLst/>
              <a:rect l="l" t="t" r="r" b="b"/>
              <a:pathLst>
                <a:path w="3734434" h="2207260">
                  <a:moveTo>
                    <a:pt x="3679126" y="0"/>
                  </a:moveTo>
                  <a:lnTo>
                    <a:pt x="55181" y="0"/>
                  </a:lnTo>
                  <a:lnTo>
                    <a:pt x="33788" y="4365"/>
                  </a:lnTo>
                  <a:lnTo>
                    <a:pt x="16238" y="16238"/>
                  </a:lnTo>
                  <a:lnTo>
                    <a:pt x="4365" y="33788"/>
                  </a:lnTo>
                  <a:lnTo>
                    <a:pt x="0" y="55181"/>
                  </a:lnTo>
                  <a:lnTo>
                    <a:pt x="0" y="2152078"/>
                  </a:lnTo>
                  <a:lnTo>
                    <a:pt x="4365" y="2173471"/>
                  </a:lnTo>
                  <a:lnTo>
                    <a:pt x="16238" y="2191020"/>
                  </a:lnTo>
                  <a:lnTo>
                    <a:pt x="33788" y="2202894"/>
                  </a:lnTo>
                  <a:lnTo>
                    <a:pt x="55181" y="2207260"/>
                  </a:lnTo>
                  <a:lnTo>
                    <a:pt x="3679126" y="2207260"/>
                  </a:lnTo>
                  <a:lnTo>
                    <a:pt x="3700519" y="2202894"/>
                  </a:lnTo>
                  <a:lnTo>
                    <a:pt x="3718069" y="2191020"/>
                  </a:lnTo>
                  <a:lnTo>
                    <a:pt x="3729942" y="2173471"/>
                  </a:lnTo>
                  <a:lnTo>
                    <a:pt x="3734307" y="2152078"/>
                  </a:lnTo>
                  <a:lnTo>
                    <a:pt x="3734307" y="55181"/>
                  </a:lnTo>
                  <a:lnTo>
                    <a:pt x="3729942" y="33788"/>
                  </a:lnTo>
                  <a:lnTo>
                    <a:pt x="3718069" y="16238"/>
                  </a:lnTo>
                  <a:lnTo>
                    <a:pt x="3700519" y="4365"/>
                  </a:lnTo>
                  <a:lnTo>
                    <a:pt x="367912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47304" y="822960"/>
              <a:ext cx="3721735" cy="2194560"/>
            </a:xfrm>
            <a:custGeom>
              <a:avLst/>
              <a:gdLst/>
              <a:ahLst/>
              <a:cxnLst/>
              <a:rect l="l" t="t" r="r" b="b"/>
              <a:pathLst>
                <a:path w="3721734" h="2194560">
                  <a:moveTo>
                    <a:pt x="3666744" y="0"/>
                  </a:moveTo>
                  <a:lnTo>
                    <a:pt x="54863" y="0"/>
                  </a:lnTo>
                  <a:lnTo>
                    <a:pt x="33593" y="4340"/>
                  </a:lnTo>
                  <a:lnTo>
                    <a:pt x="16145" y="16145"/>
                  </a:lnTo>
                  <a:lnTo>
                    <a:pt x="4339" y="33594"/>
                  </a:lnTo>
                  <a:lnTo>
                    <a:pt x="0" y="54864"/>
                  </a:lnTo>
                  <a:lnTo>
                    <a:pt x="0" y="2139696"/>
                  </a:lnTo>
                  <a:lnTo>
                    <a:pt x="4339" y="2160965"/>
                  </a:lnTo>
                  <a:lnTo>
                    <a:pt x="16145" y="2178414"/>
                  </a:lnTo>
                  <a:lnTo>
                    <a:pt x="33593" y="2190219"/>
                  </a:lnTo>
                  <a:lnTo>
                    <a:pt x="54864" y="2194560"/>
                  </a:lnTo>
                  <a:lnTo>
                    <a:pt x="3666744" y="2194560"/>
                  </a:lnTo>
                  <a:lnTo>
                    <a:pt x="3688013" y="2190219"/>
                  </a:lnTo>
                  <a:lnTo>
                    <a:pt x="3705462" y="2178414"/>
                  </a:lnTo>
                  <a:lnTo>
                    <a:pt x="3717267" y="2160965"/>
                  </a:lnTo>
                  <a:lnTo>
                    <a:pt x="3721608" y="2139696"/>
                  </a:lnTo>
                  <a:lnTo>
                    <a:pt x="3721608" y="54864"/>
                  </a:lnTo>
                  <a:lnTo>
                    <a:pt x="3717268" y="33594"/>
                  </a:lnTo>
                  <a:lnTo>
                    <a:pt x="3705462" y="16145"/>
                  </a:lnTo>
                  <a:lnTo>
                    <a:pt x="3688013" y="4340"/>
                  </a:lnTo>
                  <a:lnTo>
                    <a:pt x="3666744" y="0"/>
                  </a:lnTo>
                  <a:close/>
                </a:path>
              </a:pathLst>
            </a:custGeom>
            <a:solidFill>
              <a:srgbClr val="F4F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47304" y="822960"/>
              <a:ext cx="3721735" cy="2194560"/>
            </a:xfrm>
            <a:custGeom>
              <a:avLst/>
              <a:gdLst/>
              <a:ahLst/>
              <a:cxnLst/>
              <a:rect l="l" t="t" r="r" b="b"/>
              <a:pathLst>
                <a:path w="3721734" h="2194560">
                  <a:moveTo>
                    <a:pt x="0" y="54864"/>
                  </a:moveTo>
                  <a:lnTo>
                    <a:pt x="4339" y="33594"/>
                  </a:lnTo>
                  <a:lnTo>
                    <a:pt x="16145" y="16145"/>
                  </a:lnTo>
                  <a:lnTo>
                    <a:pt x="33593" y="4340"/>
                  </a:lnTo>
                  <a:lnTo>
                    <a:pt x="54863" y="0"/>
                  </a:lnTo>
                  <a:lnTo>
                    <a:pt x="3666744" y="0"/>
                  </a:lnTo>
                  <a:lnTo>
                    <a:pt x="3688013" y="4339"/>
                  </a:lnTo>
                  <a:lnTo>
                    <a:pt x="3705462" y="16145"/>
                  </a:lnTo>
                  <a:lnTo>
                    <a:pt x="3717267" y="33593"/>
                  </a:lnTo>
                  <a:lnTo>
                    <a:pt x="3721608" y="54862"/>
                  </a:lnTo>
                  <a:lnTo>
                    <a:pt x="3721608" y="2139696"/>
                  </a:lnTo>
                  <a:lnTo>
                    <a:pt x="3717267" y="2160965"/>
                  </a:lnTo>
                  <a:lnTo>
                    <a:pt x="3705462" y="2178414"/>
                  </a:lnTo>
                  <a:lnTo>
                    <a:pt x="3688013" y="2190219"/>
                  </a:lnTo>
                  <a:lnTo>
                    <a:pt x="3666744" y="2194560"/>
                  </a:lnTo>
                  <a:lnTo>
                    <a:pt x="54864" y="2194560"/>
                  </a:lnTo>
                  <a:lnTo>
                    <a:pt x="33593" y="2190219"/>
                  </a:lnTo>
                  <a:lnTo>
                    <a:pt x="16145" y="2178414"/>
                  </a:lnTo>
                  <a:lnTo>
                    <a:pt x="4339" y="2160965"/>
                  </a:lnTo>
                  <a:lnTo>
                    <a:pt x="0" y="2139696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47304" y="822960"/>
              <a:ext cx="50800" cy="2194560"/>
            </a:xfrm>
            <a:custGeom>
              <a:avLst/>
              <a:gdLst/>
              <a:ahLst/>
              <a:cxnLst/>
              <a:rect l="l" t="t" r="r" b="b"/>
              <a:pathLst>
                <a:path w="50800" h="2194560">
                  <a:moveTo>
                    <a:pt x="50292" y="0"/>
                  </a:moveTo>
                  <a:lnTo>
                    <a:pt x="0" y="0"/>
                  </a:lnTo>
                  <a:lnTo>
                    <a:pt x="0" y="2194560"/>
                  </a:lnTo>
                  <a:lnTo>
                    <a:pt x="50292" y="219456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385047" y="883512"/>
            <a:ext cx="24060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COMPLIANCE</a:t>
            </a:r>
            <a:r>
              <a:rPr sz="1300" b="1" spc="-6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CHECKS</a:t>
            </a:r>
            <a:r>
              <a:rPr sz="1300" b="1" spc="-5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PERFORMED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297989" y="1183957"/>
            <a:ext cx="3367404" cy="1326515"/>
            <a:chOff x="8297989" y="1183957"/>
            <a:chExt cx="3367404" cy="1326515"/>
          </a:xfrm>
        </p:grpSpPr>
        <p:sp>
          <p:nvSpPr>
            <p:cNvPr id="55" name="object 55"/>
            <p:cNvSpPr/>
            <p:nvPr/>
          </p:nvSpPr>
          <p:spPr>
            <a:xfrm>
              <a:off x="8302752" y="1188720"/>
              <a:ext cx="454025" cy="274320"/>
            </a:xfrm>
            <a:custGeom>
              <a:avLst/>
              <a:gdLst/>
              <a:ahLst/>
              <a:cxnLst/>
              <a:rect l="l" t="t" r="r" b="b"/>
              <a:pathLst>
                <a:path w="454025" h="274319">
                  <a:moveTo>
                    <a:pt x="316381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316381" y="274320"/>
                  </a:lnTo>
                  <a:lnTo>
                    <a:pt x="359539" y="267278"/>
                  </a:lnTo>
                  <a:lnTo>
                    <a:pt x="397167" y="247709"/>
                  </a:lnTo>
                  <a:lnTo>
                    <a:pt x="426931" y="217945"/>
                  </a:lnTo>
                  <a:lnTo>
                    <a:pt x="446500" y="180318"/>
                  </a:lnTo>
                  <a:lnTo>
                    <a:pt x="453541" y="137159"/>
                  </a:lnTo>
                  <a:lnTo>
                    <a:pt x="446500" y="94001"/>
                  </a:lnTo>
                  <a:lnTo>
                    <a:pt x="426931" y="56374"/>
                  </a:lnTo>
                  <a:lnTo>
                    <a:pt x="397167" y="26610"/>
                  </a:lnTo>
                  <a:lnTo>
                    <a:pt x="359539" y="7041"/>
                  </a:lnTo>
                  <a:lnTo>
                    <a:pt x="316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302752" y="1188720"/>
              <a:ext cx="454025" cy="274320"/>
            </a:xfrm>
            <a:custGeom>
              <a:avLst/>
              <a:gdLst/>
              <a:ahLst/>
              <a:cxnLst/>
              <a:rect l="l" t="t" r="r" b="b"/>
              <a:pathLst>
                <a:path w="45402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316381" y="0"/>
                  </a:lnTo>
                  <a:lnTo>
                    <a:pt x="359539" y="7041"/>
                  </a:lnTo>
                  <a:lnTo>
                    <a:pt x="397167" y="26610"/>
                  </a:lnTo>
                  <a:lnTo>
                    <a:pt x="426931" y="56374"/>
                  </a:lnTo>
                  <a:lnTo>
                    <a:pt x="446500" y="94001"/>
                  </a:lnTo>
                  <a:lnTo>
                    <a:pt x="453541" y="137159"/>
                  </a:lnTo>
                  <a:lnTo>
                    <a:pt x="446500" y="180318"/>
                  </a:lnTo>
                  <a:lnTo>
                    <a:pt x="426931" y="217945"/>
                  </a:lnTo>
                  <a:lnTo>
                    <a:pt x="397167" y="247709"/>
                  </a:lnTo>
                  <a:lnTo>
                    <a:pt x="359539" y="267278"/>
                  </a:lnTo>
                  <a:lnTo>
                    <a:pt x="316381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866021" y="1188720"/>
              <a:ext cx="1046480" cy="274320"/>
            </a:xfrm>
            <a:custGeom>
              <a:avLst/>
              <a:gdLst/>
              <a:ahLst/>
              <a:cxnLst/>
              <a:rect l="l" t="t" r="r" b="b"/>
              <a:pathLst>
                <a:path w="1046479" h="274319">
                  <a:moveTo>
                    <a:pt x="908913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908913" y="274320"/>
                  </a:lnTo>
                  <a:lnTo>
                    <a:pt x="952072" y="267278"/>
                  </a:lnTo>
                  <a:lnTo>
                    <a:pt x="989699" y="247709"/>
                  </a:lnTo>
                  <a:lnTo>
                    <a:pt x="1019463" y="217945"/>
                  </a:lnTo>
                  <a:lnTo>
                    <a:pt x="1039032" y="180318"/>
                  </a:lnTo>
                  <a:lnTo>
                    <a:pt x="1046073" y="137159"/>
                  </a:lnTo>
                  <a:lnTo>
                    <a:pt x="1039032" y="94001"/>
                  </a:lnTo>
                  <a:lnTo>
                    <a:pt x="1019463" y="56374"/>
                  </a:lnTo>
                  <a:lnTo>
                    <a:pt x="989699" y="26610"/>
                  </a:lnTo>
                  <a:lnTo>
                    <a:pt x="952072" y="7041"/>
                  </a:lnTo>
                  <a:lnTo>
                    <a:pt x="9089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866021" y="1188720"/>
              <a:ext cx="1046480" cy="274320"/>
            </a:xfrm>
            <a:custGeom>
              <a:avLst/>
              <a:gdLst/>
              <a:ahLst/>
              <a:cxnLst/>
              <a:rect l="l" t="t" r="r" b="b"/>
              <a:pathLst>
                <a:path w="1046479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908913" y="0"/>
                  </a:lnTo>
                  <a:lnTo>
                    <a:pt x="952072" y="7041"/>
                  </a:lnTo>
                  <a:lnTo>
                    <a:pt x="989699" y="26610"/>
                  </a:lnTo>
                  <a:lnTo>
                    <a:pt x="1019463" y="56374"/>
                  </a:lnTo>
                  <a:lnTo>
                    <a:pt x="1039032" y="94001"/>
                  </a:lnTo>
                  <a:lnTo>
                    <a:pt x="1046073" y="137159"/>
                  </a:lnTo>
                  <a:lnTo>
                    <a:pt x="1039032" y="180318"/>
                  </a:lnTo>
                  <a:lnTo>
                    <a:pt x="1019463" y="217945"/>
                  </a:lnTo>
                  <a:lnTo>
                    <a:pt x="989699" y="247709"/>
                  </a:lnTo>
                  <a:lnTo>
                    <a:pt x="952072" y="267278"/>
                  </a:lnTo>
                  <a:lnTo>
                    <a:pt x="908913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21824" y="1188720"/>
              <a:ext cx="1638935" cy="274320"/>
            </a:xfrm>
            <a:custGeom>
              <a:avLst/>
              <a:gdLst/>
              <a:ahLst/>
              <a:cxnLst/>
              <a:rect l="l" t="t" r="r" b="b"/>
              <a:pathLst>
                <a:path w="1638934" h="274319">
                  <a:moveTo>
                    <a:pt x="1501444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501444" y="274320"/>
                  </a:lnTo>
                  <a:lnTo>
                    <a:pt x="1544602" y="267278"/>
                  </a:lnTo>
                  <a:lnTo>
                    <a:pt x="1582230" y="247709"/>
                  </a:lnTo>
                  <a:lnTo>
                    <a:pt x="1611994" y="217945"/>
                  </a:lnTo>
                  <a:lnTo>
                    <a:pt x="1631563" y="180318"/>
                  </a:lnTo>
                  <a:lnTo>
                    <a:pt x="1638604" y="137159"/>
                  </a:lnTo>
                  <a:lnTo>
                    <a:pt x="1631563" y="94001"/>
                  </a:lnTo>
                  <a:lnTo>
                    <a:pt x="1611994" y="56374"/>
                  </a:lnTo>
                  <a:lnTo>
                    <a:pt x="1582230" y="26610"/>
                  </a:lnTo>
                  <a:lnTo>
                    <a:pt x="1544602" y="7041"/>
                  </a:lnTo>
                  <a:lnTo>
                    <a:pt x="1501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021824" y="1188720"/>
              <a:ext cx="1638935" cy="274320"/>
            </a:xfrm>
            <a:custGeom>
              <a:avLst/>
              <a:gdLst/>
              <a:ahLst/>
              <a:cxnLst/>
              <a:rect l="l" t="t" r="r" b="b"/>
              <a:pathLst>
                <a:path w="1638934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501444" y="0"/>
                  </a:lnTo>
                  <a:lnTo>
                    <a:pt x="1544602" y="7041"/>
                  </a:lnTo>
                  <a:lnTo>
                    <a:pt x="1582230" y="26610"/>
                  </a:lnTo>
                  <a:lnTo>
                    <a:pt x="1611994" y="56374"/>
                  </a:lnTo>
                  <a:lnTo>
                    <a:pt x="1631563" y="94001"/>
                  </a:lnTo>
                  <a:lnTo>
                    <a:pt x="1638604" y="137159"/>
                  </a:lnTo>
                  <a:lnTo>
                    <a:pt x="1631563" y="180318"/>
                  </a:lnTo>
                  <a:lnTo>
                    <a:pt x="1611994" y="217945"/>
                  </a:lnTo>
                  <a:lnTo>
                    <a:pt x="1582230" y="247709"/>
                  </a:lnTo>
                  <a:lnTo>
                    <a:pt x="1544602" y="267278"/>
                  </a:lnTo>
                  <a:lnTo>
                    <a:pt x="1501444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302752" y="1536192"/>
              <a:ext cx="1441450" cy="274320"/>
            </a:xfrm>
            <a:custGeom>
              <a:avLst/>
              <a:gdLst/>
              <a:ahLst/>
              <a:cxnLst/>
              <a:rect l="l" t="t" r="r" b="b"/>
              <a:pathLst>
                <a:path w="1441450" h="274319">
                  <a:moveTo>
                    <a:pt x="1303933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303933" y="274320"/>
                  </a:lnTo>
                  <a:lnTo>
                    <a:pt x="1347091" y="267278"/>
                  </a:lnTo>
                  <a:lnTo>
                    <a:pt x="1384719" y="247709"/>
                  </a:lnTo>
                  <a:lnTo>
                    <a:pt x="1414483" y="217945"/>
                  </a:lnTo>
                  <a:lnTo>
                    <a:pt x="1434052" y="180318"/>
                  </a:lnTo>
                  <a:lnTo>
                    <a:pt x="1441093" y="137159"/>
                  </a:lnTo>
                  <a:lnTo>
                    <a:pt x="1434052" y="94001"/>
                  </a:lnTo>
                  <a:lnTo>
                    <a:pt x="1414483" y="56374"/>
                  </a:lnTo>
                  <a:lnTo>
                    <a:pt x="1384719" y="26610"/>
                  </a:lnTo>
                  <a:lnTo>
                    <a:pt x="1347091" y="7041"/>
                  </a:lnTo>
                  <a:lnTo>
                    <a:pt x="1303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02752" y="1536192"/>
              <a:ext cx="1441450" cy="274320"/>
            </a:xfrm>
            <a:custGeom>
              <a:avLst/>
              <a:gdLst/>
              <a:ahLst/>
              <a:cxnLst/>
              <a:rect l="l" t="t" r="r" b="b"/>
              <a:pathLst>
                <a:path w="144145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303933" y="0"/>
                  </a:lnTo>
                  <a:lnTo>
                    <a:pt x="1347091" y="7041"/>
                  </a:lnTo>
                  <a:lnTo>
                    <a:pt x="1384719" y="26610"/>
                  </a:lnTo>
                  <a:lnTo>
                    <a:pt x="1414483" y="56374"/>
                  </a:lnTo>
                  <a:lnTo>
                    <a:pt x="1434052" y="94001"/>
                  </a:lnTo>
                  <a:lnTo>
                    <a:pt x="1441093" y="137159"/>
                  </a:lnTo>
                  <a:lnTo>
                    <a:pt x="1434052" y="180318"/>
                  </a:lnTo>
                  <a:lnTo>
                    <a:pt x="1414483" y="217945"/>
                  </a:lnTo>
                  <a:lnTo>
                    <a:pt x="1384719" y="247709"/>
                  </a:lnTo>
                  <a:lnTo>
                    <a:pt x="1347091" y="267278"/>
                  </a:lnTo>
                  <a:lnTo>
                    <a:pt x="1303933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853574" y="1536192"/>
              <a:ext cx="1112520" cy="274320"/>
            </a:xfrm>
            <a:custGeom>
              <a:avLst/>
              <a:gdLst/>
              <a:ahLst/>
              <a:cxnLst/>
              <a:rect l="l" t="t" r="r" b="b"/>
              <a:pathLst>
                <a:path w="1112520" h="274319">
                  <a:moveTo>
                    <a:pt x="974749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974749" y="274320"/>
                  </a:lnTo>
                  <a:lnTo>
                    <a:pt x="1017907" y="267278"/>
                  </a:lnTo>
                  <a:lnTo>
                    <a:pt x="1055535" y="247709"/>
                  </a:lnTo>
                  <a:lnTo>
                    <a:pt x="1085299" y="217945"/>
                  </a:lnTo>
                  <a:lnTo>
                    <a:pt x="1104868" y="180318"/>
                  </a:lnTo>
                  <a:lnTo>
                    <a:pt x="1111909" y="137159"/>
                  </a:lnTo>
                  <a:lnTo>
                    <a:pt x="1104868" y="94001"/>
                  </a:lnTo>
                  <a:lnTo>
                    <a:pt x="1085299" y="56374"/>
                  </a:lnTo>
                  <a:lnTo>
                    <a:pt x="1055535" y="26610"/>
                  </a:lnTo>
                  <a:lnTo>
                    <a:pt x="1017907" y="7041"/>
                  </a:lnTo>
                  <a:lnTo>
                    <a:pt x="974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853574" y="1536192"/>
              <a:ext cx="1112520" cy="274320"/>
            </a:xfrm>
            <a:custGeom>
              <a:avLst/>
              <a:gdLst/>
              <a:ahLst/>
              <a:cxnLst/>
              <a:rect l="l" t="t" r="r" b="b"/>
              <a:pathLst>
                <a:path w="111252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974749" y="0"/>
                  </a:lnTo>
                  <a:lnTo>
                    <a:pt x="1017907" y="7041"/>
                  </a:lnTo>
                  <a:lnTo>
                    <a:pt x="1055535" y="26610"/>
                  </a:lnTo>
                  <a:lnTo>
                    <a:pt x="1085299" y="56374"/>
                  </a:lnTo>
                  <a:lnTo>
                    <a:pt x="1104868" y="94001"/>
                  </a:lnTo>
                  <a:lnTo>
                    <a:pt x="1111909" y="137159"/>
                  </a:lnTo>
                  <a:lnTo>
                    <a:pt x="1104868" y="180318"/>
                  </a:lnTo>
                  <a:lnTo>
                    <a:pt x="1085299" y="217945"/>
                  </a:lnTo>
                  <a:lnTo>
                    <a:pt x="1055535" y="247709"/>
                  </a:lnTo>
                  <a:lnTo>
                    <a:pt x="1017907" y="267278"/>
                  </a:lnTo>
                  <a:lnTo>
                    <a:pt x="974749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302752" y="1883663"/>
              <a:ext cx="1375410" cy="274320"/>
            </a:xfrm>
            <a:custGeom>
              <a:avLst/>
              <a:gdLst/>
              <a:ahLst/>
              <a:cxnLst/>
              <a:rect l="l" t="t" r="r" b="b"/>
              <a:pathLst>
                <a:path w="1375409" h="274319">
                  <a:moveTo>
                    <a:pt x="1238097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238097" y="274320"/>
                  </a:lnTo>
                  <a:lnTo>
                    <a:pt x="1281256" y="267278"/>
                  </a:lnTo>
                  <a:lnTo>
                    <a:pt x="1318883" y="247709"/>
                  </a:lnTo>
                  <a:lnTo>
                    <a:pt x="1348647" y="217945"/>
                  </a:lnTo>
                  <a:lnTo>
                    <a:pt x="1368216" y="180318"/>
                  </a:lnTo>
                  <a:lnTo>
                    <a:pt x="1375257" y="137159"/>
                  </a:lnTo>
                  <a:lnTo>
                    <a:pt x="1368216" y="94001"/>
                  </a:lnTo>
                  <a:lnTo>
                    <a:pt x="1348647" y="56374"/>
                  </a:lnTo>
                  <a:lnTo>
                    <a:pt x="1318883" y="26610"/>
                  </a:lnTo>
                  <a:lnTo>
                    <a:pt x="1281256" y="7041"/>
                  </a:lnTo>
                  <a:lnTo>
                    <a:pt x="12380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302752" y="1883663"/>
              <a:ext cx="1375410" cy="274320"/>
            </a:xfrm>
            <a:custGeom>
              <a:avLst/>
              <a:gdLst/>
              <a:ahLst/>
              <a:cxnLst/>
              <a:rect l="l" t="t" r="r" b="b"/>
              <a:pathLst>
                <a:path w="1375409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238097" y="0"/>
                  </a:lnTo>
                  <a:lnTo>
                    <a:pt x="1281256" y="7041"/>
                  </a:lnTo>
                  <a:lnTo>
                    <a:pt x="1318883" y="26610"/>
                  </a:lnTo>
                  <a:lnTo>
                    <a:pt x="1348647" y="56374"/>
                  </a:lnTo>
                  <a:lnTo>
                    <a:pt x="1368216" y="94001"/>
                  </a:lnTo>
                  <a:lnTo>
                    <a:pt x="1375257" y="137159"/>
                  </a:lnTo>
                  <a:lnTo>
                    <a:pt x="1368216" y="180318"/>
                  </a:lnTo>
                  <a:lnTo>
                    <a:pt x="1348647" y="217945"/>
                  </a:lnTo>
                  <a:lnTo>
                    <a:pt x="1318883" y="247709"/>
                  </a:lnTo>
                  <a:lnTo>
                    <a:pt x="1281256" y="267278"/>
                  </a:lnTo>
                  <a:lnTo>
                    <a:pt x="1238097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87738" y="1883663"/>
              <a:ext cx="1177925" cy="274320"/>
            </a:xfrm>
            <a:custGeom>
              <a:avLst/>
              <a:gdLst/>
              <a:ahLst/>
              <a:cxnLst/>
              <a:rect l="l" t="t" r="r" b="b"/>
              <a:pathLst>
                <a:path w="1177925" h="274319">
                  <a:moveTo>
                    <a:pt x="1040586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040586" y="274320"/>
                  </a:lnTo>
                  <a:lnTo>
                    <a:pt x="1083744" y="267278"/>
                  </a:lnTo>
                  <a:lnTo>
                    <a:pt x="1121372" y="247709"/>
                  </a:lnTo>
                  <a:lnTo>
                    <a:pt x="1151136" y="217945"/>
                  </a:lnTo>
                  <a:lnTo>
                    <a:pt x="1170705" y="180318"/>
                  </a:lnTo>
                  <a:lnTo>
                    <a:pt x="1177746" y="137159"/>
                  </a:lnTo>
                  <a:lnTo>
                    <a:pt x="1170705" y="94001"/>
                  </a:lnTo>
                  <a:lnTo>
                    <a:pt x="1151136" y="56374"/>
                  </a:lnTo>
                  <a:lnTo>
                    <a:pt x="1121372" y="26610"/>
                  </a:lnTo>
                  <a:lnTo>
                    <a:pt x="1083744" y="7041"/>
                  </a:lnTo>
                  <a:lnTo>
                    <a:pt x="1040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787738" y="1883663"/>
              <a:ext cx="1177925" cy="274320"/>
            </a:xfrm>
            <a:custGeom>
              <a:avLst/>
              <a:gdLst/>
              <a:ahLst/>
              <a:cxnLst/>
              <a:rect l="l" t="t" r="r" b="b"/>
              <a:pathLst>
                <a:path w="117792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040586" y="0"/>
                  </a:lnTo>
                  <a:lnTo>
                    <a:pt x="1083744" y="7041"/>
                  </a:lnTo>
                  <a:lnTo>
                    <a:pt x="1121372" y="26610"/>
                  </a:lnTo>
                  <a:lnTo>
                    <a:pt x="1151136" y="56374"/>
                  </a:lnTo>
                  <a:lnTo>
                    <a:pt x="1170705" y="94001"/>
                  </a:lnTo>
                  <a:lnTo>
                    <a:pt x="1177746" y="137159"/>
                  </a:lnTo>
                  <a:lnTo>
                    <a:pt x="1170705" y="180318"/>
                  </a:lnTo>
                  <a:lnTo>
                    <a:pt x="1151136" y="217945"/>
                  </a:lnTo>
                  <a:lnTo>
                    <a:pt x="1121372" y="247709"/>
                  </a:lnTo>
                  <a:lnTo>
                    <a:pt x="1083744" y="267278"/>
                  </a:lnTo>
                  <a:lnTo>
                    <a:pt x="1040586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302752" y="2231136"/>
              <a:ext cx="848994" cy="274320"/>
            </a:xfrm>
            <a:custGeom>
              <a:avLst/>
              <a:gdLst/>
              <a:ahLst/>
              <a:cxnLst/>
              <a:rect l="l" t="t" r="r" b="b"/>
              <a:pathLst>
                <a:path w="848995" h="274319">
                  <a:moveTo>
                    <a:pt x="711402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711402" y="274320"/>
                  </a:lnTo>
                  <a:lnTo>
                    <a:pt x="754560" y="267278"/>
                  </a:lnTo>
                  <a:lnTo>
                    <a:pt x="792188" y="247709"/>
                  </a:lnTo>
                  <a:lnTo>
                    <a:pt x="821952" y="217945"/>
                  </a:lnTo>
                  <a:lnTo>
                    <a:pt x="841521" y="180318"/>
                  </a:lnTo>
                  <a:lnTo>
                    <a:pt x="848562" y="137159"/>
                  </a:lnTo>
                  <a:lnTo>
                    <a:pt x="841521" y="94001"/>
                  </a:lnTo>
                  <a:lnTo>
                    <a:pt x="821952" y="56374"/>
                  </a:lnTo>
                  <a:lnTo>
                    <a:pt x="792188" y="26610"/>
                  </a:lnTo>
                  <a:lnTo>
                    <a:pt x="754560" y="7041"/>
                  </a:lnTo>
                  <a:lnTo>
                    <a:pt x="711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302752" y="2231136"/>
              <a:ext cx="848994" cy="274320"/>
            </a:xfrm>
            <a:custGeom>
              <a:avLst/>
              <a:gdLst/>
              <a:ahLst/>
              <a:cxnLst/>
              <a:rect l="l" t="t" r="r" b="b"/>
              <a:pathLst>
                <a:path w="84899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711402" y="0"/>
                  </a:lnTo>
                  <a:lnTo>
                    <a:pt x="754560" y="7041"/>
                  </a:lnTo>
                  <a:lnTo>
                    <a:pt x="792188" y="26610"/>
                  </a:lnTo>
                  <a:lnTo>
                    <a:pt x="821952" y="56374"/>
                  </a:lnTo>
                  <a:lnTo>
                    <a:pt x="841521" y="94001"/>
                  </a:lnTo>
                  <a:lnTo>
                    <a:pt x="848562" y="137159"/>
                  </a:lnTo>
                  <a:lnTo>
                    <a:pt x="841521" y="180318"/>
                  </a:lnTo>
                  <a:lnTo>
                    <a:pt x="821952" y="217945"/>
                  </a:lnTo>
                  <a:lnTo>
                    <a:pt x="792188" y="247709"/>
                  </a:lnTo>
                  <a:lnTo>
                    <a:pt x="754560" y="267278"/>
                  </a:lnTo>
                  <a:lnTo>
                    <a:pt x="711402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261042" y="2231136"/>
              <a:ext cx="1243965" cy="274320"/>
            </a:xfrm>
            <a:custGeom>
              <a:avLst/>
              <a:gdLst/>
              <a:ahLst/>
              <a:cxnLst/>
              <a:rect l="l" t="t" r="r" b="b"/>
              <a:pathLst>
                <a:path w="1243965" h="274319">
                  <a:moveTo>
                    <a:pt x="1106424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1106424" y="274320"/>
                  </a:lnTo>
                  <a:lnTo>
                    <a:pt x="1149582" y="267278"/>
                  </a:lnTo>
                  <a:lnTo>
                    <a:pt x="1187209" y="247709"/>
                  </a:lnTo>
                  <a:lnTo>
                    <a:pt x="1216973" y="217945"/>
                  </a:lnTo>
                  <a:lnTo>
                    <a:pt x="1236542" y="180318"/>
                  </a:lnTo>
                  <a:lnTo>
                    <a:pt x="1243583" y="137159"/>
                  </a:lnTo>
                  <a:lnTo>
                    <a:pt x="1236542" y="94001"/>
                  </a:lnTo>
                  <a:lnTo>
                    <a:pt x="1216973" y="56374"/>
                  </a:lnTo>
                  <a:lnTo>
                    <a:pt x="1187209" y="26610"/>
                  </a:lnTo>
                  <a:lnTo>
                    <a:pt x="1149582" y="7041"/>
                  </a:lnTo>
                  <a:lnTo>
                    <a:pt x="1106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261042" y="2231136"/>
              <a:ext cx="1243965" cy="274320"/>
            </a:xfrm>
            <a:custGeom>
              <a:avLst/>
              <a:gdLst/>
              <a:ahLst/>
              <a:cxnLst/>
              <a:rect l="l" t="t" r="r" b="b"/>
              <a:pathLst>
                <a:path w="1243965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1106424" y="0"/>
                  </a:lnTo>
                  <a:lnTo>
                    <a:pt x="1149582" y="7041"/>
                  </a:lnTo>
                  <a:lnTo>
                    <a:pt x="1187209" y="26610"/>
                  </a:lnTo>
                  <a:lnTo>
                    <a:pt x="1216973" y="56374"/>
                  </a:lnTo>
                  <a:lnTo>
                    <a:pt x="1236542" y="94001"/>
                  </a:lnTo>
                  <a:lnTo>
                    <a:pt x="1243583" y="137159"/>
                  </a:lnTo>
                  <a:lnTo>
                    <a:pt x="1236542" y="180318"/>
                  </a:lnTo>
                  <a:lnTo>
                    <a:pt x="1216973" y="217945"/>
                  </a:lnTo>
                  <a:lnTo>
                    <a:pt x="1187209" y="247709"/>
                  </a:lnTo>
                  <a:lnTo>
                    <a:pt x="1149582" y="267278"/>
                  </a:lnTo>
                  <a:lnTo>
                    <a:pt x="1106424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614354" y="2231136"/>
              <a:ext cx="980440" cy="274320"/>
            </a:xfrm>
            <a:custGeom>
              <a:avLst/>
              <a:gdLst/>
              <a:ahLst/>
              <a:cxnLst/>
              <a:rect l="l" t="t" r="r" b="b"/>
              <a:pathLst>
                <a:path w="980440" h="274319">
                  <a:moveTo>
                    <a:pt x="843076" y="0"/>
                  </a:moveTo>
                  <a:lnTo>
                    <a:pt x="137159" y="0"/>
                  </a:lnTo>
                  <a:lnTo>
                    <a:pt x="94001" y="7041"/>
                  </a:lnTo>
                  <a:lnTo>
                    <a:pt x="56374" y="26610"/>
                  </a:lnTo>
                  <a:lnTo>
                    <a:pt x="26610" y="56374"/>
                  </a:lnTo>
                  <a:lnTo>
                    <a:pt x="7041" y="94001"/>
                  </a:lnTo>
                  <a:lnTo>
                    <a:pt x="0" y="137159"/>
                  </a:lnTo>
                  <a:lnTo>
                    <a:pt x="7041" y="180318"/>
                  </a:lnTo>
                  <a:lnTo>
                    <a:pt x="26610" y="217945"/>
                  </a:lnTo>
                  <a:lnTo>
                    <a:pt x="56374" y="247709"/>
                  </a:lnTo>
                  <a:lnTo>
                    <a:pt x="94001" y="267278"/>
                  </a:lnTo>
                  <a:lnTo>
                    <a:pt x="137160" y="274320"/>
                  </a:lnTo>
                  <a:lnTo>
                    <a:pt x="843076" y="274320"/>
                  </a:lnTo>
                  <a:lnTo>
                    <a:pt x="886234" y="267278"/>
                  </a:lnTo>
                  <a:lnTo>
                    <a:pt x="923862" y="247709"/>
                  </a:lnTo>
                  <a:lnTo>
                    <a:pt x="953626" y="217945"/>
                  </a:lnTo>
                  <a:lnTo>
                    <a:pt x="973195" y="180318"/>
                  </a:lnTo>
                  <a:lnTo>
                    <a:pt x="980236" y="137159"/>
                  </a:lnTo>
                  <a:lnTo>
                    <a:pt x="973195" y="94001"/>
                  </a:lnTo>
                  <a:lnTo>
                    <a:pt x="953626" y="56374"/>
                  </a:lnTo>
                  <a:lnTo>
                    <a:pt x="923862" y="26610"/>
                  </a:lnTo>
                  <a:lnTo>
                    <a:pt x="886234" y="7041"/>
                  </a:lnTo>
                  <a:lnTo>
                    <a:pt x="843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614354" y="2231136"/>
              <a:ext cx="980440" cy="274320"/>
            </a:xfrm>
            <a:custGeom>
              <a:avLst/>
              <a:gdLst/>
              <a:ahLst/>
              <a:cxnLst/>
              <a:rect l="l" t="t" r="r" b="b"/>
              <a:pathLst>
                <a:path w="980440" h="274319">
                  <a:moveTo>
                    <a:pt x="0" y="137159"/>
                  </a:moveTo>
                  <a:lnTo>
                    <a:pt x="7041" y="94001"/>
                  </a:lnTo>
                  <a:lnTo>
                    <a:pt x="26610" y="56374"/>
                  </a:lnTo>
                  <a:lnTo>
                    <a:pt x="56374" y="26610"/>
                  </a:lnTo>
                  <a:lnTo>
                    <a:pt x="94001" y="7041"/>
                  </a:lnTo>
                  <a:lnTo>
                    <a:pt x="137159" y="0"/>
                  </a:lnTo>
                  <a:lnTo>
                    <a:pt x="843076" y="0"/>
                  </a:lnTo>
                  <a:lnTo>
                    <a:pt x="886234" y="7041"/>
                  </a:lnTo>
                  <a:lnTo>
                    <a:pt x="923862" y="26610"/>
                  </a:lnTo>
                  <a:lnTo>
                    <a:pt x="953626" y="56374"/>
                  </a:lnTo>
                  <a:lnTo>
                    <a:pt x="973195" y="94001"/>
                  </a:lnTo>
                  <a:lnTo>
                    <a:pt x="980236" y="137159"/>
                  </a:lnTo>
                  <a:lnTo>
                    <a:pt x="973195" y="180318"/>
                  </a:lnTo>
                  <a:lnTo>
                    <a:pt x="953626" y="217945"/>
                  </a:lnTo>
                  <a:lnTo>
                    <a:pt x="923862" y="247709"/>
                  </a:lnTo>
                  <a:lnTo>
                    <a:pt x="886234" y="267278"/>
                  </a:lnTo>
                  <a:lnTo>
                    <a:pt x="843076" y="274320"/>
                  </a:lnTo>
                  <a:lnTo>
                    <a:pt x="137160" y="274320"/>
                  </a:lnTo>
                  <a:lnTo>
                    <a:pt x="94001" y="267278"/>
                  </a:lnTo>
                  <a:lnTo>
                    <a:pt x="56374" y="247709"/>
                  </a:lnTo>
                  <a:lnTo>
                    <a:pt x="26610" y="217945"/>
                  </a:lnTo>
                  <a:lnTo>
                    <a:pt x="7041" y="180318"/>
                  </a:lnTo>
                  <a:lnTo>
                    <a:pt x="0" y="137159"/>
                  </a:lnTo>
                  <a:close/>
                </a:path>
              </a:pathLst>
            </a:custGeom>
            <a:ln w="952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8417162" y="1237283"/>
            <a:ext cx="2975610" cy="120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62940" algn="l"/>
                <a:tab pos="1884680" algn="l"/>
              </a:tabLst>
            </a:pPr>
            <a:r>
              <a:rPr sz="900" b="1" spc="-25" dirty="0">
                <a:solidFill>
                  <a:srgbClr val="1F4D79"/>
                </a:solidFill>
                <a:latin typeface="Calibri"/>
                <a:cs typeface="Calibri"/>
              </a:rPr>
              <a:t>MRP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Net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 Quantity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Manufacturer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 /</a:t>
            </a:r>
            <a:r>
              <a:rPr sz="900" b="1" spc="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Packer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>
              <a:latin typeface="Calibri"/>
              <a:cs typeface="Calibri"/>
            </a:endParaRPr>
          </a:p>
          <a:p>
            <a:pPr marL="149860">
              <a:lnSpc>
                <a:spcPct val="100000"/>
              </a:lnSpc>
              <a:tabLst>
                <a:tab pos="1631314" algn="l"/>
              </a:tabLst>
            </a:pP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Mfg</a:t>
            </a:r>
            <a:r>
              <a:rPr sz="9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&amp;</a:t>
            </a:r>
            <a:r>
              <a:rPr sz="9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Expiry</a:t>
            </a:r>
            <a:r>
              <a:rPr sz="9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Dates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Consumer</a:t>
            </a:r>
            <a:r>
              <a:rPr sz="900" b="1" spc="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1F4D79"/>
                </a:solidFill>
                <a:latin typeface="Calibri"/>
                <a:cs typeface="Calibri"/>
              </a:rPr>
              <a:t>Care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>
              <a:latin typeface="Calibri"/>
              <a:cs typeface="Calibri"/>
            </a:endParaRPr>
          </a:p>
          <a:p>
            <a:pPr marL="163830">
              <a:lnSpc>
                <a:spcPct val="100000"/>
              </a:lnSpc>
              <a:spcBef>
                <a:spcPts val="5"/>
              </a:spcBef>
              <a:tabLst>
                <a:tab pos="1604645" algn="l"/>
              </a:tabLst>
            </a:pP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Country</a:t>
            </a:r>
            <a:r>
              <a:rPr sz="900" b="1" spc="-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Origin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Font</a:t>
            </a:r>
            <a:r>
              <a:rPr sz="900" b="1" spc="-3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Size</a:t>
            </a:r>
            <a:r>
              <a:rPr sz="9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1F4D79"/>
                </a:solidFill>
                <a:latin typeface="Calibri"/>
                <a:cs typeface="Calibri"/>
              </a:rPr>
              <a:t>(mm)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9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tabLst>
                <a:tab pos="1122045" algn="l"/>
                <a:tab pos="2419350" algn="l"/>
              </a:tabLst>
            </a:pP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Placement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Unit</a:t>
            </a:r>
            <a:r>
              <a:rPr sz="900" b="1" spc="-3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Sale</a:t>
            </a:r>
            <a:r>
              <a:rPr sz="9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Price</a:t>
            </a:r>
            <a:r>
              <a:rPr sz="900" b="1" dirty="0">
                <a:solidFill>
                  <a:srgbClr val="1F4D79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1F4D79"/>
                </a:solidFill>
                <a:latin typeface="Calibri"/>
                <a:cs typeface="Calibri"/>
              </a:rPr>
              <a:t>Readability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8140954" y="3102609"/>
            <a:ext cx="3734435" cy="2101215"/>
            <a:chOff x="8140954" y="3102609"/>
            <a:chExt cx="3734435" cy="2101215"/>
          </a:xfrm>
        </p:grpSpPr>
        <p:sp>
          <p:nvSpPr>
            <p:cNvPr id="77" name="object 77"/>
            <p:cNvSpPr/>
            <p:nvPr/>
          </p:nvSpPr>
          <p:spPr>
            <a:xfrm>
              <a:off x="8140954" y="3115309"/>
              <a:ext cx="3734435" cy="2088514"/>
            </a:xfrm>
            <a:custGeom>
              <a:avLst/>
              <a:gdLst/>
              <a:ahLst/>
              <a:cxnLst/>
              <a:rect l="l" t="t" r="r" b="b"/>
              <a:pathLst>
                <a:path w="3734434" h="2088514">
                  <a:moveTo>
                    <a:pt x="3679112" y="0"/>
                  </a:moveTo>
                  <a:lnTo>
                    <a:pt x="55195" y="0"/>
                  </a:lnTo>
                  <a:lnTo>
                    <a:pt x="33797" y="4366"/>
                  </a:lnTo>
                  <a:lnTo>
                    <a:pt x="16243" y="16242"/>
                  </a:lnTo>
                  <a:lnTo>
                    <a:pt x="4366" y="33797"/>
                  </a:lnTo>
                  <a:lnTo>
                    <a:pt x="0" y="55195"/>
                  </a:lnTo>
                  <a:lnTo>
                    <a:pt x="0" y="2033191"/>
                  </a:lnTo>
                  <a:lnTo>
                    <a:pt x="4366" y="2054590"/>
                  </a:lnTo>
                  <a:lnTo>
                    <a:pt x="16243" y="2072144"/>
                  </a:lnTo>
                  <a:lnTo>
                    <a:pt x="33797" y="2084021"/>
                  </a:lnTo>
                  <a:lnTo>
                    <a:pt x="55195" y="2088387"/>
                  </a:lnTo>
                  <a:lnTo>
                    <a:pt x="3679112" y="2088387"/>
                  </a:lnTo>
                  <a:lnTo>
                    <a:pt x="3700510" y="2084021"/>
                  </a:lnTo>
                  <a:lnTo>
                    <a:pt x="3718064" y="2072144"/>
                  </a:lnTo>
                  <a:lnTo>
                    <a:pt x="3729941" y="2054590"/>
                  </a:lnTo>
                  <a:lnTo>
                    <a:pt x="3734307" y="2033191"/>
                  </a:lnTo>
                  <a:lnTo>
                    <a:pt x="3734307" y="55195"/>
                  </a:lnTo>
                  <a:lnTo>
                    <a:pt x="3729941" y="33797"/>
                  </a:lnTo>
                  <a:lnTo>
                    <a:pt x="3718064" y="16242"/>
                  </a:lnTo>
                  <a:lnTo>
                    <a:pt x="3700510" y="4366"/>
                  </a:lnTo>
                  <a:lnTo>
                    <a:pt x="3679112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147304" y="3108959"/>
              <a:ext cx="3721735" cy="2075814"/>
            </a:xfrm>
            <a:custGeom>
              <a:avLst/>
              <a:gdLst/>
              <a:ahLst/>
              <a:cxnLst/>
              <a:rect l="l" t="t" r="r" b="b"/>
              <a:pathLst>
                <a:path w="3721734" h="2075814">
                  <a:moveTo>
                    <a:pt x="3666747" y="0"/>
                  </a:moveTo>
                  <a:lnTo>
                    <a:pt x="54860" y="0"/>
                  </a:lnTo>
                  <a:lnTo>
                    <a:pt x="33591" y="4339"/>
                  </a:lnTo>
                  <a:lnTo>
                    <a:pt x="16144" y="16144"/>
                  </a:lnTo>
                  <a:lnTo>
                    <a:pt x="4339" y="33591"/>
                  </a:lnTo>
                  <a:lnTo>
                    <a:pt x="0" y="54860"/>
                  </a:lnTo>
                  <a:lnTo>
                    <a:pt x="0" y="2020827"/>
                  </a:lnTo>
                  <a:lnTo>
                    <a:pt x="4339" y="2042095"/>
                  </a:lnTo>
                  <a:lnTo>
                    <a:pt x="16144" y="2059543"/>
                  </a:lnTo>
                  <a:lnTo>
                    <a:pt x="33591" y="2071348"/>
                  </a:lnTo>
                  <a:lnTo>
                    <a:pt x="54860" y="2075688"/>
                  </a:lnTo>
                  <a:lnTo>
                    <a:pt x="3666747" y="2075688"/>
                  </a:lnTo>
                  <a:lnTo>
                    <a:pt x="3688015" y="2071348"/>
                  </a:lnTo>
                  <a:lnTo>
                    <a:pt x="3705463" y="2059543"/>
                  </a:lnTo>
                  <a:lnTo>
                    <a:pt x="3717268" y="2042095"/>
                  </a:lnTo>
                  <a:lnTo>
                    <a:pt x="3721608" y="2020827"/>
                  </a:lnTo>
                  <a:lnTo>
                    <a:pt x="3721608" y="54860"/>
                  </a:lnTo>
                  <a:lnTo>
                    <a:pt x="3717268" y="33591"/>
                  </a:lnTo>
                  <a:lnTo>
                    <a:pt x="3705463" y="16144"/>
                  </a:lnTo>
                  <a:lnTo>
                    <a:pt x="3688015" y="4339"/>
                  </a:lnTo>
                  <a:lnTo>
                    <a:pt x="36667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147304" y="3108959"/>
              <a:ext cx="3721735" cy="2075814"/>
            </a:xfrm>
            <a:custGeom>
              <a:avLst/>
              <a:gdLst/>
              <a:ahLst/>
              <a:cxnLst/>
              <a:rect l="l" t="t" r="r" b="b"/>
              <a:pathLst>
                <a:path w="3721734" h="2075814">
                  <a:moveTo>
                    <a:pt x="0" y="54860"/>
                  </a:moveTo>
                  <a:lnTo>
                    <a:pt x="4339" y="33591"/>
                  </a:lnTo>
                  <a:lnTo>
                    <a:pt x="16144" y="16144"/>
                  </a:lnTo>
                  <a:lnTo>
                    <a:pt x="33591" y="4339"/>
                  </a:lnTo>
                  <a:lnTo>
                    <a:pt x="54860" y="0"/>
                  </a:lnTo>
                  <a:lnTo>
                    <a:pt x="3666747" y="0"/>
                  </a:lnTo>
                  <a:lnTo>
                    <a:pt x="3688015" y="4339"/>
                  </a:lnTo>
                  <a:lnTo>
                    <a:pt x="3705463" y="16144"/>
                  </a:lnTo>
                  <a:lnTo>
                    <a:pt x="3717268" y="33591"/>
                  </a:lnTo>
                  <a:lnTo>
                    <a:pt x="3721608" y="54860"/>
                  </a:lnTo>
                  <a:lnTo>
                    <a:pt x="3721608" y="2020827"/>
                  </a:lnTo>
                  <a:lnTo>
                    <a:pt x="3717268" y="2042095"/>
                  </a:lnTo>
                  <a:lnTo>
                    <a:pt x="3705463" y="2059543"/>
                  </a:lnTo>
                  <a:lnTo>
                    <a:pt x="3688015" y="2071348"/>
                  </a:lnTo>
                  <a:lnTo>
                    <a:pt x="3666747" y="2075688"/>
                  </a:lnTo>
                  <a:lnTo>
                    <a:pt x="54860" y="2075688"/>
                  </a:lnTo>
                  <a:lnTo>
                    <a:pt x="33591" y="2071348"/>
                  </a:lnTo>
                  <a:lnTo>
                    <a:pt x="16144" y="2059543"/>
                  </a:lnTo>
                  <a:lnTo>
                    <a:pt x="4339" y="2042095"/>
                  </a:lnTo>
                  <a:lnTo>
                    <a:pt x="0" y="2020827"/>
                  </a:lnTo>
                  <a:lnTo>
                    <a:pt x="0" y="54860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147304" y="3108959"/>
              <a:ext cx="50800" cy="2075814"/>
            </a:xfrm>
            <a:custGeom>
              <a:avLst/>
              <a:gdLst/>
              <a:ahLst/>
              <a:cxnLst/>
              <a:rect l="l" t="t" r="r" b="b"/>
              <a:pathLst>
                <a:path w="50800" h="2075814">
                  <a:moveTo>
                    <a:pt x="50292" y="0"/>
                  </a:moveTo>
                  <a:lnTo>
                    <a:pt x="0" y="0"/>
                  </a:lnTo>
                  <a:lnTo>
                    <a:pt x="0" y="2075688"/>
                  </a:lnTo>
                  <a:lnTo>
                    <a:pt x="50292" y="207568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1040" y="3547871"/>
              <a:ext cx="128015" cy="12801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1040" y="3950208"/>
              <a:ext cx="128015" cy="12801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1040" y="4352544"/>
              <a:ext cx="128015" cy="12801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1040" y="4754879"/>
              <a:ext cx="128015" cy="128015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8197595" y="3169512"/>
            <a:ext cx="3671570" cy="182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BEYOND</a:t>
            </a:r>
            <a:r>
              <a:rPr sz="1300" b="1" spc="-4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THE</a:t>
            </a:r>
            <a:r>
              <a:rPr sz="1300" b="1" spc="-3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PROBLEM</a:t>
            </a:r>
            <a:r>
              <a:rPr sz="1300" b="1" spc="-4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STATEMENT</a:t>
            </a:r>
            <a:endParaRPr sz="1300">
              <a:latin typeface="Calibri"/>
              <a:cs typeface="Calibri"/>
            </a:endParaRPr>
          </a:p>
          <a:p>
            <a:pPr marL="415925" marR="229235">
              <a:lnSpc>
                <a:spcPts val="1030"/>
              </a:lnSpc>
              <a:spcBef>
                <a:spcPts val="1055"/>
              </a:spcBef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E-commerce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listing crawler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validate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online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product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pages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at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scale.</a:t>
            </a:r>
            <a:endParaRPr sz="950">
              <a:latin typeface="Calibri"/>
              <a:cs typeface="Calibri"/>
            </a:endParaRPr>
          </a:p>
          <a:p>
            <a:pPr marL="415925" marR="317500">
              <a:lnSpc>
                <a:spcPts val="1030"/>
              </a:lnSpc>
              <a:spcBef>
                <a:spcPts val="1105"/>
              </a:spcBef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Bulk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batch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mode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inspect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entire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consignment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single 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job.</a:t>
            </a:r>
            <a:endParaRPr sz="950">
              <a:latin typeface="Calibri"/>
              <a:cs typeface="Calibri"/>
            </a:endParaRPr>
          </a:p>
          <a:p>
            <a:pPr marL="415925" marR="394970">
              <a:lnSpc>
                <a:spcPts val="1030"/>
              </a:lnSpc>
              <a:spcBef>
                <a:spcPts val="1110"/>
              </a:spcBef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Consumer-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facing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check</a:t>
            </a:r>
            <a:r>
              <a:rPr sz="950" b="1" spc="-2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shoppers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verify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packs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report violations.</a:t>
            </a:r>
            <a:endParaRPr sz="950">
              <a:latin typeface="Calibri"/>
              <a:cs typeface="Calibri"/>
            </a:endParaRPr>
          </a:p>
          <a:p>
            <a:pPr marL="415925" marR="363220">
              <a:lnSpc>
                <a:spcPts val="1030"/>
              </a:lnSpc>
              <a:spcBef>
                <a:spcPts val="1105"/>
              </a:spcBef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Rule-as-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config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9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amendments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ship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new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versions,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no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redeploy.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20039" y="5321808"/>
            <a:ext cx="11549380" cy="868680"/>
          </a:xfrm>
          <a:custGeom>
            <a:avLst/>
            <a:gdLst/>
            <a:ahLst/>
            <a:cxnLst/>
            <a:rect l="l" t="t" r="r" b="b"/>
            <a:pathLst>
              <a:path w="11549380" h="868679">
                <a:moveTo>
                  <a:pt x="11475720" y="0"/>
                </a:moveTo>
                <a:lnTo>
                  <a:pt x="73151" y="0"/>
                </a:lnTo>
                <a:lnTo>
                  <a:pt x="44791" y="5786"/>
                </a:lnTo>
                <a:lnTo>
                  <a:pt x="21527" y="21526"/>
                </a:lnTo>
                <a:lnTo>
                  <a:pt x="5786" y="44791"/>
                </a:lnTo>
                <a:lnTo>
                  <a:pt x="0" y="73150"/>
                </a:lnTo>
                <a:lnTo>
                  <a:pt x="0" y="795528"/>
                </a:lnTo>
                <a:lnTo>
                  <a:pt x="5786" y="823887"/>
                </a:lnTo>
                <a:lnTo>
                  <a:pt x="21527" y="847152"/>
                </a:lnTo>
                <a:lnTo>
                  <a:pt x="44791" y="862893"/>
                </a:lnTo>
                <a:lnTo>
                  <a:pt x="73151" y="868679"/>
                </a:lnTo>
                <a:lnTo>
                  <a:pt x="11475720" y="868679"/>
                </a:lnTo>
                <a:lnTo>
                  <a:pt x="11504079" y="862893"/>
                </a:lnTo>
                <a:lnTo>
                  <a:pt x="11527344" y="847152"/>
                </a:lnTo>
                <a:lnTo>
                  <a:pt x="11543085" y="823887"/>
                </a:lnTo>
                <a:lnTo>
                  <a:pt x="11548872" y="795528"/>
                </a:lnTo>
                <a:lnTo>
                  <a:pt x="11548872" y="73150"/>
                </a:lnTo>
                <a:lnTo>
                  <a:pt x="11543085" y="44791"/>
                </a:lnTo>
                <a:lnTo>
                  <a:pt x="11527344" y="21526"/>
                </a:lnTo>
                <a:lnTo>
                  <a:pt x="11504079" y="5786"/>
                </a:lnTo>
                <a:lnTo>
                  <a:pt x="1147572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81659" y="5455512"/>
            <a:ext cx="1009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8ED2A7"/>
                </a:solidFill>
                <a:latin typeface="Calibri"/>
                <a:cs typeface="Calibri"/>
              </a:rPr>
              <a:t>OPEN</a:t>
            </a:r>
            <a:r>
              <a:rPr sz="1300" b="1" spc="-20" dirty="0">
                <a:solidFill>
                  <a:srgbClr val="8ED2A7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8ED2A7"/>
                </a:solidFill>
                <a:latin typeface="Calibri"/>
                <a:cs typeface="Calibri"/>
              </a:rPr>
              <a:t>SOURCE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81659" y="5778346"/>
            <a:ext cx="14268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Zero</a:t>
            </a:r>
            <a:r>
              <a:rPr sz="1050" spc="-1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3EBF7"/>
                </a:solidFill>
                <a:latin typeface="Calibri"/>
                <a:cs typeface="Calibri"/>
              </a:rPr>
              <a:t>per-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scan</a:t>
            </a:r>
            <a:r>
              <a:rPr sz="1050" spc="-10" dirty="0">
                <a:solidFill>
                  <a:srgbClr val="E3EBF7"/>
                </a:solidFill>
                <a:latin typeface="Calibri"/>
                <a:cs typeface="Calibri"/>
              </a:rPr>
              <a:t> licence</a:t>
            </a:r>
            <a:r>
              <a:rPr sz="1050" spc="-1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3EBF7"/>
                </a:solidFill>
                <a:latin typeface="Calibri"/>
                <a:cs typeface="Calibri"/>
              </a:rPr>
              <a:t>cost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46120" y="5468111"/>
            <a:ext cx="5737860" cy="567055"/>
          </a:xfrm>
          <a:custGeom>
            <a:avLst/>
            <a:gdLst/>
            <a:ahLst/>
            <a:cxnLst/>
            <a:rect l="l" t="t" r="r" b="b"/>
            <a:pathLst>
              <a:path w="5737859" h="567054">
                <a:moveTo>
                  <a:pt x="13716" y="0"/>
                </a:moveTo>
                <a:lnTo>
                  <a:pt x="0" y="0"/>
                </a:lnTo>
                <a:lnTo>
                  <a:pt x="0" y="566928"/>
                </a:lnTo>
                <a:lnTo>
                  <a:pt x="13716" y="566928"/>
                </a:lnTo>
                <a:lnTo>
                  <a:pt x="13716" y="0"/>
                </a:lnTo>
                <a:close/>
              </a:path>
              <a:path w="5737859" h="567054">
                <a:moveTo>
                  <a:pt x="2875788" y="0"/>
                </a:moveTo>
                <a:lnTo>
                  <a:pt x="2862072" y="0"/>
                </a:lnTo>
                <a:lnTo>
                  <a:pt x="2862072" y="566928"/>
                </a:lnTo>
                <a:lnTo>
                  <a:pt x="2875788" y="566928"/>
                </a:lnTo>
                <a:lnTo>
                  <a:pt x="2875788" y="0"/>
                </a:lnTo>
                <a:close/>
              </a:path>
              <a:path w="5737859" h="567054">
                <a:moveTo>
                  <a:pt x="5737860" y="0"/>
                </a:moveTo>
                <a:lnTo>
                  <a:pt x="5724144" y="0"/>
                </a:lnTo>
                <a:lnTo>
                  <a:pt x="5724144" y="566928"/>
                </a:lnTo>
                <a:lnTo>
                  <a:pt x="5737860" y="566928"/>
                </a:lnTo>
                <a:lnTo>
                  <a:pt x="5737860" y="0"/>
                </a:lnTo>
                <a:close/>
              </a:path>
            </a:pathLst>
          </a:custGeom>
          <a:solidFill>
            <a:srgbClr val="4A64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443732" y="5455512"/>
            <a:ext cx="9499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F00"/>
                </a:solidFill>
                <a:latin typeface="Calibri"/>
                <a:cs typeface="Calibri"/>
              </a:rPr>
              <a:t>EXPLAINABLE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443732" y="5778346"/>
            <a:ext cx="1438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Every</a:t>
            </a:r>
            <a:r>
              <a:rPr sz="1050" spc="-30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verdict</a:t>
            </a:r>
            <a:r>
              <a:rPr sz="1050" spc="-2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cites</a:t>
            </a:r>
            <a:r>
              <a:rPr sz="1050" spc="-2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E3EBF7"/>
                </a:solidFill>
                <a:latin typeface="Calibri"/>
                <a:cs typeface="Calibri"/>
              </a:rPr>
              <a:t> law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305803" y="5455512"/>
            <a:ext cx="12414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8ED2A7"/>
                </a:solidFill>
                <a:latin typeface="Calibri"/>
                <a:cs typeface="Calibri"/>
              </a:rPr>
              <a:t>EVIDENCE-</a:t>
            </a:r>
            <a:r>
              <a:rPr sz="1300" b="1" spc="-20" dirty="0">
                <a:solidFill>
                  <a:srgbClr val="8ED2A7"/>
                </a:solidFill>
                <a:latin typeface="Calibri"/>
                <a:cs typeface="Calibri"/>
              </a:rPr>
              <a:t>GRADE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305803" y="5778346"/>
            <a:ext cx="11722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Immutable</a:t>
            </a:r>
            <a:r>
              <a:rPr sz="1050" spc="-30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audit</a:t>
            </a:r>
            <a:r>
              <a:rPr sz="1050" spc="-2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3EBF7"/>
                </a:solidFill>
                <a:latin typeface="Calibri"/>
                <a:cs typeface="Calibri"/>
              </a:rPr>
              <a:t>trail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167876" y="5455512"/>
            <a:ext cx="9131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F00"/>
                </a:solidFill>
                <a:latin typeface="Calibri"/>
                <a:cs typeface="Calibri"/>
              </a:rPr>
              <a:t>FIELD-READY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167876" y="5778346"/>
            <a:ext cx="12287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Web</a:t>
            </a:r>
            <a:r>
              <a:rPr sz="1050" spc="-25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+</a:t>
            </a:r>
            <a:r>
              <a:rPr sz="1050" spc="-20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3EBF7"/>
                </a:solidFill>
                <a:latin typeface="Calibri"/>
                <a:cs typeface="Calibri"/>
              </a:rPr>
              <a:t>mobile</a:t>
            </a:r>
            <a:r>
              <a:rPr sz="1050" spc="-20" dirty="0">
                <a:solidFill>
                  <a:srgbClr val="E3EBF7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3EBF7"/>
                </a:solidFill>
                <a:latin typeface="Calibri"/>
                <a:cs typeface="Calibri"/>
              </a:rPr>
              <a:t>capture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97" name="object 97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103" name="object 103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C2DA9D6-0CB2-CFF3-C5FA-A5403C61063A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F6BC3A7-6DC3-BDD7-8F83-6627040669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push.wav"/>
          </p:stSnd>
        </p:sndAc>
      </p:transition>
    </mc:Choice>
    <mc:Fallback>
      <p:transition spd="slow">
        <p:fade/>
        <p:sndAc>
          <p:stSnd>
            <p:snd r:embed="rId2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TECHNICAL</a:t>
            </a:r>
            <a:r>
              <a:rPr spc="125" dirty="0"/>
              <a:t> </a:t>
            </a:r>
            <a:r>
              <a:rPr spc="35" dirty="0"/>
              <a:t>APPROACH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1310" y="681613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8779" y="731926"/>
            <a:ext cx="160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PROCESSING</a:t>
            </a:r>
            <a:r>
              <a:rPr sz="1200" b="1" spc="2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55" dirty="0">
                <a:solidFill>
                  <a:srgbClr val="1F3864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052" y="1114196"/>
            <a:ext cx="7537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4685" y="1114196"/>
            <a:ext cx="7251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0673" y="1114196"/>
            <a:ext cx="48831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OCR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CV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65132" y="1114196"/>
            <a:ext cx="5353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43856" y="1114196"/>
            <a:ext cx="4495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87015" y="852880"/>
            <a:ext cx="5721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COMPLIANT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62884" y="1099768"/>
            <a:ext cx="82041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NON-COMPLIANT</a:t>
            </a:r>
            <a:endParaRPr sz="85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3690" y="1572767"/>
            <a:ext cx="6733540" cy="3265170"/>
            <a:chOff x="313690" y="1572767"/>
            <a:chExt cx="6733540" cy="3265170"/>
          </a:xfrm>
        </p:grpSpPr>
        <p:sp>
          <p:nvSpPr>
            <p:cNvPr id="44" name="object 44"/>
            <p:cNvSpPr/>
            <p:nvPr/>
          </p:nvSpPr>
          <p:spPr>
            <a:xfrm>
              <a:off x="313690" y="1579117"/>
              <a:ext cx="6733540" cy="3258820"/>
            </a:xfrm>
            <a:custGeom>
              <a:avLst/>
              <a:gdLst/>
              <a:ahLst/>
              <a:cxnLst/>
              <a:rect l="l" t="t" r="r" b="b"/>
              <a:pathLst>
                <a:path w="6733540" h="3258820">
                  <a:moveTo>
                    <a:pt x="6678466" y="0"/>
                  </a:moveTo>
                  <a:lnTo>
                    <a:pt x="55073" y="0"/>
                  </a:lnTo>
                  <a:lnTo>
                    <a:pt x="33722" y="4356"/>
                  </a:lnTo>
                  <a:lnTo>
                    <a:pt x="16207" y="16207"/>
                  </a:lnTo>
                  <a:lnTo>
                    <a:pt x="4356" y="33722"/>
                  </a:lnTo>
                  <a:lnTo>
                    <a:pt x="0" y="55073"/>
                  </a:lnTo>
                  <a:lnTo>
                    <a:pt x="0" y="3203745"/>
                  </a:lnTo>
                  <a:lnTo>
                    <a:pt x="4356" y="3225097"/>
                  </a:lnTo>
                  <a:lnTo>
                    <a:pt x="16207" y="3242612"/>
                  </a:lnTo>
                  <a:lnTo>
                    <a:pt x="33722" y="3254462"/>
                  </a:lnTo>
                  <a:lnTo>
                    <a:pt x="55073" y="3258819"/>
                  </a:lnTo>
                  <a:lnTo>
                    <a:pt x="6678466" y="3258819"/>
                  </a:lnTo>
                  <a:lnTo>
                    <a:pt x="6699817" y="3254462"/>
                  </a:lnTo>
                  <a:lnTo>
                    <a:pt x="6717332" y="3242612"/>
                  </a:lnTo>
                  <a:lnTo>
                    <a:pt x="6729183" y="3225097"/>
                  </a:lnTo>
                  <a:lnTo>
                    <a:pt x="6733539" y="3203745"/>
                  </a:lnTo>
                  <a:lnTo>
                    <a:pt x="6733539" y="55073"/>
                  </a:lnTo>
                  <a:lnTo>
                    <a:pt x="6729183" y="33722"/>
                  </a:lnTo>
                  <a:lnTo>
                    <a:pt x="6717332" y="16207"/>
                  </a:lnTo>
                  <a:lnTo>
                    <a:pt x="6699817" y="4356"/>
                  </a:lnTo>
                  <a:lnTo>
                    <a:pt x="667846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0040" y="1572767"/>
              <a:ext cx="6720840" cy="3246120"/>
            </a:xfrm>
            <a:custGeom>
              <a:avLst/>
              <a:gdLst/>
              <a:ahLst/>
              <a:cxnLst/>
              <a:rect l="l" t="t" r="r" b="b"/>
              <a:pathLst>
                <a:path w="6720840" h="3246120">
                  <a:moveTo>
                    <a:pt x="6665979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3191260"/>
                  </a:lnTo>
                  <a:lnTo>
                    <a:pt x="4339" y="3212528"/>
                  </a:lnTo>
                  <a:lnTo>
                    <a:pt x="16144" y="3229975"/>
                  </a:lnTo>
                  <a:lnTo>
                    <a:pt x="33591" y="3241780"/>
                  </a:lnTo>
                  <a:lnTo>
                    <a:pt x="54859" y="3246120"/>
                  </a:lnTo>
                  <a:lnTo>
                    <a:pt x="6665979" y="3246120"/>
                  </a:lnTo>
                  <a:lnTo>
                    <a:pt x="6687248" y="3241780"/>
                  </a:lnTo>
                  <a:lnTo>
                    <a:pt x="6704695" y="3229975"/>
                  </a:lnTo>
                  <a:lnTo>
                    <a:pt x="6716500" y="3212528"/>
                  </a:lnTo>
                  <a:lnTo>
                    <a:pt x="6720840" y="3191260"/>
                  </a:lnTo>
                  <a:lnTo>
                    <a:pt x="6720840" y="54859"/>
                  </a:lnTo>
                  <a:lnTo>
                    <a:pt x="6716500" y="33591"/>
                  </a:lnTo>
                  <a:lnTo>
                    <a:pt x="6704695" y="16143"/>
                  </a:lnTo>
                  <a:lnTo>
                    <a:pt x="6687248" y="4339"/>
                  </a:lnTo>
                  <a:lnTo>
                    <a:pt x="6665979" y="0"/>
                  </a:lnTo>
                  <a:close/>
                </a:path>
              </a:pathLst>
            </a:custGeom>
            <a:solidFill>
              <a:srgbClr val="F4F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0040" y="1572767"/>
              <a:ext cx="6720840" cy="3246120"/>
            </a:xfrm>
            <a:custGeom>
              <a:avLst/>
              <a:gdLst/>
              <a:ahLst/>
              <a:cxnLst/>
              <a:rect l="l" t="t" r="r" b="b"/>
              <a:pathLst>
                <a:path w="6720840" h="3246120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6665979" y="0"/>
                  </a:lnTo>
                  <a:lnTo>
                    <a:pt x="6687248" y="4339"/>
                  </a:lnTo>
                  <a:lnTo>
                    <a:pt x="6704695" y="16143"/>
                  </a:lnTo>
                  <a:lnTo>
                    <a:pt x="6716500" y="33591"/>
                  </a:lnTo>
                  <a:lnTo>
                    <a:pt x="6720840" y="54859"/>
                  </a:lnTo>
                  <a:lnTo>
                    <a:pt x="6720840" y="3191260"/>
                  </a:lnTo>
                  <a:lnTo>
                    <a:pt x="6716500" y="3212528"/>
                  </a:lnTo>
                  <a:lnTo>
                    <a:pt x="6704695" y="3229975"/>
                  </a:lnTo>
                  <a:lnTo>
                    <a:pt x="6687248" y="3241780"/>
                  </a:lnTo>
                  <a:lnTo>
                    <a:pt x="6665979" y="3246120"/>
                  </a:lnTo>
                  <a:lnTo>
                    <a:pt x="54859" y="3246120"/>
                  </a:lnTo>
                  <a:lnTo>
                    <a:pt x="33591" y="3241780"/>
                  </a:lnTo>
                  <a:lnTo>
                    <a:pt x="16144" y="3229975"/>
                  </a:lnTo>
                  <a:lnTo>
                    <a:pt x="4339" y="3212528"/>
                  </a:lnTo>
                  <a:lnTo>
                    <a:pt x="0" y="3191260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0040" y="1572767"/>
              <a:ext cx="50800" cy="3246120"/>
            </a:xfrm>
            <a:custGeom>
              <a:avLst/>
              <a:gdLst/>
              <a:ahLst/>
              <a:cxnLst/>
              <a:rect l="l" t="t" r="r" b="b"/>
              <a:pathLst>
                <a:path w="50800" h="3246120">
                  <a:moveTo>
                    <a:pt x="50292" y="0"/>
                  </a:moveTo>
                  <a:lnTo>
                    <a:pt x="0" y="0"/>
                  </a:lnTo>
                  <a:lnTo>
                    <a:pt x="0" y="3246120"/>
                  </a:lnTo>
                  <a:lnTo>
                    <a:pt x="50292" y="324612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57783" y="1633320"/>
            <a:ext cx="23044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3864"/>
                </a:solidFill>
                <a:latin typeface="Calibri"/>
                <a:cs typeface="Calibri"/>
              </a:rPr>
              <a:t>SYSTEM</a:t>
            </a:r>
            <a:r>
              <a:rPr sz="130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3864"/>
                </a:solidFill>
                <a:latin typeface="Calibri"/>
                <a:cs typeface="Calibri"/>
              </a:rPr>
              <a:t>DESIGN</a:t>
            </a:r>
            <a:r>
              <a:rPr sz="130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3864"/>
                </a:solidFill>
                <a:latin typeface="Calibri"/>
                <a:cs typeface="Calibri"/>
              </a:rPr>
              <a:t>/</a:t>
            </a:r>
            <a:r>
              <a:rPr sz="1300" b="1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3864"/>
                </a:solidFill>
                <a:latin typeface="Calibri"/>
                <a:cs typeface="Calibri"/>
              </a:rPr>
              <a:t>ARCHITECTURE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935" y="1931543"/>
            <a:ext cx="6369049" cy="2821177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842065" y="2009952"/>
            <a:ext cx="541655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2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Next.js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981509" y="2091181"/>
            <a:ext cx="21971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Login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62086" y="2091181"/>
            <a:ext cx="1924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Scan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38680" y="2091181"/>
            <a:ext cx="29019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Results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36983" y="2091181"/>
            <a:ext cx="4330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Dashboard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78787" y="2091181"/>
            <a:ext cx="2895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History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377772" y="2091181"/>
            <a:ext cx="3149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54952" y="2091181"/>
            <a:ext cx="2660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Admin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60911" y="2419815"/>
            <a:ext cx="4775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i="1" dirty="0">
                <a:solidFill>
                  <a:srgbClr val="44536A"/>
                </a:solidFill>
                <a:latin typeface="Calibri"/>
                <a:cs typeface="Calibri"/>
              </a:rPr>
              <a:t>REST</a:t>
            </a:r>
            <a:r>
              <a:rPr sz="750" i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750" i="1" dirty="0">
                <a:solidFill>
                  <a:srgbClr val="44536A"/>
                </a:solidFill>
                <a:latin typeface="Calibri"/>
                <a:cs typeface="Calibri"/>
              </a:rPr>
              <a:t>/</a:t>
            </a:r>
            <a:r>
              <a:rPr sz="750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750" i="1" spc="-20" dirty="0">
                <a:solidFill>
                  <a:srgbClr val="44536A"/>
                </a:solidFill>
                <a:latin typeface="Calibri"/>
                <a:cs typeface="Calibri"/>
              </a:rPr>
              <a:t>JSON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6890" y="2650032"/>
            <a:ext cx="472440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sz="900">
              <a:latin typeface="Calibri"/>
              <a:cs typeface="Calibri"/>
            </a:endParaRPr>
          </a:p>
          <a:p>
            <a:pPr marL="52069">
              <a:lnSpc>
                <a:spcPts val="102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22387" y="2731261"/>
            <a:ext cx="4889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Auth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/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RBAC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60227" y="2731261"/>
            <a:ext cx="5041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API</a:t>
            </a: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Gateway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942079" y="2731261"/>
            <a:ext cx="5486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Orchestration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952462" y="2731261"/>
            <a:ext cx="1847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Files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40535" y="2731261"/>
            <a:ext cx="3149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232397" y="2731261"/>
            <a:ext cx="2952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DB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Ops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95280" y="3290112"/>
            <a:ext cx="434975" cy="2863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635" marR="5080" indent="-1270">
              <a:lnSpc>
                <a:spcPts val="969"/>
              </a:lnSpc>
              <a:spcBef>
                <a:spcPts val="225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CV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NLP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56589" y="3371341"/>
            <a:ext cx="32829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OpenCV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90479" y="3371341"/>
            <a:ext cx="4584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Text</a:t>
            </a:r>
            <a:r>
              <a:rPr sz="750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Detect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73167" y="3371341"/>
            <a:ext cx="1784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OCR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108913" y="3371341"/>
            <a:ext cx="2406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Boxes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98627" y="3371341"/>
            <a:ext cx="1949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MRP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59750" y="3371341"/>
            <a:ext cx="1517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Qty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85845" y="3371341"/>
            <a:ext cx="23367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Dates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74656" y="3371341"/>
            <a:ext cx="1898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Care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87539" y="3930192"/>
            <a:ext cx="650240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02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900">
              <a:latin typeface="Calibri"/>
              <a:cs typeface="Calibri"/>
            </a:endParaRPr>
          </a:p>
          <a:p>
            <a:pPr marL="33020">
              <a:lnSpc>
                <a:spcPts val="1025"/>
              </a:lnSpc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33968" y="4011421"/>
            <a:ext cx="4654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Rule</a:t>
            </a:r>
            <a:r>
              <a:rPr sz="750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Engine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62462" y="4011421"/>
            <a:ext cx="3244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Severity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728167" y="4011421"/>
            <a:ext cx="44958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Confidence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649684" y="4011421"/>
            <a:ext cx="4978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Vector</a:t>
            </a:r>
            <a:r>
              <a:rPr sz="750" spc="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Store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92009" y="4011421"/>
            <a:ext cx="5378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F3864"/>
                </a:solidFill>
                <a:latin typeface="Calibri"/>
                <a:cs typeface="Calibri"/>
              </a:rPr>
              <a:t>Legal</a:t>
            </a:r>
            <a:r>
              <a:rPr sz="750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Citation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73023" y="4503978"/>
            <a:ext cx="280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10359" y="4523485"/>
            <a:ext cx="45465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PostgreSQL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948353" y="4523485"/>
            <a:ext cx="5861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Object</a:t>
            </a:r>
            <a:r>
              <a:rPr sz="750" spc="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Storage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015583" y="4523485"/>
            <a:ext cx="4013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Vector</a:t>
            </a:r>
            <a:r>
              <a:rPr sz="750" spc="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1F3864"/>
                </a:solidFill>
                <a:latin typeface="Calibri"/>
                <a:cs typeface="Calibri"/>
              </a:rPr>
              <a:t>DB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866359" y="4523485"/>
            <a:ext cx="4152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F3864"/>
                </a:solidFill>
                <a:latin typeface="Calibri"/>
                <a:cs typeface="Calibri"/>
              </a:rPr>
              <a:t>Audit</a:t>
            </a:r>
            <a:r>
              <a:rPr sz="750" spc="-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1F3864"/>
                </a:solidFill>
                <a:latin typeface="Calibri"/>
                <a:cs typeface="Calibri"/>
              </a:rPr>
              <a:t>Logs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7178691" y="1618996"/>
            <a:ext cx="4659594" cy="3272574"/>
            <a:chOff x="7216175" y="1565363"/>
            <a:chExt cx="4659594" cy="3272574"/>
          </a:xfrm>
        </p:grpSpPr>
        <p:sp>
          <p:nvSpPr>
            <p:cNvPr id="88" name="object 88"/>
            <p:cNvSpPr/>
            <p:nvPr/>
          </p:nvSpPr>
          <p:spPr>
            <a:xfrm>
              <a:off x="7217409" y="1579117"/>
              <a:ext cx="4658360" cy="3258820"/>
            </a:xfrm>
            <a:custGeom>
              <a:avLst/>
              <a:gdLst/>
              <a:ahLst/>
              <a:cxnLst/>
              <a:rect l="l" t="t" r="r" b="b"/>
              <a:pathLst>
                <a:path w="4658359" h="3258820">
                  <a:moveTo>
                    <a:pt x="4602778" y="0"/>
                  </a:moveTo>
                  <a:lnTo>
                    <a:pt x="55073" y="0"/>
                  </a:lnTo>
                  <a:lnTo>
                    <a:pt x="33722" y="4356"/>
                  </a:lnTo>
                  <a:lnTo>
                    <a:pt x="16207" y="16207"/>
                  </a:lnTo>
                  <a:lnTo>
                    <a:pt x="4356" y="33722"/>
                  </a:lnTo>
                  <a:lnTo>
                    <a:pt x="0" y="55073"/>
                  </a:lnTo>
                  <a:lnTo>
                    <a:pt x="0" y="3203745"/>
                  </a:lnTo>
                  <a:lnTo>
                    <a:pt x="4356" y="3225097"/>
                  </a:lnTo>
                  <a:lnTo>
                    <a:pt x="16207" y="3242612"/>
                  </a:lnTo>
                  <a:lnTo>
                    <a:pt x="33722" y="3254462"/>
                  </a:lnTo>
                  <a:lnTo>
                    <a:pt x="55073" y="3258819"/>
                  </a:lnTo>
                  <a:lnTo>
                    <a:pt x="4602778" y="3258819"/>
                  </a:lnTo>
                  <a:lnTo>
                    <a:pt x="4624129" y="3254462"/>
                  </a:lnTo>
                  <a:lnTo>
                    <a:pt x="4641644" y="3242612"/>
                  </a:lnTo>
                  <a:lnTo>
                    <a:pt x="4653495" y="3225097"/>
                  </a:lnTo>
                  <a:lnTo>
                    <a:pt x="4657851" y="3203745"/>
                  </a:lnTo>
                  <a:lnTo>
                    <a:pt x="4657851" y="55073"/>
                  </a:lnTo>
                  <a:lnTo>
                    <a:pt x="4653495" y="33722"/>
                  </a:lnTo>
                  <a:lnTo>
                    <a:pt x="4641644" y="16207"/>
                  </a:lnTo>
                  <a:lnTo>
                    <a:pt x="4624129" y="4356"/>
                  </a:lnTo>
                  <a:lnTo>
                    <a:pt x="460277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216175" y="1565363"/>
              <a:ext cx="4645660" cy="3246120"/>
            </a:xfrm>
            <a:custGeom>
              <a:avLst/>
              <a:gdLst/>
              <a:ahLst/>
              <a:cxnLst/>
              <a:rect l="l" t="t" r="r" b="b"/>
              <a:pathLst>
                <a:path w="4645659" h="3246120">
                  <a:moveTo>
                    <a:pt x="4590292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3191260"/>
                  </a:lnTo>
                  <a:lnTo>
                    <a:pt x="4339" y="3212528"/>
                  </a:lnTo>
                  <a:lnTo>
                    <a:pt x="16144" y="3229975"/>
                  </a:lnTo>
                  <a:lnTo>
                    <a:pt x="33591" y="3241780"/>
                  </a:lnTo>
                  <a:lnTo>
                    <a:pt x="54859" y="3246120"/>
                  </a:lnTo>
                  <a:lnTo>
                    <a:pt x="4590292" y="3246120"/>
                  </a:lnTo>
                  <a:lnTo>
                    <a:pt x="4611560" y="3241780"/>
                  </a:lnTo>
                  <a:lnTo>
                    <a:pt x="4629007" y="3229975"/>
                  </a:lnTo>
                  <a:lnTo>
                    <a:pt x="4640812" y="3212528"/>
                  </a:lnTo>
                  <a:lnTo>
                    <a:pt x="4645152" y="3191260"/>
                  </a:lnTo>
                  <a:lnTo>
                    <a:pt x="4645152" y="54859"/>
                  </a:lnTo>
                  <a:lnTo>
                    <a:pt x="4640812" y="33591"/>
                  </a:lnTo>
                  <a:lnTo>
                    <a:pt x="4629007" y="16143"/>
                  </a:lnTo>
                  <a:lnTo>
                    <a:pt x="4611560" y="4339"/>
                  </a:lnTo>
                  <a:lnTo>
                    <a:pt x="4590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23759" y="1572767"/>
              <a:ext cx="4645660" cy="3246120"/>
            </a:xfrm>
            <a:custGeom>
              <a:avLst/>
              <a:gdLst/>
              <a:ahLst/>
              <a:cxnLst/>
              <a:rect l="l" t="t" r="r" b="b"/>
              <a:pathLst>
                <a:path w="4645659" h="3246120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4590292" y="0"/>
                  </a:lnTo>
                  <a:lnTo>
                    <a:pt x="4611560" y="4339"/>
                  </a:lnTo>
                  <a:lnTo>
                    <a:pt x="4629007" y="16143"/>
                  </a:lnTo>
                  <a:lnTo>
                    <a:pt x="4640812" y="33591"/>
                  </a:lnTo>
                  <a:lnTo>
                    <a:pt x="4645152" y="54859"/>
                  </a:lnTo>
                  <a:lnTo>
                    <a:pt x="4645152" y="3191260"/>
                  </a:lnTo>
                  <a:lnTo>
                    <a:pt x="4640812" y="3212528"/>
                  </a:lnTo>
                  <a:lnTo>
                    <a:pt x="4629007" y="3229975"/>
                  </a:lnTo>
                  <a:lnTo>
                    <a:pt x="4611560" y="3241780"/>
                  </a:lnTo>
                  <a:lnTo>
                    <a:pt x="4590292" y="3246120"/>
                  </a:lnTo>
                  <a:lnTo>
                    <a:pt x="54859" y="3246120"/>
                  </a:lnTo>
                  <a:lnTo>
                    <a:pt x="33591" y="3241780"/>
                  </a:lnTo>
                  <a:lnTo>
                    <a:pt x="16144" y="3229975"/>
                  </a:lnTo>
                  <a:lnTo>
                    <a:pt x="4339" y="3212528"/>
                  </a:lnTo>
                  <a:lnTo>
                    <a:pt x="0" y="3191260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223759" y="1572767"/>
              <a:ext cx="50800" cy="3246120"/>
            </a:xfrm>
            <a:custGeom>
              <a:avLst/>
              <a:gdLst/>
              <a:ahLst/>
              <a:cxnLst/>
              <a:rect l="l" t="t" r="r" b="b"/>
              <a:pathLst>
                <a:path w="50800" h="3246120">
                  <a:moveTo>
                    <a:pt x="50292" y="0"/>
                  </a:moveTo>
                  <a:lnTo>
                    <a:pt x="0" y="0"/>
                  </a:lnTo>
                  <a:lnTo>
                    <a:pt x="0" y="3246120"/>
                  </a:lnTo>
                  <a:lnTo>
                    <a:pt x="50292" y="324612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88351" y="1956816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388351" y="2235708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388352" y="2514599"/>
              <a:ext cx="45720" cy="795655"/>
            </a:xfrm>
            <a:custGeom>
              <a:avLst/>
              <a:gdLst/>
              <a:ahLst/>
              <a:cxnLst/>
              <a:rect l="l" t="t" r="r" b="b"/>
              <a:pathLst>
                <a:path w="45720" h="795654">
                  <a:moveTo>
                    <a:pt x="45720" y="557784"/>
                  </a:moveTo>
                  <a:lnTo>
                    <a:pt x="0" y="557784"/>
                  </a:lnTo>
                  <a:lnTo>
                    <a:pt x="0" y="795528"/>
                  </a:lnTo>
                  <a:lnTo>
                    <a:pt x="45720" y="795528"/>
                  </a:lnTo>
                  <a:lnTo>
                    <a:pt x="45720" y="557784"/>
                  </a:lnTo>
                  <a:close/>
                </a:path>
                <a:path w="45720" h="795654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795654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388352" y="3351275"/>
              <a:ext cx="45720" cy="516890"/>
            </a:xfrm>
            <a:custGeom>
              <a:avLst/>
              <a:gdLst/>
              <a:ahLst/>
              <a:cxnLst/>
              <a:rect l="l" t="t" r="r" b="b"/>
              <a:pathLst>
                <a:path w="45720" h="516889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516889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88352" y="3909059"/>
              <a:ext cx="45720" cy="516890"/>
            </a:xfrm>
            <a:custGeom>
              <a:avLst/>
              <a:gdLst/>
              <a:ahLst/>
              <a:cxnLst/>
              <a:rect l="l" t="t" r="r" b="b"/>
              <a:pathLst>
                <a:path w="45720" h="516889">
                  <a:moveTo>
                    <a:pt x="45720" y="278892"/>
                  </a:moveTo>
                  <a:lnTo>
                    <a:pt x="0" y="278892"/>
                  </a:lnTo>
                  <a:lnTo>
                    <a:pt x="0" y="516636"/>
                  </a:lnTo>
                  <a:lnTo>
                    <a:pt x="45720" y="516636"/>
                  </a:lnTo>
                  <a:lnTo>
                    <a:pt x="45720" y="278892"/>
                  </a:lnTo>
                  <a:close/>
                </a:path>
                <a:path w="45720" h="516889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388351" y="4466844"/>
              <a:ext cx="45720" cy="238125"/>
            </a:xfrm>
            <a:custGeom>
              <a:avLst/>
              <a:gdLst/>
              <a:ahLst/>
              <a:cxnLst/>
              <a:rect l="l" t="t" r="r" b="b"/>
              <a:pathLst>
                <a:path w="45720" h="238125">
                  <a:moveTo>
                    <a:pt x="4572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45720" y="237744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433758" y="1696857"/>
            <a:ext cx="3498850" cy="31559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TECHNOLOGY</a:t>
            </a:r>
            <a:r>
              <a:rPr sz="1300" b="1" spc="-7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STACK</a:t>
            </a:r>
            <a:endParaRPr sz="1300" dirty="0">
              <a:latin typeface="Calibri"/>
              <a:cs typeface="Calibri"/>
            </a:endParaRPr>
          </a:p>
          <a:p>
            <a:pPr marL="144000">
              <a:lnSpc>
                <a:spcPct val="150000"/>
              </a:lnSpc>
              <a:spcBef>
                <a:spcPts val="600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Frontend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Next.js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TypeScript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Tailwind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 ·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shadcn/ui</a:t>
            </a:r>
            <a:endParaRPr sz="900" dirty="0">
              <a:latin typeface="Calibri"/>
              <a:cs typeface="Calibri"/>
            </a:endParaRPr>
          </a:p>
          <a:p>
            <a:pPr marL="146050" marR="160020">
              <a:lnSpc>
                <a:spcPct val="192600"/>
              </a:lnSpc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Backend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FastAPI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Python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async</a:t>
            </a:r>
            <a:r>
              <a:rPr sz="9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REST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OpenAPI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Computer</a:t>
            </a:r>
            <a:r>
              <a:rPr sz="9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Vision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OpenCV</a:t>
            </a:r>
            <a:r>
              <a:rPr sz="900" spc="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00" spc="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preprocessing,</a:t>
            </a:r>
            <a:r>
              <a:rPr sz="900" spc="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perspective</a:t>
            </a:r>
            <a:r>
              <a:rPr sz="900" spc="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fix</a:t>
            </a:r>
            <a:r>
              <a:rPr sz="900" spc="5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OCR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PaddleOCR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text,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boxes,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token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confidence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ML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/</a:t>
            </a:r>
            <a:r>
              <a:rPr sz="950" b="1" spc="-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NLP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spaCy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scikit-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learn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field extraction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60"/>
              </a:spcBef>
              <a:tabLst>
                <a:tab pos="1362075" algn="l"/>
              </a:tabLst>
            </a:pP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Rule</a:t>
            </a:r>
            <a:r>
              <a:rPr sz="9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Engine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Versioned repository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references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25" dirty="0">
                <a:solidFill>
                  <a:srgbClr val="1F3864"/>
                </a:solidFill>
                <a:latin typeface="Calibri"/>
                <a:cs typeface="Calibri"/>
              </a:rPr>
              <a:t>RAG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Vector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store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over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Act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Rules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+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LLM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explainer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Database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PostgreSQL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inspections,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rules,</a:t>
            </a:r>
            <a:r>
              <a:rPr sz="9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logs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Reports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ReportLab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PDF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 compliance reports</a:t>
            </a:r>
            <a:endParaRPr sz="900" dirty="0">
              <a:latin typeface="Calibri"/>
              <a:cs typeface="Calibri"/>
            </a:endParaRPr>
          </a:p>
          <a:p>
            <a:pPr marL="146050">
              <a:lnSpc>
                <a:spcPct val="100000"/>
              </a:lnSpc>
              <a:spcBef>
                <a:spcPts val="1055"/>
              </a:spcBef>
              <a:tabLst>
                <a:tab pos="1362075" algn="l"/>
              </a:tabLst>
            </a:pPr>
            <a:r>
              <a:rPr sz="950" b="1" spc="-10" dirty="0">
                <a:solidFill>
                  <a:srgbClr val="1F3864"/>
                </a:solidFill>
                <a:latin typeface="Calibri"/>
                <a:cs typeface="Calibri"/>
              </a:rPr>
              <a:t>Security</a:t>
            </a:r>
            <a:r>
              <a:rPr sz="950" b="1" dirty="0">
                <a:solidFill>
                  <a:srgbClr val="1F3864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JWT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auth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role-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based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access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·</a:t>
            </a:r>
            <a:r>
              <a:rPr sz="9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9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A3544"/>
                </a:solidFill>
                <a:latin typeface="Calibri"/>
                <a:cs typeface="Calibri"/>
              </a:rPr>
              <a:t>trail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98779" y="4878730"/>
            <a:ext cx="3355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IMPLEMENTATION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1F3864"/>
                </a:solidFill>
                <a:latin typeface="Calibri"/>
                <a:cs typeface="Calibri"/>
              </a:rPr>
              <a:t>METHODOLOGY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1200" b="1" spc="1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F3864"/>
                </a:solidFill>
                <a:latin typeface="Calibri"/>
                <a:cs typeface="Calibri"/>
              </a:rPr>
              <a:t>6</a:t>
            </a:r>
            <a:r>
              <a:rPr sz="120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00" b="1" spc="50" dirty="0">
                <a:solidFill>
                  <a:srgbClr val="1F3864"/>
                </a:solidFill>
                <a:latin typeface="Calibri"/>
                <a:cs typeface="Calibri"/>
              </a:rPr>
              <a:t>PHASES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11981" y="5289595"/>
            <a:ext cx="7429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444109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376236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308364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8240491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0172618" y="5234430"/>
            <a:ext cx="74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143" name="object 143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149" name="object 149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150" name="object 1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6728180-5994-EFBC-3657-B75D5468AC96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3C720CF8-C2B7-A8D4-C43F-A20DAA47C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154" name="Shape 7">
            <a:extLst>
              <a:ext uri="{FF2B5EF4-FFF2-40B4-BE49-F238E27FC236}">
                <a16:creationId xmlns:a16="http://schemas.microsoft.com/office/drawing/2014/main" id="{6F12B66B-36EE-CA7D-A7D1-5E878538F848}"/>
              </a:ext>
            </a:extLst>
          </p:cNvPr>
          <p:cNvSpPr/>
          <p:nvPr/>
        </p:nvSpPr>
        <p:spPr>
          <a:xfrm>
            <a:off x="320040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7D772438-C32C-0018-A3A2-1EDD288285AF}"/>
              </a:ext>
            </a:extLst>
          </p:cNvPr>
          <p:cNvSpPr/>
          <p:nvPr/>
        </p:nvSpPr>
        <p:spPr>
          <a:xfrm>
            <a:off x="393192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</a:t>
            </a:r>
            <a:endParaRPr lang="en-US" sz="950" dirty="0"/>
          </a:p>
        </p:txBody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ABAF5BC4-E730-A228-023B-4EF65F6E8E0A}"/>
              </a:ext>
            </a:extLst>
          </p:cNvPr>
          <p:cNvSpPr/>
          <p:nvPr/>
        </p:nvSpPr>
        <p:spPr>
          <a:xfrm>
            <a:off x="1618488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421809A4-8E81-73F7-D69D-C751B4607A7A}"/>
              </a:ext>
            </a:extLst>
          </p:cNvPr>
          <p:cNvSpPr/>
          <p:nvPr/>
        </p:nvSpPr>
        <p:spPr>
          <a:xfrm>
            <a:off x="1691640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58" name="Shape 11">
            <a:extLst>
              <a:ext uri="{FF2B5EF4-FFF2-40B4-BE49-F238E27FC236}">
                <a16:creationId xmlns:a16="http://schemas.microsoft.com/office/drawing/2014/main" id="{9E7DC9BB-E255-861A-0CD2-0BBA9766E454}"/>
              </a:ext>
            </a:extLst>
          </p:cNvPr>
          <p:cNvSpPr/>
          <p:nvPr/>
        </p:nvSpPr>
        <p:spPr>
          <a:xfrm>
            <a:off x="2916936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B2283331-7276-5FD1-8AB2-AE5BBDEC9B41}"/>
              </a:ext>
            </a:extLst>
          </p:cNvPr>
          <p:cNvSpPr/>
          <p:nvPr/>
        </p:nvSpPr>
        <p:spPr>
          <a:xfrm>
            <a:off x="2990088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CV</a:t>
            </a:r>
            <a:endParaRPr lang="en-US" sz="950" dirty="0"/>
          </a:p>
        </p:txBody>
      </p:sp>
      <p:sp>
        <p:nvSpPr>
          <p:cNvPr id="160" name="Shape 13">
            <a:extLst>
              <a:ext uri="{FF2B5EF4-FFF2-40B4-BE49-F238E27FC236}">
                <a16:creationId xmlns:a16="http://schemas.microsoft.com/office/drawing/2014/main" id="{E6DE261B-7FB3-8BEE-5267-3E04983DD6EC}"/>
              </a:ext>
            </a:extLst>
          </p:cNvPr>
          <p:cNvSpPr/>
          <p:nvPr/>
        </p:nvSpPr>
        <p:spPr>
          <a:xfrm>
            <a:off x="4215383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1" name="Text 14">
            <a:extLst>
              <a:ext uri="{FF2B5EF4-FFF2-40B4-BE49-F238E27FC236}">
                <a16:creationId xmlns:a16="http://schemas.microsoft.com/office/drawing/2014/main" id="{2D2247FD-AE6F-932E-6FA1-14F5D6B098C5}"/>
              </a:ext>
            </a:extLst>
          </p:cNvPr>
          <p:cNvSpPr/>
          <p:nvPr/>
        </p:nvSpPr>
        <p:spPr>
          <a:xfrm>
            <a:off x="4288536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62" name="Shape 15">
            <a:extLst>
              <a:ext uri="{FF2B5EF4-FFF2-40B4-BE49-F238E27FC236}">
                <a16:creationId xmlns:a16="http://schemas.microsoft.com/office/drawing/2014/main" id="{8B2EB020-A064-29FE-FF1F-A42F438D2BA7}"/>
              </a:ext>
            </a:extLst>
          </p:cNvPr>
          <p:cNvSpPr/>
          <p:nvPr/>
        </p:nvSpPr>
        <p:spPr>
          <a:xfrm>
            <a:off x="5513831" y="1005840"/>
            <a:ext cx="1371600" cy="402336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3" name="Text 16">
            <a:extLst>
              <a:ext uri="{FF2B5EF4-FFF2-40B4-BE49-F238E27FC236}">
                <a16:creationId xmlns:a16="http://schemas.microsoft.com/office/drawing/2014/main" id="{229A8EC6-6009-9B21-AEDF-F6CC87E12782}"/>
              </a:ext>
            </a:extLst>
          </p:cNvPr>
          <p:cNvSpPr/>
          <p:nvPr/>
        </p:nvSpPr>
        <p:spPr>
          <a:xfrm>
            <a:off x="5586983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50" dirty="0"/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222AC654-7C41-B63E-9C47-36A9D94C3CE6}"/>
              </a:ext>
            </a:extLst>
          </p:cNvPr>
          <p:cNvSpPr/>
          <p:nvPr/>
        </p:nvSpPr>
        <p:spPr>
          <a:xfrm>
            <a:off x="6812279" y="1005840"/>
            <a:ext cx="1371600" cy="402336"/>
          </a:xfrm>
          <a:prstGeom prst="chevron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2C181FDF-4DD1-5F4E-D1A7-313606CFA22E}"/>
              </a:ext>
            </a:extLst>
          </p:cNvPr>
          <p:cNvSpPr/>
          <p:nvPr/>
        </p:nvSpPr>
        <p:spPr>
          <a:xfrm>
            <a:off x="6885431" y="10058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66" name="Shape 19">
            <a:extLst>
              <a:ext uri="{FF2B5EF4-FFF2-40B4-BE49-F238E27FC236}">
                <a16:creationId xmlns:a16="http://schemas.microsoft.com/office/drawing/2014/main" id="{39D1EDA8-E9F4-7694-1C19-519C68B6588A}"/>
              </a:ext>
            </a:extLst>
          </p:cNvPr>
          <p:cNvSpPr/>
          <p:nvPr/>
        </p:nvSpPr>
        <p:spPr>
          <a:xfrm>
            <a:off x="8522208" y="859536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1F8A45"/>
          </a:solidFill>
          <a:ln/>
        </p:spPr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33DCA134-5712-F98A-E9FA-881299936E28}"/>
              </a:ext>
            </a:extLst>
          </p:cNvPr>
          <p:cNvSpPr/>
          <p:nvPr/>
        </p:nvSpPr>
        <p:spPr>
          <a:xfrm>
            <a:off x="8522208" y="85953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850" dirty="0"/>
          </a:p>
        </p:txBody>
      </p:sp>
      <p:sp>
        <p:nvSpPr>
          <p:cNvPr id="168" name="Shape 21">
            <a:extLst>
              <a:ext uri="{FF2B5EF4-FFF2-40B4-BE49-F238E27FC236}">
                <a16:creationId xmlns:a16="http://schemas.microsoft.com/office/drawing/2014/main" id="{96CB2EA3-EAC3-BB8E-6C13-EA983BFEA20F}"/>
              </a:ext>
            </a:extLst>
          </p:cNvPr>
          <p:cNvSpPr/>
          <p:nvPr/>
        </p:nvSpPr>
        <p:spPr>
          <a:xfrm>
            <a:off x="8522208" y="1097280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C0392B"/>
          </a:solidFill>
          <a:ln/>
        </p:spPr>
      </p:sp>
      <p:sp>
        <p:nvSpPr>
          <p:cNvPr id="169" name="Text 22">
            <a:extLst>
              <a:ext uri="{FF2B5EF4-FFF2-40B4-BE49-F238E27FC236}">
                <a16:creationId xmlns:a16="http://schemas.microsoft.com/office/drawing/2014/main" id="{AE8BAF2A-2AC3-8599-72A2-331F28FCBBF4}"/>
              </a:ext>
            </a:extLst>
          </p:cNvPr>
          <p:cNvSpPr/>
          <p:nvPr/>
        </p:nvSpPr>
        <p:spPr>
          <a:xfrm>
            <a:off x="8522208" y="109728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850" dirty="0"/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B51EBD0B-209A-C801-8C78-BB7BF3E7C437}"/>
              </a:ext>
            </a:extLst>
          </p:cNvPr>
          <p:cNvSpPr/>
          <p:nvPr/>
        </p:nvSpPr>
        <p:spPr>
          <a:xfrm>
            <a:off x="8522208" y="1335024"/>
            <a:ext cx="1389888" cy="219456"/>
          </a:xfrm>
          <a:prstGeom prst="roundRect">
            <a:avLst>
              <a:gd name="adj" fmla="val 48000"/>
            </a:avLst>
          </a:prstGeom>
          <a:solidFill>
            <a:srgbClr val="B8860B"/>
          </a:solidFill>
          <a:ln/>
        </p:spPr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E6617846-3971-DB2A-A649-F66FBDB0F057}"/>
              </a:ext>
            </a:extLst>
          </p:cNvPr>
          <p:cNvSpPr/>
          <p:nvPr/>
        </p:nvSpPr>
        <p:spPr>
          <a:xfrm>
            <a:off x="8522208" y="133502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850" dirty="0"/>
          </a:p>
        </p:txBody>
      </p:sp>
      <p:sp>
        <p:nvSpPr>
          <p:cNvPr id="172" name="Shape 30">
            <a:extLst>
              <a:ext uri="{FF2B5EF4-FFF2-40B4-BE49-F238E27FC236}">
                <a16:creationId xmlns:a16="http://schemas.microsoft.com/office/drawing/2014/main" id="{34102796-8038-CE49-704A-DAFAAC87A0ED}"/>
              </a:ext>
            </a:extLst>
          </p:cNvPr>
          <p:cNvSpPr/>
          <p:nvPr/>
        </p:nvSpPr>
        <p:spPr>
          <a:xfrm>
            <a:off x="10246913" y="981329"/>
            <a:ext cx="1496266" cy="45239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73" name="Text 31">
            <a:extLst>
              <a:ext uri="{FF2B5EF4-FFF2-40B4-BE49-F238E27FC236}">
                <a16:creationId xmlns:a16="http://schemas.microsoft.com/office/drawing/2014/main" id="{EC5CADAA-8D68-67A2-D456-5EC0E323278B}"/>
              </a:ext>
            </a:extLst>
          </p:cNvPr>
          <p:cNvSpPr/>
          <p:nvPr/>
        </p:nvSpPr>
        <p:spPr>
          <a:xfrm>
            <a:off x="10104120" y="896112"/>
            <a:ext cx="1764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sz="850" b="1" dirty="0">
                <a:solidFill>
                  <a:srgbClr val="1F4E79"/>
                </a:solidFill>
                <a:latin typeface="Calibri"/>
              </a:rPr>
              <a:t>Evidence  ·  Report  ·  Dashboard</a:t>
            </a:r>
            <a:endParaRPr lang="en-US" sz="850" dirty="0"/>
          </a:p>
        </p:txBody>
      </p:sp>
      <p:sp>
        <p:nvSpPr>
          <p:cNvPr id="174" name="Right Arrow 195">
            <a:extLst>
              <a:ext uri="{FF2B5EF4-FFF2-40B4-BE49-F238E27FC236}">
                <a16:creationId xmlns:a16="http://schemas.microsoft.com/office/drawing/2014/main" id="{1785E609-822F-E0EC-0F4A-9F2F08D68CAF}"/>
              </a:ext>
            </a:extLst>
          </p:cNvPr>
          <p:cNvSpPr/>
          <p:nvPr/>
        </p:nvSpPr>
        <p:spPr>
          <a:xfrm>
            <a:off x="8249099" y="1152144"/>
            <a:ext cx="219456" cy="109728"/>
          </a:xfrm>
          <a:prstGeom prst="rightArrow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ight Arrow 196">
            <a:extLst>
              <a:ext uri="{FF2B5EF4-FFF2-40B4-BE49-F238E27FC236}">
                <a16:creationId xmlns:a16="http://schemas.microsoft.com/office/drawing/2014/main" id="{CEAD8D73-20AD-1859-067A-34DD81F552A4}"/>
              </a:ext>
            </a:extLst>
          </p:cNvPr>
          <p:cNvSpPr/>
          <p:nvPr/>
        </p:nvSpPr>
        <p:spPr>
          <a:xfrm>
            <a:off x="9966960" y="1152144"/>
            <a:ext cx="219456" cy="109728"/>
          </a:xfrm>
          <a:prstGeom prst="rightArrow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Shape 149">
            <a:extLst>
              <a:ext uri="{FF2B5EF4-FFF2-40B4-BE49-F238E27FC236}">
                <a16:creationId xmlns:a16="http://schemas.microsoft.com/office/drawing/2014/main" id="{D067F598-28FC-4527-B9A2-7A663C0856F7}"/>
              </a:ext>
            </a:extLst>
          </p:cNvPr>
          <p:cNvSpPr/>
          <p:nvPr/>
        </p:nvSpPr>
        <p:spPr>
          <a:xfrm>
            <a:off x="372419" y="5106415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77" name="Shape 150">
            <a:extLst>
              <a:ext uri="{FF2B5EF4-FFF2-40B4-BE49-F238E27FC236}">
                <a16:creationId xmlns:a16="http://schemas.microsoft.com/office/drawing/2014/main" id="{34FDED96-1B71-E999-4FC1-879046A7DB28}"/>
              </a:ext>
            </a:extLst>
          </p:cNvPr>
          <p:cNvSpPr/>
          <p:nvPr/>
        </p:nvSpPr>
        <p:spPr>
          <a:xfrm>
            <a:off x="378799" y="5138928"/>
            <a:ext cx="182880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78" name="Shape 151">
            <a:extLst>
              <a:ext uri="{FF2B5EF4-FFF2-40B4-BE49-F238E27FC236}">
                <a16:creationId xmlns:a16="http://schemas.microsoft.com/office/drawing/2014/main" id="{9CC0C285-5811-4879-2BA9-1FDFDAF20F59}"/>
              </a:ext>
            </a:extLst>
          </p:cNvPr>
          <p:cNvSpPr/>
          <p:nvPr/>
        </p:nvSpPr>
        <p:spPr>
          <a:xfrm>
            <a:off x="411480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9" name="Text 152">
            <a:extLst>
              <a:ext uri="{FF2B5EF4-FFF2-40B4-BE49-F238E27FC236}">
                <a16:creationId xmlns:a16="http://schemas.microsoft.com/office/drawing/2014/main" id="{425969FB-3D4A-5BDC-1AEB-CE6A5FB83901}"/>
              </a:ext>
            </a:extLst>
          </p:cNvPr>
          <p:cNvSpPr/>
          <p:nvPr/>
        </p:nvSpPr>
        <p:spPr>
          <a:xfrm>
            <a:off x="356616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80" name="Text 153">
            <a:extLst>
              <a:ext uri="{FF2B5EF4-FFF2-40B4-BE49-F238E27FC236}">
                <a16:creationId xmlns:a16="http://schemas.microsoft.com/office/drawing/2014/main" id="{E86125F9-0F7E-9FCC-D326-95298704AEB9}"/>
              </a:ext>
            </a:extLst>
          </p:cNvPr>
          <p:cNvSpPr/>
          <p:nvPr/>
        </p:nvSpPr>
        <p:spPr>
          <a:xfrm>
            <a:off x="740664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81" name="Text 154">
            <a:extLst>
              <a:ext uri="{FF2B5EF4-FFF2-40B4-BE49-F238E27FC236}">
                <a16:creationId xmlns:a16="http://schemas.microsoft.com/office/drawing/2014/main" id="{49FA9215-E2CE-08F4-ACB7-1AD592A91DBA}"/>
              </a:ext>
            </a:extLst>
          </p:cNvPr>
          <p:cNvSpPr/>
          <p:nvPr/>
        </p:nvSpPr>
        <p:spPr>
          <a:xfrm>
            <a:off x="429768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Next.js + FastAPI skeleton, PostgreSQL schema, auth &amp; API contracts</a:t>
            </a:r>
            <a:endParaRPr lang="en-US" sz="820" dirty="0"/>
          </a:p>
        </p:txBody>
      </p:sp>
      <p:sp>
        <p:nvSpPr>
          <p:cNvPr id="182" name="Shape 155">
            <a:extLst>
              <a:ext uri="{FF2B5EF4-FFF2-40B4-BE49-F238E27FC236}">
                <a16:creationId xmlns:a16="http://schemas.microsoft.com/office/drawing/2014/main" id="{0DA171DB-F3BE-193D-819B-893E7C7A3B5A}"/>
              </a:ext>
            </a:extLst>
          </p:cNvPr>
          <p:cNvSpPr/>
          <p:nvPr/>
        </p:nvSpPr>
        <p:spPr>
          <a:xfrm>
            <a:off x="2252167" y="51389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83" name="Shape 156">
            <a:extLst>
              <a:ext uri="{FF2B5EF4-FFF2-40B4-BE49-F238E27FC236}">
                <a16:creationId xmlns:a16="http://schemas.microsoft.com/office/drawing/2014/main" id="{EB46231C-4381-3F9E-DEB0-7ED97D761E70}"/>
              </a:ext>
            </a:extLst>
          </p:cNvPr>
          <p:cNvSpPr/>
          <p:nvPr/>
        </p:nvSpPr>
        <p:spPr>
          <a:xfrm>
            <a:off x="2252167" y="5138928"/>
            <a:ext cx="182880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4" name="Shape 157">
            <a:extLst>
              <a:ext uri="{FF2B5EF4-FFF2-40B4-BE49-F238E27FC236}">
                <a16:creationId xmlns:a16="http://schemas.microsoft.com/office/drawing/2014/main" id="{FBE91604-563E-D083-F180-DB0F2FA5638C}"/>
              </a:ext>
            </a:extLst>
          </p:cNvPr>
          <p:cNvSpPr/>
          <p:nvPr/>
        </p:nvSpPr>
        <p:spPr>
          <a:xfrm>
            <a:off x="2343607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5" name="Text 158">
            <a:extLst>
              <a:ext uri="{FF2B5EF4-FFF2-40B4-BE49-F238E27FC236}">
                <a16:creationId xmlns:a16="http://schemas.microsoft.com/office/drawing/2014/main" id="{74FF52D5-B9D2-24E7-341C-B1CD65994034}"/>
              </a:ext>
            </a:extLst>
          </p:cNvPr>
          <p:cNvSpPr/>
          <p:nvPr/>
        </p:nvSpPr>
        <p:spPr>
          <a:xfrm>
            <a:off x="2288743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86" name="Text 159">
            <a:extLst>
              <a:ext uri="{FF2B5EF4-FFF2-40B4-BE49-F238E27FC236}">
                <a16:creationId xmlns:a16="http://schemas.microsoft.com/office/drawing/2014/main" id="{302E3437-7AF3-E240-55EB-06DB94C789D8}"/>
              </a:ext>
            </a:extLst>
          </p:cNvPr>
          <p:cNvSpPr/>
          <p:nvPr/>
        </p:nvSpPr>
        <p:spPr>
          <a:xfrm>
            <a:off x="2672791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Pipeline</a:t>
            </a:r>
            <a:endParaRPr lang="en-US" sz="950" dirty="0"/>
          </a:p>
        </p:txBody>
      </p:sp>
      <p:sp>
        <p:nvSpPr>
          <p:cNvPr id="187" name="Text 160">
            <a:extLst>
              <a:ext uri="{FF2B5EF4-FFF2-40B4-BE49-F238E27FC236}">
                <a16:creationId xmlns:a16="http://schemas.microsoft.com/office/drawing/2014/main" id="{DF4087D4-6C31-9689-F71D-510BB7E13518}"/>
              </a:ext>
            </a:extLst>
          </p:cNvPr>
          <p:cNvSpPr/>
          <p:nvPr/>
        </p:nvSpPr>
        <p:spPr>
          <a:xfrm>
            <a:off x="2361895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API, OpenCV preprocessing, OCR with boxes, field extractors</a:t>
            </a:r>
            <a:endParaRPr lang="en-US" sz="820" dirty="0"/>
          </a:p>
        </p:txBody>
      </p:sp>
      <p:sp>
        <p:nvSpPr>
          <p:cNvPr id="188" name="Shape 161">
            <a:extLst>
              <a:ext uri="{FF2B5EF4-FFF2-40B4-BE49-F238E27FC236}">
                <a16:creationId xmlns:a16="http://schemas.microsoft.com/office/drawing/2014/main" id="{08C93031-BB4B-1B2F-6D08-A84CCC33D4C7}"/>
              </a:ext>
            </a:extLst>
          </p:cNvPr>
          <p:cNvSpPr/>
          <p:nvPr/>
        </p:nvSpPr>
        <p:spPr>
          <a:xfrm>
            <a:off x="4184294" y="51389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89" name="Shape 162">
            <a:extLst>
              <a:ext uri="{FF2B5EF4-FFF2-40B4-BE49-F238E27FC236}">
                <a16:creationId xmlns:a16="http://schemas.microsoft.com/office/drawing/2014/main" id="{1A361FD4-B26B-E412-C5E5-C2F7A51914E0}"/>
              </a:ext>
            </a:extLst>
          </p:cNvPr>
          <p:cNvSpPr/>
          <p:nvPr/>
        </p:nvSpPr>
        <p:spPr>
          <a:xfrm>
            <a:off x="4184294" y="5138928"/>
            <a:ext cx="1828800" cy="45720"/>
          </a:xfrm>
          <a:prstGeom prst="rect">
            <a:avLst/>
          </a:prstGeom>
          <a:solidFill>
            <a:srgbClr val="1F8A45"/>
          </a:solidFill>
          <a:ln/>
        </p:spPr>
      </p:sp>
      <p:sp>
        <p:nvSpPr>
          <p:cNvPr id="190" name="Shape 163">
            <a:extLst>
              <a:ext uri="{FF2B5EF4-FFF2-40B4-BE49-F238E27FC236}">
                <a16:creationId xmlns:a16="http://schemas.microsoft.com/office/drawing/2014/main" id="{BF434FD4-18E4-538B-BE09-91017BDE5FBD}"/>
              </a:ext>
            </a:extLst>
          </p:cNvPr>
          <p:cNvSpPr/>
          <p:nvPr/>
        </p:nvSpPr>
        <p:spPr>
          <a:xfrm>
            <a:off x="4275734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1" name="Text 164">
            <a:extLst>
              <a:ext uri="{FF2B5EF4-FFF2-40B4-BE49-F238E27FC236}">
                <a16:creationId xmlns:a16="http://schemas.microsoft.com/office/drawing/2014/main" id="{0537ED1F-C7DC-F5E2-FF76-461DFD36C3F2}"/>
              </a:ext>
            </a:extLst>
          </p:cNvPr>
          <p:cNvSpPr/>
          <p:nvPr/>
        </p:nvSpPr>
        <p:spPr>
          <a:xfrm>
            <a:off x="4220870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92" name="Text 165">
            <a:extLst>
              <a:ext uri="{FF2B5EF4-FFF2-40B4-BE49-F238E27FC236}">
                <a16:creationId xmlns:a16="http://schemas.microsoft.com/office/drawing/2014/main" id="{A425E15E-9412-F042-B7FB-C88F116D9855}"/>
              </a:ext>
            </a:extLst>
          </p:cNvPr>
          <p:cNvSpPr/>
          <p:nvPr/>
        </p:nvSpPr>
        <p:spPr>
          <a:xfrm>
            <a:off x="4604918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</a:t>
            </a:r>
            <a:endParaRPr lang="en-US" sz="950" dirty="0"/>
          </a:p>
        </p:txBody>
      </p:sp>
      <p:sp>
        <p:nvSpPr>
          <p:cNvPr id="193" name="Text 166">
            <a:extLst>
              <a:ext uri="{FF2B5EF4-FFF2-40B4-BE49-F238E27FC236}">
                <a16:creationId xmlns:a16="http://schemas.microsoft.com/office/drawing/2014/main" id="{FC19FC60-BA61-CD6A-DF1C-1FFACCF5C778}"/>
              </a:ext>
            </a:extLst>
          </p:cNvPr>
          <p:cNvSpPr/>
          <p:nvPr/>
        </p:nvSpPr>
        <p:spPr>
          <a:xfrm>
            <a:off x="4294022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repository &amp; evaluator, violation classes, confidence propagation</a:t>
            </a:r>
            <a:endParaRPr lang="en-US" sz="820" dirty="0"/>
          </a:p>
        </p:txBody>
      </p:sp>
      <p:sp>
        <p:nvSpPr>
          <p:cNvPr id="194" name="Shape 167">
            <a:extLst>
              <a:ext uri="{FF2B5EF4-FFF2-40B4-BE49-F238E27FC236}">
                <a16:creationId xmlns:a16="http://schemas.microsoft.com/office/drawing/2014/main" id="{09BD9649-183A-4991-D50C-08575065D14E}"/>
              </a:ext>
            </a:extLst>
          </p:cNvPr>
          <p:cNvSpPr/>
          <p:nvPr/>
        </p:nvSpPr>
        <p:spPr>
          <a:xfrm>
            <a:off x="6116422" y="51389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195" name="Shape 168">
            <a:extLst>
              <a:ext uri="{FF2B5EF4-FFF2-40B4-BE49-F238E27FC236}">
                <a16:creationId xmlns:a16="http://schemas.microsoft.com/office/drawing/2014/main" id="{44CEEFA8-3ED3-B113-FE18-E368D51BAB52}"/>
              </a:ext>
            </a:extLst>
          </p:cNvPr>
          <p:cNvSpPr/>
          <p:nvPr/>
        </p:nvSpPr>
        <p:spPr>
          <a:xfrm>
            <a:off x="6116422" y="5138928"/>
            <a:ext cx="1828800" cy="45720"/>
          </a:xfrm>
          <a:prstGeom prst="rect">
            <a:avLst/>
          </a:prstGeom>
          <a:solidFill>
            <a:srgbClr val="1F8A45"/>
          </a:solidFill>
          <a:ln/>
        </p:spPr>
      </p:sp>
      <p:sp>
        <p:nvSpPr>
          <p:cNvPr id="196" name="Shape 169">
            <a:extLst>
              <a:ext uri="{FF2B5EF4-FFF2-40B4-BE49-F238E27FC236}">
                <a16:creationId xmlns:a16="http://schemas.microsoft.com/office/drawing/2014/main" id="{B58ED5F1-F879-610C-DE42-0B0FA70CD560}"/>
              </a:ext>
            </a:extLst>
          </p:cNvPr>
          <p:cNvSpPr/>
          <p:nvPr/>
        </p:nvSpPr>
        <p:spPr>
          <a:xfrm>
            <a:off x="6207862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7" name="Text 170">
            <a:extLst>
              <a:ext uri="{FF2B5EF4-FFF2-40B4-BE49-F238E27FC236}">
                <a16:creationId xmlns:a16="http://schemas.microsoft.com/office/drawing/2014/main" id="{B17DCE45-8FAD-C75E-FA42-8F3CC2E38632}"/>
              </a:ext>
            </a:extLst>
          </p:cNvPr>
          <p:cNvSpPr/>
          <p:nvPr/>
        </p:nvSpPr>
        <p:spPr>
          <a:xfrm>
            <a:off x="6152998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198" name="Text 171">
            <a:extLst>
              <a:ext uri="{FF2B5EF4-FFF2-40B4-BE49-F238E27FC236}">
                <a16:creationId xmlns:a16="http://schemas.microsoft.com/office/drawing/2014/main" id="{99C1789F-E90A-1411-124C-314EC6840811}"/>
              </a:ext>
            </a:extLst>
          </p:cNvPr>
          <p:cNvSpPr/>
          <p:nvPr/>
        </p:nvSpPr>
        <p:spPr>
          <a:xfrm>
            <a:off x="6537046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</a:t>
            </a:r>
            <a:endParaRPr lang="en-US" sz="950" dirty="0"/>
          </a:p>
        </p:txBody>
      </p:sp>
      <p:sp>
        <p:nvSpPr>
          <p:cNvPr id="199" name="Text 172">
            <a:extLst>
              <a:ext uri="{FF2B5EF4-FFF2-40B4-BE49-F238E27FC236}">
                <a16:creationId xmlns:a16="http://schemas.microsoft.com/office/drawing/2014/main" id="{45B713D3-68E4-7AA6-E0C0-D6DA5272117F}"/>
              </a:ext>
            </a:extLst>
          </p:cNvPr>
          <p:cNvSpPr/>
          <p:nvPr/>
        </p:nvSpPr>
        <p:spPr>
          <a:xfrm>
            <a:off x="6226150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Act &amp; Rules, chunk &amp; embed, retrieval, contextual explanation</a:t>
            </a:r>
            <a:endParaRPr lang="en-US" sz="820" dirty="0"/>
          </a:p>
        </p:txBody>
      </p:sp>
      <p:sp>
        <p:nvSpPr>
          <p:cNvPr id="200" name="Shape 173">
            <a:extLst>
              <a:ext uri="{FF2B5EF4-FFF2-40B4-BE49-F238E27FC236}">
                <a16:creationId xmlns:a16="http://schemas.microsoft.com/office/drawing/2014/main" id="{43D2B74E-D8BB-F6CD-EFE5-D53D30890F13}"/>
              </a:ext>
            </a:extLst>
          </p:cNvPr>
          <p:cNvSpPr/>
          <p:nvPr/>
        </p:nvSpPr>
        <p:spPr>
          <a:xfrm>
            <a:off x="8048549" y="51389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01" name="Shape 174">
            <a:extLst>
              <a:ext uri="{FF2B5EF4-FFF2-40B4-BE49-F238E27FC236}">
                <a16:creationId xmlns:a16="http://schemas.microsoft.com/office/drawing/2014/main" id="{9F26F60B-BB2C-956F-8258-D61068A8BA9C}"/>
              </a:ext>
            </a:extLst>
          </p:cNvPr>
          <p:cNvSpPr/>
          <p:nvPr/>
        </p:nvSpPr>
        <p:spPr>
          <a:xfrm>
            <a:off x="8048549" y="5138928"/>
            <a:ext cx="1828800" cy="4572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02" name="Shape 175">
            <a:extLst>
              <a:ext uri="{FF2B5EF4-FFF2-40B4-BE49-F238E27FC236}">
                <a16:creationId xmlns:a16="http://schemas.microsoft.com/office/drawing/2014/main" id="{E7E8F0CA-E2BC-F32E-C4FE-5C1203EA5891}"/>
              </a:ext>
            </a:extLst>
          </p:cNvPr>
          <p:cNvSpPr/>
          <p:nvPr/>
        </p:nvSpPr>
        <p:spPr>
          <a:xfrm>
            <a:off x="8139989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3" name="Text 176">
            <a:extLst>
              <a:ext uri="{FF2B5EF4-FFF2-40B4-BE49-F238E27FC236}">
                <a16:creationId xmlns:a16="http://schemas.microsoft.com/office/drawing/2014/main" id="{B032BBD0-464D-3291-EB25-0417657115D7}"/>
              </a:ext>
            </a:extLst>
          </p:cNvPr>
          <p:cNvSpPr/>
          <p:nvPr/>
        </p:nvSpPr>
        <p:spPr>
          <a:xfrm>
            <a:off x="8085125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204" name="Text 177">
            <a:extLst>
              <a:ext uri="{FF2B5EF4-FFF2-40B4-BE49-F238E27FC236}">
                <a16:creationId xmlns:a16="http://schemas.microsoft.com/office/drawing/2014/main" id="{C41B3F24-2F95-42D1-D89C-50F43CD98692}"/>
              </a:ext>
            </a:extLst>
          </p:cNvPr>
          <p:cNvSpPr/>
          <p:nvPr/>
        </p:nvSpPr>
        <p:spPr>
          <a:xfrm>
            <a:off x="8469173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</a:t>
            </a:r>
            <a:endParaRPr lang="en-US" sz="950" dirty="0"/>
          </a:p>
        </p:txBody>
      </p:sp>
      <p:sp>
        <p:nvSpPr>
          <p:cNvPr id="205" name="Text 178">
            <a:extLst>
              <a:ext uri="{FF2B5EF4-FFF2-40B4-BE49-F238E27FC236}">
                <a16:creationId xmlns:a16="http://schemas.microsoft.com/office/drawing/2014/main" id="{B28B9035-23C2-7CC8-55DB-BCA2B24C02AE}"/>
              </a:ext>
            </a:extLst>
          </p:cNvPr>
          <p:cNvSpPr/>
          <p:nvPr/>
        </p:nvSpPr>
        <p:spPr>
          <a:xfrm>
            <a:off x="8158277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history, PDF reports, RBAC and audit logging</a:t>
            </a:r>
            <a:endParaRPr lang="en-US" sz="820" dirty="0"/>
          </a:p>
        </p:txBody>
      </p:sp>
      <p:sp>
        <p:nvSpPr>
          <p:cNvPr id="206" name="Shape 179">
            <a:extLst>
              <a:ext uri="{FF2B5EF4-FFF2-40B4-BE49-F238E27FC236}">
                <a16:creationId xmlns:a16="http://schemas.microsoft.com/office/drawing/2014/main" id="{35B86A6F-BF6F-3262-5481-2AD043E0B572}"/>
              </a:ext>
            </a:extLst>
          </p:cNvPr>
          <p:cNvSpPr/>
          <p:nvPr/>
        </p:nvSpPr>
        <p:spPr>
          <a:xfrm>
            <a:off x="9980676" y="513892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</p:spPr>
      </p:sp>
      <p:sp>
        <p:nvSpPr>
          <p:cNvPr id="207" name="Shape 180">
            <a:extLst>
              <a:ext uri="{FF2B5EF4-FFF2-40B4-BE49-F238E27FC236}">
                <a16:creationId xmlns:a16="http://schemas.microsoft.com/office/drawing/2014/main" id="{6A33DFBA-9D57-9B6F-258B-6E9F9C5E5D49}"/>
              </a:ext>
            </a:extLst>
          </p:cNvPr>
          <p:cNvSpPr/>
          <p:nvPr/>
        </p:nvSpPr>
        <p:spPr>
          <a:xfrm>
            <a:off x="9980676" y="5138928"/>
            <a:ext cx="1828800" cy="4572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08" name="Shape 181">
            <a:extLst>
              <a:ext uri="{FF2B5EF4-FFF2-40B4-BE49-F238E27FC236}">
                <a16:creationId xmlns:a16="http://schemas.microsoft.com/office/drawing/2014/main" id="{1AF6F987-2F38-7A2D-3711-41C14F1F1599}"/>
              </a:ext>
            </a:extLst>
          </p:cNvPr>
          <p:cNvSpPr/>
          <p:nvPr/>
        </p:nvSpPr>
        <p:spPr>
          <a:xfrm>
            <a:off x="10072116" y="5230368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9" name="Text 182">
            <a:extLst>
              <a:ext uri="{FF2B5EF4-FFF2-40B4-BE49-F238E27FC236}">
                <a16:creationId xmlns:a16="http://schemas.microsoft.com/office/drawing/2014/main" id="{D15E7456-7A44-EE73-0E0E-DB5D1E9B5553}"/>
              </a:ext>
            </a:extLst>
          </p:cNvPr>
          <p:cNvSpPr/>
          <p:nvPr/>
        </p:nvSpPr>
        <p:spPr>
          <a:xfrm>
            <a:off x="10017252" y="5230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210" name="Text 183">
            <a:extLst>
              <a:ext uri="{FF2B5EF4-FFF2-40B4-BE49-F238E27FC236}">
                <a16:creationId xmlns:a16="http://schemas.microsoft.com/office/drawing/2014/main" id="{E81DC8F0-D84D-CD4E-167F-152F489D3377}"/>
              </a:ext>
            </a:extLst>
          </p:cNvPr>
          <p:cNvSpPr/>
          <p:nvPr/>
        </p:nvSpPr>
        <p:spPr>
          <a:xfrm>
            <a:off x="10401300" y="5239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11" name="Text 184">
            <a:extLst>
              <a:ext uri="{FF2B5EF4-FFF2-40B4-BE49-F238E27FC236}">
                <a16:creationId xmlns:a16="http://schemas.microsoft.com/office/drawing/2014/main" id="{9729D62D-2B9C-E261-8603-E353ECAC32BB}"/>
              </a:ext>
            </a:extLst>
          </p:cNvPr>
          <p:cNvSpPr/>
          <p:nvPr/>
        </p:nvSpPr>
        <p:spPr>
          <a:xfrm>
            <a:off x="10090404" y="5504688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820" dirty="0">
                <a:solidFill>
                  <a:srgbClr val="2A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Benchmarking, E2E tests, security audit, deployment &amp; SIH demo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5" name="page-flip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FEASIBILITY</a:t>
            </a:r>
            <a:r>
              <a:rPr spc="195" dirty="0"/>
              <a:t> </a:t>
            </a:r>
            <a:r>
              <a:rPr dirty="0"/>
              <a:t>AND</a:t>
            </a:r>
            <a:r>
              <a:rPr spc="195" dirty="0"/>
              <a:t> </a:t>
            </a:r>
            <a:r>
              <a:rPr spc="-10" dirty="0"/>
              <a:t>VIABILITY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8779" y="750568"/>
            <a:ext cx="187515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FEASIBILITY</a:t>
            </a:r>
            <a:r>
              <a:rPr sz="1250" b="1" spc="2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1250" b="1" spc="2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1250" b="1" spc="2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30" dirty="0">
                <a:solidFill>
                  <a:srgbClr val="1F3864"/>
                </a:solidFill>
                <a:latin typeface="Calibri"/>
                <a:cs typeface="Calibri"/>
              </a:rPr>
              <a:t>IDEA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690" y="1017778"/>
            <a:ext cx="5590540" cy="1323975"/>
            <a:chOff x="313690" y="1017778"/>
            <a:chExt cx="5590540" cy="1323975"/>
          </a:xfrm>
        </p:grpSpPr>
        <p:sp>
          <p:nvSpPr>
            <p:cNvPr id="10" name="object 10"/>
            <p:cNvSpPr/>
            <p:nvPr/>
          </p:nvSpPr>
          <p:spPr>
            <a:xfrm>
              <a:off x="313690" y="1030477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1024127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1024127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" y="1024127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783" y="1084680"/>
            <a:ext cx="16090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TECHNICAL</a:t>
            </a:r>
            <a:r>
              <a:rPr sz="1300" b="1" spc="-7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FEASIBILITY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4359" y="1370584"/>
            <a:ext cx="4819015" cy="83311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1079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Built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mature, production-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proven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open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source: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OpenCV,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PaddleOCR,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spaCy,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FastAPI, PostgreSQL,</a:t>
            </a:r>
            <a:r>
              <a:rPr sz="1000" spc="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Next.js.</a:t>
            </a:r>
            <a:endParaRPr sz="1000">
              <a:latin typeface="Calibri"/>
              <a:cs typeface="Calibri"/>
            </a:endParaRPr>
          </a:p>
          <a:p>
            <a:pPr marL="342900" marR="142875" indent="-342900">
              <a:lnSpc>
                <a:spcPts val="1140"/>
              </a:lnSpc>
              <a:spcBef>
                <a:spcPts val="300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No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novel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model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research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needed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innovation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sits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rule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engine,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calibration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evidence</a:t>
            </a:r>
            <a:r>
              <a:rPr sz="1000" spc="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layer.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Font-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size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checks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reduce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measurable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geometry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once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pixel-to-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mm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calibration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fixed.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3690" y="2407666"/>
            <a:ext cx="5590540" cy="1323975"/>
            <a:chOff x="313690" y="2407666"/>
            <a:chExt cx="5590540" cy="1323975"/>
          </a:xfrm>
        </p:grpSpPr>
        <p:sp>
          <p:nvSpPr>
            <p:cNvPr id="17" name="object 17"/>
            <p:cNvSpPr/>
            <p:nvPr/>
          </p:nvSpPr>
          <p:spPr>
            <a:xfrm>
              <a:off x="313690" y="2420365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414016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414016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" y="2414016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7783" y="2474568"/>
            <a:ext cx="18338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OPERATIONAL</a:t>
            </a:r>
            <a:r>
              <a:rPr sz="1300" b="1" spc="-4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FEASIBILITY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4359" y="2729991"/>
            <a:ext cx="469582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Mirrors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officer's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workflow: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inspect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&gt;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record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&gt;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report.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No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behavioural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re-training.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Web-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first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mobile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capture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runs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hardware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field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officers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already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carry.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Rules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are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configuration,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so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departments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update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them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without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engineering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effort.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3690" y="3797554"/>
            <a:ext cx="5590540" cy="1323975"/>
            <a:chOff x="313690" y="3797554"/>
            <a:chExt cx="5590540" cy="1323975"/>
          </a:xfrm>
        </p:grpSpPr>
        <p:sp>
          <p:nvSpPr>
            <p:cNvPr id="24" name="object 24"/>
            <p:cNvSpPr/>
            <p:nvPr/>
          </p:nvSpPr>
          <p:spPr>
            <a:xfrm>
              <a:off x="313690" y="3810253"/>
              <a:ext cx="5590540" cy="1311275"/>
            </a:xfrm>
            <a:custGeom>
              <a:avLst/>
              <a:gdLst/>
              <a:ahLst/>
              <a:cxnLst/>
              <a:rect l="l" t="t" r="r" b="b"/>
              <a:pathLst>
                <a:path w="5590540" h="1311275">
                  <a:moveTo>
                    <a:pt x="5535143" y="0"/>
                  </a:moveTo>
                  <a:lnTo>
                    <a:pt x="55395" y="0"/>
                  </a:lnTo>
                  <a:lnTo>
                    <a:pt x="33919" y="4382"/>
                  </a:lnTo>
                  <a:lnTo>
                    <a:pt x="16301" y="16301"/>
                  </a:lnTo>
                  <a:lnTo>
                    <a:pt x="4382" y="33919"/>
                  </a:lnTo>
                  <a:lnTo>
                    <a:pt x="0" y="55396"/>
                  </a:lnTo>
                  <a:lnTo>
                    <a:pt x="0" y="1255751"/>
                  </a:lnTo>
                  <a:lnTo>
                    <a:pt x="4382" y="1277227"/>
                  </a:lnTo>
                  <a:lnTo>
                    <a:pt x="16301" y="1294845"/>
                  </a:lnTo>
                  <a:lnTo>
                    <a:pt x="33919" y="1306765"/>
                  </a:lnTo>
                  <a:lnTo>
                    <a:pt x="55395" y="1311148"/>
                  </a:lnTo>
                  <a:lnTo>
                    <a:pt x="5535143" y="1311148"/>
                  </a:lnTo>
                  <a:lnTo>
                    <a:pt x="5556619" y="1306765"/>
                  </a:lnTo>
                  <a:lnTo>
                    <a:pt x="5574237" y="1294845"/>
                  </a:lnTo>
                  <a:lnTo>
                    <a:pt x="5586157" y="1277227"/>
                  </a:lnTo>
                  <a:lnTo>
                    <a:pt x="5590539" y="1255751"/>
                  </a:lnTo>
                  <a:lnTo>
                    <a:pt x="5590539" y="55396"/>
                  </a:lnTo>
                  <a:lnTo>
                    <a:pt x="5586157" y="33919"/>
                  </a:lnTo>
                  <a:lnTo>
                    <a:pt x="5574237" y="16301"/>
                  </a:lnTo>
                  <a:lnTo>
                    <a:pt x="5556619" y="4382"/>
                  </a:lnTo>
                  <a:lnTo>
                    <a:pt x="5535143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3803904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5522980" y="0"/>
                  </a:moveTo>
                  <a:lnTo>
                    <a:pt x="54859" y="0"/>
                  </a:lnTo>
                  <a:lnTo>
                    <a:pt x="33591" y="4339"/>
                  </a:lnTo>
                  <a:lnTo>
                    <a:pt x="16144" y="16143"/>
                  </a:lnTo>
                  <a:lnTo>
                    <a:pt x="4339" y="33591"/>
                  </a:lnTo>
                  <a:lnTo>
                    <a:pt x="0" y="54859"/>
                  </a:lnTo>
                  <a:lnTo>
                    <a:pt x="0" y="1243588"/>
                  </a:lnTo>
                  <a:lnTo>
                    <a:pt x="4339" y="1264856"/>
                  </a:lnTo>
                  <a:lnTo>
                    <a:pt x="16144" y="1282303"/>
                  </a:lnTo>
                  <a:lnTo>
                    <a:pt x="33591" y="1294108"/>
                  </a:lnTo>
                  <a:lnTo>
                    <a:pt x="54859" y="1298448"/>
                  </a:lnTo>
                  <a:lnTo>
                    <a:pt x="5522980" y="1298448"/>
                  </a:lnTo>
                  <a:lnTo>
                    <a:pt x="5544248" y="1294108"/>
                  </a:lnTo>
                  <a:lnTo>
                    <a:pt x="5561695" y="1282303"/>
                  </a:lnTo>
                  <a:lnTo>
                    <a:pt x="5573500" y="1264856"/>
                  </a:lnTo>
                  <a:lnTo>
                    <a:pt x="5577840" y="1243588"/>
                  </a:lnTo>
                  <a:lnTo>
                    <a:pt x="5577840" y="54859"/>
                  </a:lnTo>
                  <a:lnTo>
                    <a:pt x="5573500" y="33591"/>
                  </a:lnTo>
                  <a:lnTo>
                    <a:pt x="5561695" y="16143"/>
                  </a:lnTo>
                  <a:lnTo>
                    <a:pt x="5544248" y="4339"/>
                  </a:lnTo>
                  <a:lnTo>
                    <a:pt x="552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3803904"/>
              <a:ext cx="5577840" cy="1298575"/>
            </a:xfrm>
            <a:custGeom>
              <a:avLst/>
              <a:gdLst/>
              <a:ahLst/>
              <a:cxnLst/>
              <a:rect l="l" t="t" r="r" b="b"/>
              <a:pathLst>
                <a:path w="5577840" h="1298575">
                  <a:moveTo>
                    <a:pt x="0" y="54859"/>
                  </a:moveTo>
                  <a:lnTo>
                    <a:pt x="4339" y="33591"/>
                  </a:lnTo>
                  <a:lnTo>
                    <a:pt x="16144" y="16143"/>
                  </a:lnTo>
                  <a:lnTo>
                    <a:pt x="33591" y="4339"/>
                  </a:lnTo>
                  <a:lnTo>
                    <a:pt x="54859" y="0"/>
                  </a:lnTo>
                  <a:lnTo>
                    <a:pt x="5522980" y="0"/>
                  </a:lnTo>
                  <a:lnTo>
                    <a:pt x="5544248" y="4339"/>
                  </a:lnTo>
                  <a:lnTo>
                    <a:pt x="5561695" y="16143"/>
                  </a:lnTo>
                  <a:lnTo>
                    <a:pt x="5573500" y="33591"/>
                  </a:lnTo>
                  <a:lnTo>
                    <a:pt x="5577840" y="54859"/>
                  </a:lnTo>
                  <a:lnTo>
                    <a:pt x="5577840" y="1243588"/>
                  </a:lnTo>
                  <a:lnTo>
                    <a:pt x="5573500" y="1264856"/>
                  </a:lnTo>
                  <a:lnTo>
                    <a:pt x="5561695" y="1282303"/>
                  </a:lnTo>
                  <a:lnTo>
                    <a:pt x="5544248" y="1294108"/>
                  </a:lnTo>
                  <a:lnTo>
                    <a:pt x="5522980" y="1298448"/>
                  </a:lnTo>
                  <a:lnTo>
                    <a:pt x="54859" y="1298448"/>
                  </a:lnTo>
                  <a:lnTo>
                    <a:pt x="33591" y="1294108"/>
                  </a:lnTo>
                  <a:lnTo>
                    <a:pt x="16144" y="1282303"/>
                  </a:lnTo>
                  <a:lnTo>
                    <a:pt x="4339" y="1264856"/>
                  </a:lnTo>
                  <a:lnTo>
                    <a:pt x="0" y="1243588"/>
                  </a:lnTo>
                  <a:lnTo>
                    <a:pt x="0" y="54859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40" y="3803904"/>
              <a:ext cx="50800" cy="1298575"/>
            </a:xfrm>
            <a:custGeom>
              <a:avLst/>
              <a:gdLst/>
              <a:ahLst/>
              <a:cxnLst/>
              <a:rect l="l" t="t" r="r" b="b"/>
              <a:pathLst>
                <a:path w="50800" h="1298575">
                  <a:moveTo>
                    <a:pt x="50292" y="0"/>
                  </a:moveTo>
                  <a:lnTo>
                    <a:pt x="0" y="0"/>
                  </a:lnTo>
                  <a:lnTo>
                    <a:pt x="0" y="1298448"/>
                  </a:lnTo>
                  <a:lnTo>
                    <a:pt x="50292" y="12984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7783" y="3864456"/>
            <a:ext cx="22371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ECONOMIC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LEGAL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FEASIBILITY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4359" y="4119880"/>
            <a:ext cx="505523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Open-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source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stack,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premise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deployment: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no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per-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scan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licence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cost,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full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data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sovereignty.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Positioned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decision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support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final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judgement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stays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authorised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officer.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logs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immutable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evidence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align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enforcement record-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keeping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requirements.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42379" y="750568"/>
            <a:ext cx="30543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CHALLENGES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&amp;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65" dirty="0">
                <a:solidFill>
                  <a:srgbClr val="1F3864"/>
                </a:solidFill>
                <a:latin typeface="Calibri"/>
                <a:cs typeface="Calibri"/>
              </a:rPr>
              <a:t>MITIGATION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5" dirty="0">
                <a:solidFill>
                  <a:srgbClr val="1F3864"/>
                </a:solidFill>
                <a:latin typeface="Calibri"/>
                <a:cs typeface="Calibri"/>
              </a:rPr>
              <a:t>STRATEGIES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76" name="object 76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lang="en-US"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7A4479-99BD-C388-7FD0-9EB1DADF399F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2E284FE-6A3B-82F0-5BE8-91DEC33281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86" name="Shape 20">
            <a:extLst>
              <a:ext uri="{FF2B5EF4-FFF2-40B4-BE49-F238E27FC236}">
                <a16:creationId xmlns:a16="http://schemas.microsoft.com/office/drawing/2014/main" id="{C4C2FEE4-77AD-87FB-E746-89B290B32E20}"/>
              </a:ext>
            </a:extLst>
          </p:cNvPr>
          <p:cNvSpPr/>
          <p:nvPr/>
        </p:nvSpPr>
        <p:spPr>
          <a:xfrm>
            <a:off x="6263640" y="1024128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AA900CFC-75A9-43A0-806C-C9976F4E8E07}"/>
              </a:ext>
            </a:extLst>
          </p:cNvPr>
          <p:cNvSpPr/>
          <p:nvPr/>
        </p:nvSpPr>
        <p:spPr>
          <a:xfrm>
            <a:off x="6263640" y="1024128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18A78023-6619-4EA2-E56F-7F7B9A6FA813}"/>
              </a:ext>
            </a:extLst>
          </p:cNvPr>
          <p:cNvSpPr/>
          <p:nvPr/>
        </p:nvSpPr>
        <p:spPr>
          <a:xfrm>
            <a:off x="6428232" y="1143000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F5E668B3-643D-B02B-D20A-8B107DE4DACA}"/>
              </a:ext>
            </a:extLst>
          </p:cNvPr>
          <p:cNvSpPr/>
          <p:nvPr/>
        </p:nvSpPr>
        <p:spPr>
          <a:xfrm>
            <a:off x="6675120" y="11155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degradation on real packs</a:t>
            </a:r>
            <a:endParaRPr lang="en-US" sz="1050" dirty="0"/>
          </a:p>
        </p:txBody>
      </p:sp>
      <p:sp>
        <p:nvSpPr>
          <p:cNvPr id="90" name="Text 24">
            <a:extLst>
              <a:ext uri="{FF2B5EF4-FFF2-40B4-BE49-F238E27FC236}">
                <a16:creationId xmlns:a16="http://schemas.microsoft.com/office/drawing/2014/main" id="{02D54810-5700-9430-901E-87065D31CDD6}"/>
              </a:ext>
            </a:extLst>
          </p:cNvPr>
          <p:cNvSpPr/>
          <p:nvPr/>
        </p:nvSpPr>
        <p:spPr>
          <a:xfrm>
            <a:off x="6446520" y="13533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 Glare, curved surfaces, reflective foil and multilingual typography reduce OCR accuracy.</a:t>
            </a:r>
            <a:endParaRPr lang="en-US" sz="920" dirty="0"/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26C90E05-5607-C934-C39B-49F0F1FA2896}"/>
              </a:ext>
            </a:extLst>
          </p:cNvPr>
          <p:cNvSpPr/>
          <p:nvPr/>
        </p:nvSpPr>
        <p:spPr>
          <a:xfrm>
            <a:off x="6446520" y="1664208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FC833E2F-99A8-52E6-2377-BE4D297961E1}"/>
              </a:ext>
            </a:extLst>
          </p:cNvPr>
          <p:cNvSpPr/>
          <p:nvPr/>
        </p:nvSpPr>
        <p:spPr>
          <a:xfrm>
            <a:off x="6537960" y="168249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r>
              <a:rPr lang="en-US" sz="880" dirty="0">
                <a:solidFill>
                  <a:srgbClr val="2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defence: adaptive preprocessing (deskew, perspective correction, glare suppression), multi-engine OCR with agreement voting, confidence gate routing weak reads to human review.</a:t>
            </a:r>
            <a:endParaRPr lang="en-US" sz="880" dirty="0"/>
          </a:p>
        </p:txBody>
      </p:sp>
      <p:sp>
        <p:nvSpPr>
          <p:cNvPr id="93" name="Shape 27">
            <a:extLst>
              <a:ext uri="{FF2B5EF4-FFF2-40B4-BE49-F238E27FC236}">
                <a16:creationId xmlns:a16="http://schemas.microsoft.com/office/drawing/2014/main" id="{9CE1AA87-F54D-A184-8051-EAFC5A9FDB95}"/>
              </a:ext>
            </a:extLst>
          </p:cNvPr>
          <p:cNvSpPr/>
          <p:nvPr/>
        </p:nvSpPr>
        <p:spPr>
          <a:xfrm>
            <a:off x="6263640" y="2322576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</p:sp>
      <p:sp>
        <p:nvSpPr>
          <p:cNvPr id="94" name="Shape 28">
            <a:extLst>
              <a:ext uri="{FF2B5EF4-FFF2-40B4-BE49-F238E27FC236}">
                <a16:creationId xmlns:a16="http://schemas.microsoft.com/office/drawing/2014/main" id="{80047D20-3E95-AD89-BC54-550E42F9F0D0}"/>
              </a:ext>
            </a:extLst>
          </p:cNvPr>
          <p:cNvSpPr/>
          <p:nvPr/>
        </p:nvSpPr>
        <p:spPr>
          <a:xfrm>
            <a:off x="6263640" y="2322576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1C878DA4-7751-4A6D-EC80-AED8985761C0}"/>
              </a:ext>
            </a:extLst>
          </p:cNvPr>
          <p:cNvSpPr/>
          <p:nvPr/>
        </p:nvSpPr>
        <p:spPr>
          <a:xfrm>
            <a:off x="6428232" y="2441448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640B538F-D0A9-6A8F-5CE9-1C68A72BE13F}"/>
              </a:ext>
            </a:extLst>
          </p:cNvPr>
          <p:cNvSpPr/>
          <p:nvPr/>
        </p:nvSpPr>
        <p:spPr>
          <a:xfrm>
            <a:off x="6675120" y="24140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measurement in mm</a:t>
            </a:r>
            <a:endParaRPr lang="en-US" sz="1050" dirty="0"/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37E96DDD-8A50-CE71-E6C3-DE6B1127E1B6}"/>
              </a:ext>
            </a:extLst>
          </p:cNvPr>
          <p:cNvSpPr/>
          <p:nvPr/>
        </p:nvSpPr>
        <p:spPr>
          <a:xfrm>
            <a:off x="6446520" y="26517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 Rules prescribe physical sizes, but images only give pixels.</a:t>
            </a:r>
            <a:endParaRPr lang="en-US" sz="920" dirty="0"/>
          </a:p>
        </p:txBody>
      </p:sp>
      <p:sp>
        <p:nvSpPr>
          <p:cNvPr id="98" name="Shape 32">
            <a:extLst>
              <a:ext uri="{FF2B5EF4-FFF2-40B4-BE49-F238E27FC236}">
                <a16:creationId xmlns:a16="http://schemas.microsoft.com/office/drawing/2014/main" id="{A85CACDF-213C-7A29-E4C0-C6B1B1892A41}"/>
              </a:ext>
            </a:extLst>
          </p:cNvPr>
          <p:cNvSpPr/>
          <p:nvPr/>
        </p:nvSpPr>
        <p:spPr>
          <a:xfrm>
            <a:off x="6446520" y="2962656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</p:sp>
      <p:sp>
        <p:nvSpPr>
          <p:cNvPr id="99" name="Text 33">
            <a:extLst>
              <a:ext uri="{FF2B5EF4-FFF2-40B4-BE49-F238E27FC236}">
                <a16:creationId xmlns:a16="http://schemas.microsoft.com/office/drawing/2014/main" id="{32707A03-3A7C-F5E5-DC84-41E4209F3310}"/>
              </a:ext>
            </a:extLst>
          </p:cNvPr>
          <p:cNvSpPr/>
          <p:nvPr/>
        </p:nvSpPr>
        <p:spPr>
          <a:xfrm>
            <a:off x="6537960" y="298094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r>
              <a:rPr lang="en-US" sz="880" dirty="0">
                <a:solidFill>
                  <a:srgbClr val="2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 calibration: derive scale from known references such as barcode module width, report with a tolerance band, flag borderline cases as NEEDS REVIEW.</a:t>
            </a:r>
            <a:endParaRPr lang="en-US" sz="880" dirty="0"/>
          </a:p>
        </p:txBody>
      </p:sp>
      <p:sp>
        <p:nvSpPr>
          <p:cNvPr id="100" name="Shape 34">
            <a:extLst>
              <a:ext uri="{FF2B5EF4-FFF2-40B4-BE49-F238E27FC236}">
                <a16:creationId xmlns:a16="http://schemas.microsoft.com/office/drawing/2014/main" id="{D1333301-197F-D9EE-9B8C-D169575E82C3}"/>
              </a:ext>
            </a:extLst>
          </p:cNvPr>
          <p:cNvSpPr/>
          <p:nvPr/>
        </p:nvSpPr>
        <p:spPr>
          <a:xfrm>
            <a:off x="6263640" y="3621024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E8B63223-32E7-74ED-3D32-9AF86BF60B0E}"/>
              </a:ext>
            </a:extLst>
          </p:cNvPr>
          <p:cNvSpPr/>
          <p:nvPr/>
        </p:nvSpPr>
        <p:spPr>
          <a:xfrm>
            <a:off x="6263640" y="3621024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2" name="Shape 36">
            <a:extLst>
              <a:ext uri="{FF2B5EF4-FFF2-40B4-BE49-F238E27FC236}">
                <a16:creationId xmlns:a16="http://schemas.microsoft.com/office/drawing/2014/main" id="{6BABEFED-4F5E-FAF6-6A8C-ED1EE97FD89A}"/>
              </a:ext>
            </a:extLst>
          </p:cNvPr>
          <p:cNvSpPr/>
          <p:nvPr/>
        </p:nvSpPr>
        <p:spPr>
          <a:xfrm>
            <a:off x="6428232" y="3739896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5CF8FE67-F02D-EE15-D7DA-390A6C7BA1E2}"/>
              </a:ext>
            </a:extLst>
          </p:cNvPr>
          <p:cNvSpPr/>
          <p:nvPr/>
        </p:nvSpPr>
        <p:spPr>
          <a:xfrm>
            <a:off x="6675120" y="37124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ambiguity and amendments</a:t>
            </a:r>
            <a:endParaRPr lang="en-US" sz="1050" dirty="0"/>
          </a:p>
        </p:txBody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78E15E95-C0F8-5519-6CB8-312691B4CBA9}"/>
              </a:ext>
            </a:extLst>
          </p:cNvPr>
          <p:cNvSpPr/>
          <p:nvPr/>
        </p:nvSpPr>
        <p:spPr>
          <a:xfrm>
            <a:off x="6446520" y="39502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 Rules are category-specific, exemption-heavy and periodically amended.</a:t>
            </a:r>
            <a:endParaRPr lang="en-US" sz="920" dirty="0"/>
          </a:p>
        </p:txBody>
      </p:sp>
      <p:sp>
        <p:nvSpPr>
          <p:cNvPr id="105" name="Shape 39">
            <a:extLst>
              <a:ext uri="{FF2B5EF4-FFF2-40B4-BE49-F238E27FC236}">
                <a16:creationId xmlns:a16="http://schemas.microsoft.com/office/drawing/2014/main" id="{32F71D7B-A3CB-A79B-5F85-FEAE1BF5D2AF}"/>
              </a:ext>
            </a:extLst>
          </p:cNvPr>
          <p:cNvSpPr/>
          <p:nvPr/>
        </p:nvSpPr>
        <p:spPr>
          <a:xfrm>
            <a:off x="6446520" y="4261104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</p:sp>
      <p:sp>
        <p:nvSpPr>
          <p:cNvPr id="106" name="Text 40">
            <a:extLst>
              <a:ext uri="{FF2B5EF4-FFF2-40B4-BE49-F238E27FC236}">
                <a16:creationId xmlns:a16="http://schemas.microsoft.com/office/drawing/2014/main" id="{94C1362B-7271-5FBD-B2F4-0FB7BA641EF6}"/>
              </a:ext>
            </a:extLst>
          </p:cNvPr>
          <p:cNvSpPr/>
          <p:nvPr/>
        </p:nvSpPr>
        <p:spPr>
          <a:xfrm>
            <a:off x="6537960" y="427939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r>
              <a:rPr lang="en-US" sz="880" dirty="0">
                <a:solidFill>
                  <a:srgbClr val="2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rule repository: every rule carries code, category scope, severity, legal reference and effective date. Amendments ship as new rule versions.</a:t>
            </a:r>
            <a:endParaRPr lang="en-US" sz="880" dirty="0"/>
          </a:p>
        </p:txBody>
      </p:sp>
      <p:sp>
        <p:nvSpPr>
          <p:cNvPr id="107" name="Shape 41">
            <a:extLst>
              <a:ext uri="{FF2B5EF4-FFF2-40B4-BE49-F238E27FC236}">
                <a16:creationId xmlns:a16="http://schemas.microsoft.com/office/drawing/2014/main" id="{A6BFD902-F08D-E6EB-6B30-B205A4602CD9}"/>
              </a:ext>
            </a:extLst>
          </p:cNvPr>
          <p:cNvSpPr/>
          <p:nvPr/>
        </p:nvSpPr>
        <p:spPr>
          <a:xfrm>
            <a:off x="6263640" y="4919472"/>
            <a:ext cx="560527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0000"/>
              </a:srgbClr>
            </a:outerShdw>
          </a:effectLst>
        </p:spPr>
      </p:sp>
      <p:sp>
        <p:nvSpPr>
          <p:cNvPr id="108" name="Shape 42">
            <a:extLst>
              <a:ext uri="{FF2B5EF4-FFF2-40B4-BE49-F238E27FC236}">
                <a16:creationId xmlns:a16="http://schemas.microsoft.com/office/drawing/2014/main" id="{EBA72120-38B8-2C83-0DB9-D8308A75AB30}"/>
              </a:ext>
            </a:extLst>
          </p:cNvPr>
          <p:cNvSpPr/>
          <p:nvPr/>
        </p:nvSpPr>
        <p:spPr>
          <a:xfrm>
            <a:off x="6263640" y="4919472"/>
            <a:ext cx="560527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9" name="Shape 43">
            <a:extLst>
              <a:ext uri="{FF2B5EF4-FFF2-40B4-BE49-F238E27FC236}">
                <a16:creationId xmlns:a16="http://schemas.microsoft.com/office/drawing/2014/main" id="{09770A62-5559-66DE-2486-FEDB11884E7B}"/>
              </a:ext>
            </a:extLst>
          </p:cNvPr>
          <p:cNvSpPr/>
          <p:nvPr/>
        </p:nvSpPr>
        <p:spPr>
          <a:xfrm>
            <a:off x="6428232" y="5038344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0" name="Text 44">
            <a:extLst>
              <a:ext uri="{FF2B5EF4-FFF2-40B4-BE49-F238E27FC236}">
                <a16:creationId xmlns:a16="http://schemas.microsoft.com/office/drawing/2014/main" id="{9916D41F-00D2-A0CD-5A76-8C34561FAA50}"/>
              </a:ext>
            </a:extLst>
          </p:cNvPr>
          <p:cNvSpPr/>
          <p:nvPr/>
        </p:nvSpPr>
        <p:spPr>
          <a:xfrm>
            <a:off x="6675120" y="501091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admissibility of AI output</a:t>
            </a:r>
            <a:endParaRPr lang="en-US" sz="1050" dirty="0"/>
          </a:p>
        </p:txBody>
      </p:sp>
      <p:sp>
        <p:nvSpPr>
          <p:cNvPr id="111" name="Text 45">
            <a:extLst>
              <a:ext uri="{FF2B5EF4-FFF2-40B4-BE49-F238E27FC236}">
                <a16:creationId xmlns:a16="http://schemas.microsoft.com/office/drawing/2014/main" id="{74299FA4-C51A-E2C1-1DB4-4C05956F658D}"/>
              </a:ext>
            </a:extLst>
          </p:cNvPr>
          <p:cNvSpPr/>
          <p:nvPr/>
        </p:nvSpPr>
        <p:spPr>
          <a:xfrm>
            <a:off x="6446520" y="524865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20" dirty="0">
                <a:solidFill>
                  <a:srgbClr val="51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 Enforcement action cannot rest on an opaque model verdict.</a:t>
            </a:r>
            <a:endParaRPr lang="en-US" sz="920" dirty="0"/>
          </a:p>
        </p:txBody>
      </p:sp>
      <p:sp>
        <p:nvSpPr>
          <p:cNvPr id="112" name="Shape 46">
            <a:extLst>
              <a:ext uri="{FF2B5EF4-FFF2-40B4-BE49-F238E27FC236}">
                <a16:creationId xmlns:a16="http://schemas.microsoft.com/office/drawing/2014/main" id="{6170324D-6C28-6C88-FCFB-356482A713BB}"/>
              </a:ext>
            </a:extLst>
          </p:cNvPr>
          <p:cNvSpPr/>
          <p:nvPr/>
        </p:nvSpPr>
        <p:spPr>
          <a:xfrm>
            <a:off x="6446520" y="5559552"/>
            <a:ext cx="5303520" cy="512064"/>
          </a:xfrm>
          <a:prstGeom prst="roundRect">
            <a:avLst>
              <a:gd name="adj" fmla="val 8929"/>
            </a:avLst>
          </a:prstGeom>
          <a:solidFill>
            <a:srgbClr val="EAF6EE"/>
          </a:solidFill>
          <a:ln w="9525">
            <a:solidFill>
              <a:srgbClr val="BFE3CC"/>
            </a:solidFill>
            <a:prstDash val="solid"/>
          </a:ln>
        </p:spPr>
      </p:sp>
      <p:sp>
        <p:nvSpPr>
          <p:cNvPr id="113" name="Text 47">
            <a:extLst>
              <a:ext uri="{FF2B5EF4-FFF2-40B4-BE49-F238E27FC236}">
                <a16:creationId xmlns:a16="http://schemas.microsoft.com/office/drawing/2014/main" id="{6ECD3AEF-12FD-FF60-5CD9-BD90ED1466D9}"/>
              </a:ext>
            </a:extLst>
          </p:cNvPr>
          <p:cNvSpPr/>
          <p:nvPr/>
        </p:nvSpPr>
        <p:spPr>
          <a:xfrm>
            <a:off x="6537960" y="557784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80" b="1" dirty="0">
                <a:solidFill>
                  <a:srgbClr val="1F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r>
              <a:rPr lang="en-US" sz="880" dirty="0">
                <a:solidFill>
                  <a:srgbClr val="2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by construction: the LLM never decides, it only cites. Each finding exposes extracted value, bounding-box evidence, confidence score and exact provision.</a:t>
            </a:r>
            <a:endParaRPr lang="en-US" sz="88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847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295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spc="35" dirty="0"/>
              <a:t>BENEFITS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8779" y="750568"/>
            <a:ext cx="22104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TARGET</a:t>
            </a:r>
            <a:r>
              <a:rPr sz="1250" b="1" spc="1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AUDIENCE</a:t>
            </a:r>
            <a:r>
              <a:rPr sz="125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F3864"/>
                </a:solidFill>
                <a:latin typeface="Calibri"/>
                <a:cs typeface="Calibri"/>
              </a:rPr>
              <a:t>&amp;</a:t>
            </a:r>
            <a:r>
              <a:rPr sz="1250" b="1" spc="1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0" dirty="0">
                <a:solidFill>
                  <a:srgbClr val="1F3864"/>
                </a:solidFill>
                <a:latin typeface="Calibri"/>
                <a:cs typeface="Calibri"/>
              </a:rPr>
              <a:t>IMPACT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690" y="1017778"/>
            <a:ext cx="5590540" cy="1232535"/>
            <a:chOff x="313690" y="1017778"/>
            <a:chExt cx="5590540" cy="1232535"/>
          </a:xfrm>
        </p:grpSpPr>
        <p:sp>
          <p:nvSpPr>
            <p:cNvPr id="10" name="object 10"/>
            <p:cNvSpPr/>
            <p:nvPr/>
          </p:nvSpPr>
          <p:spPr>
            <a:xfrm>
              <a:off x="313690" y="1030477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1024127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1024127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" y="1024127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783" y="1084680"/>
            <a:ext cx="24479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LEGAL</a:t>
            </a:r>
            <a:r>
              <a:rPr sz="1300" b="1" spc="-3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METROLOGY</a:t>
            </a:r>
            <a:r>
              <a:rPr sz="1300" b="1" spc="-3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ENFORCEMENT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4359" y="1340104"/>
            <a:ext cx="476059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First-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pass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inspection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automated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officer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time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shifts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acting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flagged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exceptions.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Consistent,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repeatable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verdicts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across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officers,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districts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product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categories.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Evidence-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backed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reports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generated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at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inspection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time,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not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reconstructed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afterwards.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3690" y="2316226"/>
            <a:ext cx="5590540" cy="1232535"/>
            <a:chOff x="313690" y="2316226"/>
            <a:chExt cx="5590540" cy="1232535"/>
          </a:xfrm>
        </p:grpSpPr>
        <p:sp>
          <p:nvSpPr>
            <p:cNvPr id="17" name="object 17"/>
            <p:cNvSpPr/>
            <p:nvPr/>
          </p:nvSpPr>
          <p:spPr>
            <a:xfrm>
              <a:off x="313690" y="2328925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40" y="2322575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40" y="2322575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" y="2322575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7783" y="2383128"/>
            <a:ext cx="9017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CONSUMERS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4359" y="2638551"/>
            <a:ext cx="460057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Faster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detection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missing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MRP,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wrong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net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quantity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unreadable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declarations.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Stronger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protection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against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unfair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trade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practice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misleading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packaging.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Optional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consumer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check-and-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report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channel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feeds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field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intelligence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back.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3690" y="3614673"/>
            <a:ext cx="5590540" cy="1232535"/>
            <a:chOff x="313690" y="3614673"/>
            <a:chExt cx="5590540" cy="1232535"/>
          </a:xfrm>
        </p:grpSpPr>
        <p:sp>
          <p:nvSpPr>
            <p:cNvPr id="24" name="object 24"/>
            <p:cNvSpPr/>
            <p:nvPr/>
          </p:nvSpPr>
          <p:spPr>
            <a:xfrm>
              <a:off x="313690" y="3627373"/>
              <a:ext cx="5590540" cy="1219835"/>
            </a:xfrm>
            <a:custGeom>
              <a:avLst/>
              <a:gdLst/>
              <a:ahLst/>
              <a:cxnLst/>
              <a:rect l="l" t="t" r="r" b="b"/>
              <a:pathLst>
                <a:path w="5590540" h="1219835">
                  <a:moveTo>
                    <a:pt x="5535104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35104" y="1219707"/>
                  </a:lnTo>
                  <a:lnTo>
                    <a:pt x="5556595" y="1215322"/>
                  </a:lnTo>
                  <a:lnTo>
                    <a:pt x="5574226" y="1203393"/>
                  </a:lnTo>
                  <a:lnTo>
                    <a:pt x="5586154" y="1185763"/>
                  </a:lnTo>
                  <a:lnTo>
                    <a:pt x="5590539" y="1164271"/>
                  </a:lnTo>
                  <a:lnTo>
                    <a:pt x="5590539" y="55435"/>
                  </a:lnTo>
                  <a:lnTo>
                    <a:pt x="5586154" y="33943"/>
                  </a:lnTo>
                  <a:lnTo>
                    <a:pt x="5574226" y="16313"/>
                  </a:lnTo>
                  <a:lnTo>
                    <a:pt x="5556595" y="4385"/>
                  </a:lnTo>
                  <a:lnTo>
                    <a:pt x="5535104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3621023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552298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22979" y="1207008"/>
                  </a:lnTo>
                  <a:lnTo>
                    <a:pt x="5544248" y="1202668"/>
                  </a:lnTo>
                  <a:lnTo>
                    <a:pt x="5561696" y="1190864"/>
                  </a:lnTo>
                  <a:lnTo>
                    <a:pt x="5573500" y="1173417"/>
                  </a:lnTo>
                  <a:lnTo>
                    <a:pt x="5577840" y="1152149"/>
                  </a:lnTo>
                  <a:lnTo>
                    <a:pt x="5577840" y="54858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3621023"/>
              <a:ext cx="5577840" cy="1207135"/>
            </a:xfrm>
            <a:custGeom>
              <a:avLst/>
              <a:gdLst/>
              <a:ahLst/>
              <a:cxnLst/>
              <a:rect l="l" t="t" r="r" b="b"/>
              <a:pathLst>
                <a:path w="557784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8"/>
                  </a:lnTo>
                  <a:lnTo>
                    <a:pt x="5577840" y="1152149"/>
                  </a:lnTo>
                  <a:lnTo>
                    <a:pt x="5573500" y="1173417"/>
                  </a:lnTo>
                  <a:lnTo>
                    <a:pt x="5561696" y="1190864"/>
                  </a:lnTo>
                  <a:lnTo>
                    <a:pt x="5544249" y="1202668"/>
                  </a:lnTo>
                  <a:lnTo>
                    <a:pt x="5522981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40" y="3621023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7783" y="3681576"/>
            <a:ext cx="18656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INDUSTRY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E-COMMERCE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4359" y="3937000"/>
            <a:ext cx="4608830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Manufacturers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platforms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can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self-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artwork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before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print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or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listing.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Fewer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recalls,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seizures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penalties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through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pre-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emptive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compliance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checks.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level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playing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field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compliant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brands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competing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against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non-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compliant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sellers.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42379" y="750568"/>
            <a:ext cx="13950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60" dirty="0">
                <a:solidFill>
                  <a:srgbClr val="1F3864"/>
                </a:solidFill>
                <a:latin typeface="Calibri"/>
                <a:cs typeface="Calibri"/>
              </a:rPr>
              <a:t>BENEFIT</a:t>
            </a:r>
            <a:r>
              <a:rPr sz="1250" b="1" spc="1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1250" b="1" spc="55" dirty="0">
                <a:solidFill>
                  <a:srgbClr val="1F3864"/>
                </a:solidFill>
                <a:latin typeface="Calibri"/>
                <a:cs typeface="Calibri"/>
              </a:rPr>
              <a:t>ANALYSIS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7290" y="1017778"/>
            <a:ext cx="5618480" cy="1232535"/>
            <a:chOff x="6257290" y="1017778"/>
            <a:chExt cx="5618480" cy="1232535"/>
          </a:xfrm>
        </p:grpSpPr>
        <p:sp>
          <p:nvSpPr>
            <p:cNvPr id="32" name="object 32"/>
            <p:cNvSpPr/>
            <p:nvPr/>
          </p:nvSpPr>
          <p:spPr>
            <a:xfrm>
              <a:off x="6257290" y="1030477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3640" y="1024127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63640" y="1024127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63640" y="1024127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01384" y="1084680"/>
            <a:ext cx="11817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SOCIAL</a:t>
            </a:r>
            <a:r>
              <a:rPr sz="13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BENEFITS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37959" y="1340104"/>
            <a:ext cx="390842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Transparent,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verifiable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pricing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quantity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point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sale.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Greater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consumer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trust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packaged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goods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enforcement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itself.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Accessible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reporting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lets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citizens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join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market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surveillance.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57290" y="2316226"/>
            <a:ext cx="5618480" cy="1232535"/>
            <a:chOff x="6257290" y="2316226"/>
            <a:chExt cx="5618480" cy="1232535"/>
          </a:xfrm>
        </p:grpSpPr>
        <p:sp>
          <p:nvSpPr>
            <p:cNvPr id="39" name="object 39"/>
            <p:cNvSpPr/>
            <p:nvPr/>
          </p:nvSpPr>
          <p:spPr>
            <a:xfrm>
              <a:off x="6257290" y="2328925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63640" y="2322575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63640" y="2322575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3640" y="2322575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01384" y="2383128"/>
            <a:ext cx="14668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ECONOMIC</a:t>
            </a:r>
            <a:r>
              <a:rPr sz="1300" b="1" spc="-1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BENEFITS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37959" y="2638551"/>
            <a:ext cx="4139565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Sharp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reduction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inspection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cost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per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product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versus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manual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checking.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Higher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enforcement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throughput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without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proportional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headcount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growth.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Reduced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litigation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risk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findings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arrive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evidence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citations.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57290" y="3614673"/>
            <a:ext cx="5618480" cy="1232535"/>
            <a:chOff x="6257290" y="3614673"/>
            <a:chExt cx="5618480" cy="1232535"/>
          </a:xfrm>
        </p:grpSpPr>
        <p:sp>
          <p:nvSpPr>
            <p:cNvPr id="46" name="object 46"/>
            <p:cNvSpPr/>
            <p:nvPr/>
          </p:nvSpPr>
          <p:spPr>
            <a:xfrm>
              <a:off x="6257290" y="3627373"/>
              <a:ext cx="5618480" cy="1219835"/>
            </a:xfrm>
            <a:custGeom>
              <a:avLst/>
              <a:gdLst/>
              <a:ahLst/>
              <a:cxnLst/>
              <a:rect l="l" t="t" r="r" b="b"/>
              <a:pathLst>
                <a:path w="5618480" h="1219835">
                  <a:moveTo>
                    <a:pt x="5562536" y="0"/>
                  </a:moveTo>
                  <a:lnTo>
                    <a:pt x="55435" y="0"/>
                  </a:lnTo>
                  <a:lnTo>
                    <a:pt x="33944" y="4385"/>
                  </a:lnTo>
                  <a:lnTo>
                    <a:pt x="16313" y="16313"/>
                  </a:lnTo>
                  <a:lnTo>
                    <a:pt x="4385" y="33943"/>
                  </a:lnTo>
                  <a:lnTo>
                    <a:pt x="0" y="55435"/>
                  </a:lnTo>
                  <a:lnTo>
                    <a:pt x="0" y="1164271"/>
                  </a:lnTo>
                  <a:lnTo>
                    <a:pt x="4385" y="1185763"/>
                  </a:lnTo>
                  <a:lnTo>
                    <a:pt x="16313" y="1203393"/>
                  </a:lnTo>
                  <a:lnTo>
                    <a:pt x="33944" y="1215322"/>
                  </a:lnTo>
                  <a:lnTo>
                    <a:pt x="55435" y="1219707"/>
                  </a:lnTo>
                  <a:lnTo>
                    <a:pt x="5562536" y="1219707"/>
                  </a:lnTo>
                  <a:lnTo>
                    <a:pt x="5584027" y="1215322"/>
                  </a:lnTo>
                  <a:lnTo>
                    <a:pt x="5601658" y="1203393"/>
                  </a:lnTo>
                  <a:lnTo>
                    <a:pt x="5613586" y="1185763"/>
                  </a:lnTo>
                  <a:lnTo>
                    <a:pt x="5617972" y="1164271"/>
                  </a:lnTo>
                  <a:lnTo>
                    <a:pt x="5617972" y="55435"/>
                  </a:lnTo>
                  <a:lnTo>
                    <a:pt x="5613586" y="33943"/>
                  </a:lnTo>
                  <a:lnTo>
                    <a:pt x="5601658" y="16313"/>
                  </a:lnTo>
                  <a:lnTo>
                    <a:pt x="5584027" y="4385"/>
                  </a:lnTo>
                  <a:lnTo>
                    <a:pt x="556253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63640" y="3621023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55504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152149"/>
                  </a:lnTo>
                  <a:lnTo>
                    <a:pt x="4339" y="1173417"/>
                  </a:lnTo>
                  <a:lnTo>
                    <a:pt x="16143" y="1190864"/>
                  </a:lnTo>
                  <a:lnTo>
                    <a:pt x="33590" y="1202668"/>
                  </a:lnTo>
                  <a:lnTo>
                    <a:pt x="54858" y="1207008"/>
                  </a:lnTo>
                  <a:lnTo>
                    <a:pt x="5550411" y="1207008"/>
                  </a:lnTo>
                  <a:lnTo>
                    <a:pt x="5571680" y="1202668"/>
                  </a:lnTo>
                  <a:lnTo>
                    <a:pt x="5589128" y="1190864"/>
                  </a:lnTo>
                  <a:lnTo>
                    <a:pt x="5600932" y="1173417"/>
                  </a:lnTo>
                  <a:lnTo>
                    <a:pt x="5605272" y="1152149"/>
                  </a:lnTo>
                  <a:lnTo>
                    <a:pt x="5605272" y="54858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63640" y="3621023"/>
              <a:ext cx="5605780" cy="1207135"/>
            </a:xfrm>
            <a:custGeom>
              <a:avLst/>
              <a:gdLst/>
              <a:ahLst/>
              <a:cxnLst/>
              <a:rect l="l" t="t" r="r" b="b"/>
              <a:pathLst>
                <a:path w="5605780" h="1207135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8"/>
                  </a:lnTo>
                  <a:lnTo>
                    <a:pt x="5605272" y="1152149"/>
                  </a:lnTo>
                  <a:lnTo>
                    <a:pt x="5600932" y="1173417"/>
                  </a:lnTo>
                  <a:lnTo>
                    <a:pt x="5589128" y="1190864"/>
                  </a:lnTo>
                  <a:lnTo>
                    <a:pt x="5571681" y="1202668"/>
                  </a:lnTo>
                  <a:lnTo>
                    <a:pt x="5550413" y="1207007"/>
                  </a:lnTo>
                  <a:lnTo>
                    <a:pt x="54858" y="1207008"/>
                  </a:lnTo>
                  <a:lnTo>
                    <a:pt x="33590" y="1202668"/>
                  </a:lnTo>
                  <a:lnTo>
                    <a:pt x="16143" y="1190864"/>
                  </a:lnTo>
                  <a:lnTo>
                    <a:pt x="4339" y="1173417"/>
                  </a:lnTo>
                  <a:lnTo>
                    <a:pt x="0" y="1152149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3640" y="3621023"/>
              <a:ext cx="50800" cy="1207135"/>
            </a:xfrm>
            <a:custGeom>
              <a:avLst/>
              <a:gdLst/>
              <a:ahLst/>
              <a:cxnLst/>
              <a:rect l="l" t="t" r="r" b="b"/>
              <a:pathLst>
                <a:path w="50800" h="1207135">
                  <a:moveTo>
                    <a:pt x="50292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50292" y="120700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01384" y="3681576"/>
            <a:ext cx="27901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ENVIRONMENTAL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SYSTEMIC</a:t>
            </a:r>
            <a:r>
              <a:rPr sz="1300" b="1" spc="-1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BENEFITS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37959" y="3937000"/>
            <a:ext cx="3767454" cy="5740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Paperless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inspections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replace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printed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forms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physical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files.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Fewer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reprints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recalls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non-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compliant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packaging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artwork.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Nationwide</a:t>
            </a:r>
            <a:r>
              <a:rPr sz="100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analytics</a:t>
            </a:r>
            <a:r>
              <a:rPr sz="100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reveal</a:t>
            </a:r>
            <a:r>
              <a:rPr sz="100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violation</a:t>
            </a:r>
            <a:r>
              <a:rPr sz="100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trends</a:t>
            </a:r>
            <a:r>
              <a:rPr sz="100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repeat</a:t>
            </a:r>
            <a:r>
              <a:rPr sz="100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offenders.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20039" y="4956047"/>
            <a:ext cx="11549380" cy="1188720"/>
          </a:xfrm>
          <a:custGeom>
            <a:avLst/>
            <a:gdLst/>
            <a:ahLst/>
            <a:cxnLst/>
            <a:rect l="l" t="t" r="r" b="b"/>
            <a:pathLst>
              <a:path w="11549380" h="1188720">
                <a:moveTo>
                  <a:pt x="11475718" y="0"/>
                </a:moveTo>
                <a:lnTo>
                  <a:pt x="73153" y="0"/>
                </a:lnTo>
                <a:lnTo>
                  <a:pt x="44793" y="5786"/>
                </a:lnTo>
                <a:lnTo>
                  <a:pt x="21527" y="21527"/>
                </a:lnTo>
                <a:lnTo>
                  <a:pt x="5786" y="44792"/>
                </a:lnTo>
                <a:lnTo>
                  <a:pt x="0" y="73153"/>
                </a:lnTo>
                <a:lnTo>
                  <a:pt x="0" y="1115565"/>
                </a:lnTo>
                <a:lnTo>
                  <a:pt x="5786" y="1143926"/>
                </a:lnTo>
                <a:lnTo>
                  <a:pt x="21527" y="1167192"/>
                </a:lnTo>
                <a:lnTo>
                  <a:pt x="44793" y="1182933"/>
                </a:lnTo>
                <a:lnTo>
                  <a:pt x="73153" y="1188720"/>
                </a:lnTo>
                <a:lnTo>
                  <a:pt x="11475718" y="1188720"/>
                </a:lnTo>
                <a:lnTo>
                  <a:pt x="11504078" y="1182933"/>
                </a:lnTo>
                <a:lnTo>
                  <a:pt x="11527344" y="1167192"/>
                </a:lnTo>
                <a:lnTo>
                  <a:pt x="11543085" y="1143926"/>
                </a:lnTo>
                <a:lnTo>
                  <a:pt x="11548872" y="1115565"/>
                </a:lnTo>
                <a:lnTo>
                  <a:pt x="11548872" y="73153"/>
                </a:lnTo>
                <a:lnTo>
                  <a:pt x="11543085" y="44792"/>
                </a:lnTo>
                <a:lnTo>
                  <a:pt x="11527344" y="21527"/>
                </a:lnTo>
                <a:lnTo>
                  <a:pt x="11504078" y="5786"/>
                </a:lnTo>
                <a:lnTo>
                  <a:pt x="11475718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81659" y="5042610"/>
            <a:ext cx="2176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80" dirty="0">
                <a:solidFill>
                  <a:srgbClr val="FFBF00"/>
                </a:solidFill>
                <a:latin typeface="Calibri"/>
                <a:cs typeface="Calibri"/>
              </a:rPr>
              <a:t>EXPECTED</a:t>
            </a:r>
            <a:r>
              <a:rPr sz="1100" b="1" spc="225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FFBF00"/>
                </a:solidFill>
                <a:latin typeface="Calibri"/>
                <a:cs typeface="Calibri"/>
              </a:rPr>
              <a:t>IMPACT</a:t>
            </a:r>
            <a:r>
              <a:rPr sz="1100" b="1" spc="229" dirty="0">
                <a:solidFill>
                  <a:srgbClr val="FFBF00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FFBF00"/>
                </a:solidFill>
                <a:latin typeface="Calibri"/>
                <a:cs typeface="Calibri"/>
              </a:rPr>
              <a:t>INDICATORS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27380" y="5315610"/>
            <a:ext cx="144462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90%+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less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manual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label-reading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D6E4F4"/>
                </a:solidFill>
                <a:latin typeface="Calibri"/>
                <a:cs typeface="Calibri"/>
              </a:rPr>
              <a:t>time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670048" y="5349239"/>
            <a:ext cx="6871970" cy="658495"/>
          </a:xfrm>
          <a:custGeom>
            <a:avLst/>
            <a:gdLst/>
            <a:ahLst/>
            <a:cxnLst/>
            <a:rect l="l" t="t" r="r" b="b"/>
            <a:pathLst>
              <a:path w="6871970" h="658495">
                <a:moveTo>
                  <a:pt x="13716" y="0"/>
                </a:moveTo>
                <a:lnTo>
                  <a:pt x="0" y="0"/>
                </a:lnTo>
                <a:lnTo>
                  <a:pt x="0" y="658368"/>
                </a:lnTo>
                <a:lnTo>
                  <a:pt x="13716" y="658368"/>
                </a:lnTo>
                <a:lnTo>
                  <a:pt x="13716" y="0"/>
                </a:lnTo>
                <a:close/>
              </a:path>
              <a:path w="6871970" h="658495">
                <a:moveTo>
                  <a:pt x="2299716" y="0"/>
                </a:moveTo>
                <a:lnTo>
                  <a:pt x="2286000" y="0"/>
                </a:lnTo>
                <a:lnTo>
                  <a:pt x="2286000" y="658368"/>
                </a:lnTo>
                <a:lnTo>
                  <a:pt x="2299716" y="658368"/>
                </a:lnTo>
                <a:lnTo>
                  <a:pt x="2299716" y="0"/>
                </a:lnTo>
                <a:close/>
              </a:path>
              <a:path w="6871970" h="658495">
                <a:moveTo>
                  <a:pt x="4585716" y="0"/>
                </a:moveTo>
                <a:lnTo>
                  <a:pt x="4572000" y="0"/>
                </a:lnTo>
                <a:lnTo>
                  <a:pt x="4572000" y="658368"/>
                </a:lnTo>
                <a:lnTo>
                  <a:pt x="4585716" y="658368"/>
                </a:lnTo>
                <a:lnTo>
                  <a:pt x="4585716" y="0"/>
                </a:lnTo>
                <a:close/>
              </a:path>
              <a:path w="6871970" h="658495">
                <a:moveTo>
                  <a:pt x="6871716" y="0"/>
                </a:moveTo>
                <a:lnTo>
                  <a:pt x="6858000" y="0"/>
                </a:lnTo>
                <a:lnTo>
                  <a:pt x="6858000" y="658368"/>
                </a:lnTo>
                <a:lnTo>
                  <a:pt x="6871716" y="658368"/>
                </a:lnTo>
                <a:lnTo>
                  <a:pt x="6871716" y="0"/>
                </a:lnTo>
                <a:close/>
              </a:path>
            </a:pathLst>
          </a:custGeom>
          <a:solidFill>
            <a:srgbClr val="4A64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913379" y="5315610"/>
            <a:ext cx="1704339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solidFill>
                  <a:srgbClr val="8ED2A7"/>
                </a:solidFill>
                <a:latin typeface="Calibri"/>
                <a:cs typeface="Calibri"/>
              </a:rPr>
              <a:t>100%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evidence</a:t>
            </a:r>
            <a:r>
              <a:rPr sz="900" spc="1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preserved,</a:t>
            </a:r>
            <a:r>
              <a:rPr sz="900" spc="1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immutable</a:t>
            </a:r>
            <a:r>
              <a:rPr sz="900" spc="1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trail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199379" y="5315610"/>
            <a:ext cx="1346200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verdict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consistent</a:t>
            </a:r>
            <a:r>
              <a:rPr sz="900" spc="-1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across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all</a:t>
            </a:r>
            <a:r>
              <a:rPr sz="900" spc="-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districts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85380" y="5315610"/>
            <a:ext cx="126936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8ED2A7"/>
                </a:solidFill>
                <a:latin typeface="Calibri"/>
                <a:cs typeface="Calibri"/>
              </a:rPr>
              <a:t>Real-</a:t>
            </a:r>
            <a:r>
              <a:rPr sz="2200" b="1" spc="-20" dirty="0">
                <a:solidFill>
                  <a:srgbClr val="8ED2A7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compliance</a:t>
            </a:r>
            <a:r>
              <a:rPr sz="900" spc="-1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trend</a:t>
            </a:r>
            <a:r>
              <a:rPr sz="900" spc="-1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analytics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71380" y="5315610"/>
            <a:ext cx="990600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per-</a:t>
            </a:r>
            <a:r>
              <a:rPr sz="900" dirty="0">
                <a:solidFill>
                  <a:srgbClr val="D6E4F4"/>
                </a:solidFill>
                <a:latin typeface="Calibri"/>
                <a:cs typeface="Calibri"/>
              </a:rPr>
              <a:t>scan</a:t>
            </a:r>
            <a:r>
              <a:rPr sz="900" spc="5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6E4F4"/>
                </a:solidFill>
                <a:latin typeface="Calibri"/>
                <a:cs typeface="Calibri"/>
              </a:rPr>
              <a:t>licence</a:t>
            </a:r>
            <a:r>
              <a:rPr sz="900" spc="10" dirty="0">
                <a:solidFill>
                  <a:srgbClr val="D6E4F4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D6E4F4"/>
                </a:solidFill>
                <a:latin typeface="Calibri"/>
                <a:cs typeface="Calibri"/>
              </a:rPr>
              <a:t>cost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61" name="object 61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59CD90-A3A5-378E-2A9D-B1724C04E1D0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2923C0B-43B7-7498-56CE-1EE9D07C3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5389" y="224434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VisionMinds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RESEARCH</a:t>
            </a:r>
            <a:r>
              <a:rPr spc="180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spc="40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0039" y="640080"/>
            <a:ext cx="11549380" cy="32384"/>
            <a:chOff x="320039" y="640080"/>
            <a:chExt cx="11549380" cy="32384"/>
          </a:xfrm>
        </p:grpSpPr>
        <p:sp>
          <p:nvSpPr>
            <p:cNvPr id="5" name="object 5"/>
            <p:cNvSpPr/>
            <p:nvPr/>
          </p:nvSpPr>
          <p:spPr>
            <a:xfrm>
              <a:off x="320039" y="640080"/>
              <a:ext cx="11549380" cy="32384"/>
            </a:xfrm>
            <a:custGeom>
              <a:avLst/>
              <a:gdLst/>
              <a:ahLst/>
              <a:cxnLst/>
              <a:rect l="l" t="t" r="r" b="b"/>
              <a:pathLst>
                <a:path w="11549380" h="32384">
                  <a:moveTo>
                    <a:pt x="11548872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1548872" y="32003"/>
                  </a:lnTo>
                  <a:lnTo>
                    <a:pt x="11548872" y="0"/>
                  </a:lnTo>
                  <a:close/>
                </a:path>
              </a:pathLst>
            </a:custGeom>
            <a:solidFill>
              <a:srgbClr val="C6D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1640" y="640080"/>
              <a:ext cx="1371600" cy="32384"/>
            </a:xfrm>
            <a:custGeom>
              <a:avLst/>
              <a:gdLst/>
              <a:ahLst/>
              <a:cxnLst/>
              <a:rect l="l" t="t" r="r" b="b"/>
              <a:pathLst>
                <a:path w="1371600" h="32384">
                  <a:moveTo>
                    <a:pt x="1371600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71600" y="32003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13690" y="816610"/>
            <a:ext cx="5590540" cy="1598295"/>
            <a:chOff x="313690" y="816610"/>
            <a:chExt cx="5590540" cy="1598295"/>
          </a:xfrm>
        </p:grpSpPr>
        <p:sp>
          <p:nvSpPr>
            <p:cNvPr id="9" name="object 9"/>
            <p:cNvSpPr/>
            <p:nvPr/>
          </p:nvSpPr>
          <p:spPr>
            <a:xfrm>
              <a:off x="313690" y="829309"/>
              <a:ext cx="5590540" cy="1585595"/>
            </a:xfrm>
            <a:custGeom>
              <a:avLst/>
              <a:gdLst/>
              <a:ahLst/>
              <a:cxnLst/>
              <a:rect l="l" t="t" r="r" b="b"/>
              <a:pathLst>
                <a:path w="5590540" h="1585595">
                  <a:moveTo>
                    <a:pt x="5535238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35238" y="1585467"/>
                  </a:lnTo>
                  <a:lnTo>
                    <a:pt x="5556678" y="1581092"/>
                  </a:lnTo>
                  <a:lnTo>
                    <a:pt x="5574265" y="1569193"/>
                  </a:lnTo>
                  <a:lnTo>
                    <a:pt x="5586165" y="1551605"/>
                  </a:lnTo>
                  <a:lnTo>
                    <a:pt x="5590539" y="1530166"/>
                  </a:lnTo>
                  <a:lnTo>
                    <a:pt x="5590539" y="55301"/>
                  </a:lnTo>
                  <a:lnTo>
                    <a:pt x="5586165" y="33861"/>
                  </a:lnTo>
                  <a:lnTo>
                    <a:pt x="5574265" y="16273"/>
                  </a:lnTo>
                  <a:lnTo>
                    <a:pt x="5556678" y="4374"/>
                  </a:lnTo>
                  <a:lnTo>
                    <a:pt x="553523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22960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5522981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22981" y="1572767"/>
                  </a:lnTo>
                  <a:lnTo>
                    <a:pt x="5544249" y="1568428"/>
                  </a:lnTo>
                  <a:lnTo>
                    <a:pt x="5561696" y="1556624"/>
                  </a:lnTo>
                  <a:lnTo>
                    <a:pt x="5573500" y="1539177"/>
                  </a:lnTo>
                  <a:lnTo>
                    <a:pt x="5577840" y="1517909"/>
                  </a:lnTo>
                  <a:lnTo>
                    <a:pt x="5577840" y="54857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40" y="822960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7"/>
                  </a:lnTo>
                  <a:lnTo>
                    <a:pt x="5577840" y="1517909"/>
                  </a:lnTo>
                  <a:lnTo>
                    <a:pt x="5573500" y="1539177"/>
                  </a:lnTo>
                  <a:lnTo>
                    <a:pt x="5561696" y="1556624"/>
                  </a:lnTo>
                  <a:lnTo>
                    <a:pt x="5544249" y="1568428"/>
                  </a:lnTo>
                  <a:lnTo>
                    <a:pt x="5522981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" y="822960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7783" y="883512"/>
            <a:ext cx="20961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STATUTE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OFFICIAL</a:t>
            </a:r>
            <a:r>
              <a:rPr sz="1300" b="1" spc="-2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SOURCES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359" y="1187703"/>
            <a:ext cx="4914900" cy="11607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5080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Metrology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Act,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2009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Ministry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Consumer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Affairs,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Food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Public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Distribution (consumeraffairs.nic.in)</a:t>
            </a:r>
            <a:endParaRPr sz="1000">
              <a:latin typeface="Calibri"/>
              <a:cs typeface="Calibri"/>
            </a:endParaRPr>
          </a:p>
          <a:p>
            <a:pPr marL="342900" marR="890905" indent="-342900">
              <a:lnSpc>
                <a:spcPts val="1140"/>
              </a:lnSpc>
              <a:spcBef>
                <a:spcPts val="300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The</a:t>
            </a:r>
            <a:r>
              <a:rPr sz="100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Metrology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(Packaged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Commodities)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Rules,</a:t>
            </a:r>
            <a:r>
              <a:rPr sz="1000" spc="-3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2011,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as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amended (consumeraffairs.nic.in)</a:t>
            </a:r>
            <a:endParaRPr sz="1000">
              <a:latin typeface="Calibri"/>
              <a:cs typeface="Calibri"/>
            </a:endParaRPr>
          </a:p>
          <a:p>
            <a:pPr marL="342900" marR="913765" indent="-342900">
              <a:lnSpc>
                <a:spcPts val="1140"/>
              </a:lnSpc>
              <a:spcBef>
                <a:spcPts val="300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SIH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2026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Problem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Statement 26034, Department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Consumer Affairs (sih.gov.in/sih2026PS)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Metrology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Division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circulars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notifications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(consumeraffairs.nic.in)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57290" y="816610"/>
            <a:ext cx="5618480" cy="1598295"/>
            <a:chOff x="6257290" y="816610"/>
            <a:chExt cx="5618480" cy="1598295"/>
          </a:xfrm>
        </p:grpSpPr>
        <p:sp>
          <p:nvSpPr>
            <p:cNvPr id="16" name="object 16"/>
            <p:cNvSpPr/>
            <p:nvPr/>
          </p:nvSpPr>
          <p:spPr>
            <a:xfrm>
              <a:off x="6257290" y="829309"/>
              <a:ext cx="5618480" cy="1585595"/>
            </a:xfrm>
            <a:custGeom>
              <a:avLst/>
              <a:gdLst/>
              <a:ahLst/>
              <a:cxnLst/>
              <a:rect l="l" t="t" r="r" b="b"/>
              <a:pathLst>
                <a:path w="5618480" h="1585595">
                  <a:moveTo>
                    <a:pt x="5562670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62670" y="1585467"/>
                  </a:lnTo>
                  <a:lnTo>
                    <a:pt x="5584110" y="1581092"/>
                  </a:lnTo>
                  <a:lnTo>
                    <a:pt x="5601697" y="1569193"/>
                  </a:lnTo>
                  <a:lnTo>
                    <a:pt x="5613597" y="1551605"/>
                  </a:lnTo>
                  <a:lnTo>
                    <a:pt x="5617972" y="1530166"/>
                  </a:lnTo>
                  <a:lnTo>
                    <a:pt x="5617972" y="55301"/>
                  </a:lnTo>
                  <a:lnTo>
                    <a:pt x="5613597" y="33861"/>
                  </a:lnTo>
                  <a:lnTo>
                    <a:pt x="5601697" y="16273"/>
                  </a:lnTo>
                  <a:lnTo>
                    <a:pt x="5584110" y="4374"/>
                  </a:lnTo>
                  <a:lnTo>
                    <a:pt x="5562670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63640" y="822960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5550413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50413" y="1572767"/>
                  </a:lnTo>
                  <a:lnTo>
                    <a:pt x="5571681" y="1568428"/>
                  </a:lnTo>
                  <a:lnTo>
                    <a:pt x="5589128" y="1556624"/>
                  </a:lnTo>
                  <a:lnTo>
                    <a:pt x="5600932" y="1539177"/>
                  </a:lnTo>
                  <a:lnTo>
                    <a:pt x="5605272" y="1517909"/>
                  </a:lnTo>
                  <a:lnTo>
                    <a:pt x="5605272" y="54857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3640" y="822960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7"/>
                  </a:lnTo>
                  <a:lnTo>
                    <a:pt x="5605272" y="1517909"/>
                  </a:lnTo>
                  <a:lnTo>
                    <a:pt x="5600932" y="1539177"/>
                  </a:lnTo>
                  <a:lnTo>
                    <a:pt x="5589128" y="1556624"/>
                  </a:lnTo>
                  <a:lnTo>
                    <a:pt x="5571681" y="1568428"/>
                  </a:lnTo>
                  <a:lnTo>
                    <a:pt x="5550413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3640" y="822960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01384" y="883512"/>
            <a:ext cx="18097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COMPUTER</a:t>
            </a:r>
            <a:r>
              <a:rPr sz="1300" b="1" spc="-3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VISION</a:t>
            </a:r>
            <a:r>
              <a:rPr sz="1300" b="1" spc="-30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&amp;</a:t>
            </a:r>
            <a:r>
              <a:rPr sz="1300" b="1" spc="-3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1F8A45"/>
                </a:solidFill>
                <a:latin typeface="Calibri"/>
                <a:cs typeface="Calibri"/>
              </a:rPr>
              <a:t>OCR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37959" y="1187703"/>
            <a:ext cx="4864100" cy="10160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97345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PaddleOCR: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Practical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Ultra-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Lightweight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OCR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System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Baidu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Research (github.com/PaddlePaddle/PaddleOCR)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EAST: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Efficient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Accurate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Scene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Text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Detector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CVPR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2017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(arxiv.org/abs/1704.03155)</a:t>
            </a:r>
            <a:endParaRPr sz="1000">
              <a:latin typeface="Calibri"/>
              <a:cs typeface="Calibri"/>
            </a:endParaRPr>
          </a:p>
          <a:p>
            <a:pPr marL="342900" marR="968375" indent="-342900">
              <a:lnSpc>
                <a:spcPts val="1140"/>
              </a:lnSpc>
              <a:spcBef>
                <a:spcPts val="32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TrOCR: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Transformer-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based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OCR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Pre-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trained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Models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AAAI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2023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(arxiv.org/abs/2109.10282)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OpenCV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documentation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preprocessing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perspective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transform</a:t>
            </a:r>
            <a:r>
              <a:rPr sz="1000" spc="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(docs.opencv.org)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3690" y="2480817"/>
            <a:ext cx="5590540" cy="1598295"/>
            <a:chOff x="313690" y="2480817"/>
            <a:chExt cx="5590540" cy="1598295"/>
          </a:xfrm>
        </p:grpSpPr>
        <p:sp>
          <p:nvSpPr>
            <p:cNvPr id="23" name="object 23"/>
            <p:cNvSpPr/>
            <p:nvPr/>
          </p:nvSpPr>
          <p:spPr>
            <a:xfrm>
              <a:off x="313690" y="2493517"/>
              <a:ext cx="5590540" cy="1585595"/>
            </a:xfrm>
            <a:custGeom>
              <a:avLst/>
              <a:gdLst/>
              <a:ahLst/>
              <a:cxnLst/>
              <a:rect l="l" t="t" r="r" b="b"/>
              <a:pathLst>
                <a:path w="5590540" h="1585595">
                  <a:moveTo>
                    <a:pt x="5535238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35238" y="1585467"/>
                  </a:lnTo>
                  <a:lnTo>
                    <a:pt x="5556678" y="1581092"/>
                  </a:lnTo>
                  <a:lnTo>
                    <a:pt x="5574265" y="1569193"/>
                  </a:lnTo>
                  <a:lnTo>
                    <a:pt x="5586165" y="1551605"/>
                  </a:lnTo>
                  <a:lnTo>
                    <a:pt x="5590539" y="1530166"/>
                  </a:lnTo>
                  <a:lnTo>
                    <a:pt x="5590539" y="55301"/>
                  </a:lnTo>
                  <a:lnTo>
                    <a:pt x="5586165" y="33861"/>
                  </a:lnTo>
                  <a:lnTo>
                    <a:pt x="5574265" y="16273"/>
                  </a:lnTo>
                  <a:lnTo>
                    <a:pt x="5556678" y="4374"/>
                  </a:lnTo>
                  <a:lnTo>
                    <a:pt x="5535238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40" y="2487167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5522981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22981" y="1572767"/>
                  </a:lnTo>
                  <a:lnTo>
                    <a:pt x="5544249" y="1568428"/>
                  </a:lnTo>
                  <a:lnTo>
                    <a:pt x="5561696" y="1556624"/>
                  </a:lnTo>
                  <a:lnTo>
                    <a:pt x="5573500" y="1539177"/>
                  </a:lnTo>
                  <a:lnTo>
                    <a:pt x="5577840" y="1517909"/>
                  </a:lnTo>
                  <a:lnTo>
                    <a:pt x="5577840" y="54857"/>
                  </a:lnTo>
                  <a:lnTo>
                    <a:pt x="5573500" y="33590"/>
                  </a:lnTo>
                  <a:lnTo>
                    <a:pt x="5561696" y="16143"/>
                  </a:lnTo>
                  <a:lnTo>
                    <a:pt x="5544249" y="4339"/>
                  </a:lnTo>
                  <a:lnTo>
                    <a:pt x="5522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2487167"/>
              <a:ext cx="5577840" cy="1572895"/>
            </a:xfrm>
            <a:custGeom>
              <a:avLst/>
              <a:gdLst/>
              <a:ahLst/>
              <a:cxnLst/>
              <a:rect l="l" t="t" r="r" b="b"/>
              <a:pathLst>
                <a:path w="557784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22981" y="0"/>
                  </a:lnTo>
                  <a:lnTo>
                    <a:pt x="5544249" y="4339"/>
                  </a:lnTo>
                  <a:lnTo>
                    <a:pt x="5561696" y="16143"/>
                  </a:lnTo>
                  <a:lnTo>
                    <a:pt x="5573500" y="33590"/>
                  </a:lnTo>
                  <a:lnTo>
                    <a:pt x="5577840" y="54857"/>
                  </a:lnTo>
                  <a:lnTo>
                    <a:pt x="5577840" y="1517909"/>
                  </a:lnTo>
                  <a:lnTo>
                    <a:pt x="5573500" y="1539177"/>
                  </a:lnTo>
                  <a:lnTo>
                    <a:pt x="5561696" y="1556624"/>
                  </a:lnTo>
                  <a:lnTo>
                    <a:pt x="5544249" y="1568428"/>
                  </a:lnTo>
                  <a:lnTo>
                    <a:pt x="5522981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2487167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7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7783" y="2547720"/>
            <a:ext cx="358647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70BF"/>
                </a:solidFill>
                <a:latin typeface="Calibri"/>
                <a:cs typeface="Calibri"/>
              </a:rPr>
              <a:t>RETRIEVAL-AUGMENTED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GENERATION</a:t>
            </a:r>
            <a:r>
              <a:rPr sz="1300" b="1" spc="-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&amp;</a:t>
            </a:r>
            <a:r>
              <a:rPr sz="1300" b="1" spc="-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0BF"/>
                </a:solidFill>
                <a:latin typeface="Calibri"/>
                <a:cs typeface="Calibri"/>
              </a:rPr>
              <a:t>LEGAL</a:t>
            </a:r>
            <a:r>
              <a:rPr sz="1300" b="1" spc="-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0070BF"/>
                </a:solidFill>
                <a:latin typeface="Calibri"/>
                <a:cs typeface="Calibri"/>
              </a:rPr>
              <a:t>NLP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4359" y="2851911"/>
            <a:ext cx="4912995" cy="10160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1088390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RAG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Knowledge-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Intensive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NLP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Tasks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Lewis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et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al.,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NeurIPS 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2020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(arxiv.org/abs/2005.11401)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Dense</a:t>
            </a:r>
            <a:r>
              <a:rPr sz="100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Passage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Retrieval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Open-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Domain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QA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EMNLP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2020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(arxiv.org/abs/2004.04906)</a:t>
            </a:r>
            <a:endParaRPr sz="1000">
              <a:latin typeface="Calibri"/>
              <a:cs typeface="Calibri"/>
            </a:endParaRPr>
          </a:p>
          <a:p>
            <a:pPr marL="342900" marR="1085850" indent="-342900">
              <a:lnSpc>
                <a:spcPts val="1140"/>
              </a:lnSpc>
              <a:spcBef>
                <a:spcPts val="325"/>
              </a:spcBef>
              <a:buChar char="•"/>
              <a:tabLst>
                <a:tab pos="342900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LegalBench: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Benchmark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Legal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Reasoning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in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LLMs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NeurIPS 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2023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(arxiv.org/abs/2308.11462)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Sentence-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BERT: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Siamese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BERT-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Networks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EMNLP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2019</a:t>
            </a:r>
            <a:r>
              <a:rPr sz="100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(arxiv.org/abs/1908.10084)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57290" y="2480817"/>
            <a:ext cx="5618480" cy="1598295"/>
            <a:chOff x="6257290" y="2480817"/>
            <a:chExt cx="5618480" cy="1598295"/>
          </a:xfrm>
        </p:grpSpPr>
        <p:sp>
          <p:nvSpPr>
            <p:cNvPr id="30" name="object 30"/>
            <p:cNvSpPr/>
            <p:nvPr/>
          </p:nvSpPr>
          <p:spPr>
            <a:xfrm>
              <a:off x="6257290" y="2493517"/>
              <a:ext cx="5618480" cy="1585595"/>
            </a:xfrm>
            <a:custGeom>
              <a:avLst/>
              <a:gdLst/>
              <a:ahLst/>
              <a:cxnLst/>
              <a:rect l="l" t="t" r="r" b="b"/>
              <a:pathLst>
                <a:path w="5618480" h="1585595">
                  <a:moveTo>
                    <a:pt x="5562670" y="0"/>
                  </a:moveTo>
                  <a:lnTo>
                    <a:pt x="55301" y="0"/>
                  </a:lnTo>
                  <a:lnTo>
                    <a:pt x="33861" y="4374"/>
                  </a:lnTo>
                  <a:lnTo>
                    <a:pt x="16273" y="16273"/>
                  </a:lnTo>
                  <a:lnTo>
                    <a:pt x="4374" y="33861"/>
                  </a:lnTo>
                  <a:lnTo>
                    <a:pt x="0" y="55301"/>
                  </a:lnTo>
                  <a:lnTo>
                    <a:pt x="0" y="1530166"/>
                  </a:lnTo>
                  <a:lnTo>
                    <a:pt x="4374" y="1551605"/>
                  </a:lnTo>
                  <a:lnTo>
                    <a:pt x="16273" y="1569193"/>
                  </a:lnTo>
                  <a:lnTo>
                    <a:pt x="33861" y="1581092"/>
                  </a:lnTo>
                  <a:lnTo>
                    <a:pt x="55301" y="1585467"/>
                  </a:lnTo>
                  <a:lnTo>
                    <a:pt x="5562670" y="1585467"/>
                  </a:lnTo>
                  <a:lnTo>
                    <a:pt x="5584110" y="1581092"/>
                  </a:lnTo>
                  <a:lnTo>
                    <a:pt x="5601697" y="1569193"/>
                  </a:lnTo>
                  <a:lnTo>
                    <a:pt x="5613597" y="1551605"/>
                  </a:lnTo>
                  <a:lnTo>
                    <a:pt x="5617972" y="1530166"/>
                  </a:lnTo>
                  <a:lnTo>
                    <a:pt x="5617972" y="55301"/>
                  </a:lnTo>
                  <a:lnTo>
                    <a:pt x="5613597" y="33861"/>
                  </a:lnTo>
                  <a:lnTo>
                    <a:pt x="5601697" y="16273"/>
                  </a:lnTo>
                  <a:lnTo>
                    <a:pt x="5584110" y="4374"/>
                  </a:lnTo>
                  <a:lnTo>
                    <a:pt x="5562670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63640" y="2487167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5550413" y="0"/>
                  </a:moveTo>
                  <a:lnTo>
                    <a:pt x="54857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7"/>
                  </a:lnTo>
                  <a:lnTo>
                    <a:pt x="0" y="1517909"/>
                  </a:lnTo>
                  <a:lnTo>
                    <a:pt x="4339" y="1539177"/>
                  </a:lnTo>
                  <a:lnTo>
                    <a:pt x="16143" y="1556624"/>
                  </a:lnTo>
                  <a:lnTo>
                    <a:pt x="33590" y="1568428"/>
                  </a:lnTo>
                  <a:lnTo>
                    <a:pt x="54857" y="1572767"/>
                  </a:lnTo>
                  <a:lnTo>
                    <a:pt x="5550413" y="1572767"/>
                  </a:lnTo>
                  <a:lnTo>
                    <a:pt x="5571681" y="1568428"/>
                  </a:lnTo>
                  <a:lnTo>
                    <a:pt x="5589128" y="1556624"/>
                  </a:lnTo>
                  <a:lnTo>
                    <a:pt x="5600932" y="1539177"/>
                  </a:lnTo>
                  <a:lnTo>
                    <a:pt x="5605272" y="1517909"/>
                  </a:lnTo>
                  <a:lnTo>
                    <a:pt x="5605272" y="54857"/>
                  </a:lnTo>
                  <a:lnTo>
                    <a:pt x="5600932" y="33590"/>
                  </a:lnTo>
                  <a:lnTo>
                    <a:pt x="5589128" y="16143"/>
                  </a:lnTo>
                  <a:lnTo>
                    <a:pt x="5571681" y="4339"/>
                  </a:lnTo>
                  <a:lnTo>
                    <a:pt x="55504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63640" y="2487167"/>
              <a:ext cx="5605780" cy="1572895"/>
            </a:xfrm>
            <a:custGeom>
              <a:avLst/>
              <a:gdLst/>
              <a:ahLst/>
              <a:cxnLst/>
              <a:rect l="l" t="t" r="r" b="b"/>
              <a:pathLst>
                <a:path w="5605780" h="1572895">
                  <a:moveTo>
                    <a:pt x="0" y="54857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7" y="0"/>
                  </a:lnTo>
                  <a:lnTo>
                    <a:pt x="5550413" y="0"/>
                  </a:lnTo>
                  <a:lnTo>
                    <a:pt x="5571681" y="4339"/>
                  </a:lnTo>
                  <a:lnTo>
                    <a:pt x="5589128" y="16143"/>
                  </a:lnTo>
                  <a:lnTo>
                    <a:pt x="5600932" y="33590"/>
                  </a:lnTo>
                  <a:lnTo>
                    <a:pt x="5605272" y="54857"/>
                  </a:lnTo>
                  <a:lnTo>
                    <a:pt x="5605272" y="1517909"/>
                  </a:lnTo>
                  <a:lnTo>
                    <a:pt x="5600932" y="1539177"/>
                  </a:lnTo>
                  <a:lnTo>
                    <a:pt x="5589128" y="1556624"/>
                  </a:lnTo>
                  <a:lnTo>
                    <a:pt x="5571681" y="1568428"/>
                  </a:lnTo>
                  <a:lnTo>
                    <a:pt x="5550413" y="1572767"/>
                  </a:lnTo>
                  <a:lnTo>
                    <a:pt x="54857" y="1572767"/>
                  </a:lnTo>
                  <a:lnTo>
                    <a:pt x="33590" y="1568428"/>
                  </a:lnTo>
                  <a:lnTo>
                    <a:pt x="16143" y="1556624"/>
                  </a:lnTo>
                  <a:lnTo>
                    <a:pt x="4339" y="1539177"/>
                  </a:lnTo>
                  <a:lnTo>
                    <a:pt x="0" y="1517909"/>
                  </a:lnTo>
                  <a:lnTo>
                    <a:pt x="0" y="54857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3640" y="2487167"/>
              <a:ext cx="50800" cy="1572895"/>
            </a:xfrm>
            <a:custGeom>
              <a:avLst/>
              <a:gdLst/>
              <a:ahLst/>
              <a:cxnLst/>
              <a:rect l="l" t="t" r="r" b="b"/>
              <a:pathLst>
                <a:path w="50800" h="1572895">
                  <a:moveTo>
                    <a:pt x="50292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50292" y="157276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01384" y="2547720"/>
            <a:ext cx="29749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PROJECT</a:t>
            </a:r>
            <a:r>
              <a:rPr sz="1300" b="1" spc="-30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REPOSITORY</a:t>
            </a:r>
            <a:r>
              <a:rPr sz="13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4D79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1F4D7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4D79"/>
                </a:solidFill>
                <a:latin typeface="Calibri"/>
                <a:cs typeface="Calibri"/>
              </a:rPr>
              <a:t>DOCUMENTATION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37959" y="2851911"/>
            <a:ext cx="4505960" cy="10160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755015" indent="-342900">
              <a:lnSpc>
                <a:spcPts val="114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VALIDRA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source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code,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architecture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technical</a:t>
            </a:r>
            <a:r>
              <a:rPr sz="100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documentation (github.com/dhruvpatel16120/Validra)</a:t>
            </a:r>
            <a:endParaRPr sz="1000">
              <a:latin typeface="Calibri"/>
              <a:cs typeface="Calibri"/>
            </a:endParaRPr>
          </a:p>
          <a:p>
            <a:pPr marL="342900" marR="1290955" indent="-342900">
              <a:lnSpc>
                <a:spcPts val="1140"/>
              </a:lnSpc>
              <a:spcBef>
                <a:spcPts val="300"/>
              </a:spcBef>
              <a:buChar char="•"/>
              <a:tabLst>
                <a:tab pos="342900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System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architecture,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data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model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API</a:t>
            </a:r>
            <a:r>
              <a:rPr sz="100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contracts (github.com/dhruvpatel16120/Validra/tree/main/docs)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15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FastAPI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&amp;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Next.js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official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documentation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(fastapi.tiangolo.com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|</a:t>
            </a:r>
            <a:r>
              <a:rPr sz="1000" spc="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nextjs.org/docs)</a:t>
            </a:r>
            <a:endParaRPr sz="100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42265" algn="l"/>
              </a:tabLst>
            </a:pP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spaCy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-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industrial-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strength NLP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for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structured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field</a:t>
            </a:r>
            <a:r>
              <a:rPr sz="100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extraction</a:t>
            </a:r>
            <a:r>
              <a:rPr sz="100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A3544"/>
                </a:solidFill>
                <a:latin typeface="Calibri"/>
                <a:cs typeface="Calibri"/>
              </a:rPr>
              <a:t>(spacy.io)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514090" y="4145026"/>
            <a:ext cx="4173220" cy="2037080"/>
            <a:chOff x="3514090" y="4145026"/>
            <a:chExt cx="4173220" cy="2037080"/>
          </a:xfrm>
        </p:grpSpPr>
        <p:sp>
          <p:nvSpPr>
            <p:cNvPr id="44" name="object 44"/>
            <p:cNvSpPr/>
            <p:nvPr/>
          </p:nvSpPr>
          <p:spPr>
            <a:xfrm>
              <a:off x="3514090" y="4157725"/>
              <a:ext cx="4173220" cy="2024380"/>
            </a:xfrm>
            <a:custGeom>
              <a:avLst/>
              <a:gdLst/>
              <a:ahLst/>
              <a:cxnLst/>
              <a:rect l="l" t="t" r="r" b="b"/>
              <a:pathLst>
                <a:path w="4173220" h="2024379">
                  <a:moveTo>
                    <a:pt x="4118015" y="0"/>
                  </a:moveTo>
                  <a:lnTo>
                    <a:pt x="55204" y="0"/>
                  </a:lnTo>
                  <a:lnTo>
                    <a:pt x="33802" y="4366"/>
                  </a:lnTo>
                  <a:lnTo>
                    <a:pt x="16245" y="16245"/>
                  </a:lnTo>
                  <a:lnTo>
                    <a:pt x="4366" y="33802"/>
                  </a:lnTo>
                  <a:lnTo>
                    <a:pt x="0" y="55204"/>
                  </a:lnTo>
                  <a:lnTo>
                    <a:pt x="0" y="1969174"/>
                  </a:lnTo>
                  <a:lnTo>
                    <a:pt x="4366" y="1990576"/>
                  </a:lnTo>
                  <a:lnTo>
                    <a:pt x="16245" y="2008134"/>
                  </a:lnTo>
                  <a:lnTo>
                    <a:pt x="33802" y="2020012"/>
                  </a:lnTo>
                  <a:lnTo>
                    <a:pt x="55204" y="2024379"/>
                  </a:lnTo>
                  <a:lnTo>
                    <a:pt x="4118015" y="2024379"/>
                  </a:lnTo>
                  <a:lnTo>
                    <a:pt x="4139417" y="2020012"/>
                  </a:lnTo>
                  <a:lnTo>
                    <a:pt x="4156974" y="2008134"/>
                  </a:lnTo>
                  <a:lnTo>
                    <a:pt x="4168852" y="1990576"/>
                  </a:lnTo>
                  <a:lnTo>
                    <a:pt x="4173219" y="1969174"/>
                  </a:lnTo>
                  <a:lnTo>
                    <a:pt x="4173219" y="55204"/>
                  </a:lnTo>
                  <a:lnTo>
                    <a:pt x="4168852" y="33802"/>
                  </a:lnTo>
                  <a:lnTo>
                    <a:pt x="4156974" y="16245"/>
                  </a:lnTo>
                  <a:lnTo>
                    <a:pt x="4139417" y="4366"/>
                  </a:lnTo>
                  <a:lnTo>
                    <a:pt x="4118015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20440" y="4151375"/>
              <a:ext cx="4160520" cy="2011680"/>
            </a:xfrm>
            <a:custGeom>
              <a:avLst/>
              <a:gdLst/>
              <a:ahLst/>
              <a:cxnLst/>
              <a:rect l="l" t="t" r="r" b="b"/>
              <a:pathLst>
                <a:path w="4160520" h="2011679">
                  <a:moveTo>
                    <a:pt x="4105661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956821"/>
                  </a:lnTo>
                  <a:lnTo>
                    <a:pt x="4339" y="1978089"/>
                  </a:lnTo>
                  <a:lnTo>
                    <a:pt x="16143" y="1995536"/>
                  </a:lnTo>
                  <a:lnTo>
                    <a:pt x="33590" y="2007340"/>
                  </a:lnTo>
                  <a:lnTo>
                    <a:pt x="54858" y="2011679"/>
                  </a:lnTo>
                  <a:lnTo>
                    <a:pt x="4105661" y="2011679"/>
                  </a:lnTo>
                  <a:lnTo>
                    <a:pt x="4126929" y="2007340"/>
                  </a:lnTo>
                  <a:lnTo>
                    <a:pt x="4144376" y="1995536"/>
                  </a:lnTo>
                  <a:lnTo>
                    <a:pt x="4156180" y="1978089"/>
                  </a:lnTo>
                  <a:lnTo>
                    <a:pt x="4160520" y="1956821"/>
                  </a:lnTo>
                  <a:lnTo>
                    <a:pt x="4160520" y="54858"/>
                  </a:lnTo>
                  <a:lnTo>
                    <a:pt x="4156180" y="33590"/>
                  </a:lnTo>
                  <a:lnTo>
                    <a:pt x="4144376" y="16143"/>
                  </a:lnTo>
                  <a:lnTo>
                    <a:pt x="4126929" y="4339"/>
                  </a:lnTo>
                  <a:lnTo>
                    <a:pt x="41056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20440" y="4151375"/>
              <a:ext cx="4160520" cy="2011680"/>
            </a:xfrm>
            <a:custGeom>
              <a:avLst/>
              <a:gdLst/>
              <a:ahLst/>
              <a:cxnLst/>
              <a:rect l="l" t="t" r="r" b="b"/>
              <a:pathLst>
                <a:path w="4160520" h="2011679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4105661" y="0"/>
                  </a:lnTo>
                  <a:lnTo>
                    <a:pt x="4126929" y="4339"/>
                  </a:lnTo>
                  <a:lnTo>
                    <a:pt x="4144376" y="16143"/>
                  </a:lnTo>
                  <a:lnTo>
                    <a:pt x="4156180" y="33590"/>
                  </a:lnTo>
                  <a:lnTo>
                    <a:pt x="4160520" y="54858"/>
                  </a:lnTo>
                  <a:lnTo>
                    <a:pt x="4160520" y="1956821"/>
                  </a:lnTo>
                  <a:lnTo>
                    <a:pt x="4156180" y="1978089"/>
                  </a:lnTo>
                  <a:lnTo>
                    <a:pt x="4144376" y="1995536"/>
                  </a:lnTo>
                  <a:lnTo>
                    <a:pt x="4126929" y="2007340"/>
                  </a:lnTo>
                  <a:lnTo>
                    <a:pt x="4105661" y="2011679"/>
                  </a:lnTo>
                  <a:lnTo>
                    <a:pt x="54858" y="2011679"/>
                  </a:lnTo>
                  <a:lnTo>
                    <a:pt x="33590" y="2007340"/>
                  </a:lnTo>
                  <a:lnTo>
                    <a:pt x="16143" y="1995536"/>
                  </a:lnTo>
                  <a:lnTo>
                    <a:pt x="4339" y="1978089"/>
                  </a:lnTo>
                  <a:lnTo>
                    <a:pt x="0" y="1956821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20440" y="4151375"/>
              <a:ext cx="50800" cy="2011680"/>
            </a:xfrm>
            <a:custGeom>
              <a:avLst/>
              <a:gdLst/>
              <a:ahLst/>
              <a:cxnLst/>
              <a:rect l="l" t="t" r="r" b="b"/>
              <a:pathLst>
                <a:path w="50800" h="2011679">
                  <a:moveTo>
                    <a:pt x="50292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50292" y="2011679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58184" y="4211928"/>
            <a:ext cx="27844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VALIDATION</a:t>
            </a:r>
            <a:r>
              <a:rPr sz="1300" b="1" spc="-3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DATASETS</a:t>
            </a:r>
            <a:r>
              <a:rPr sz="1300" b="1" spc="-3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F8A45"/>
                </a:solidFill>
                <a:latin typeface="Calibri"/>
                <a:cs typeface="Calibri"/>
              </a:rPr>
              <a:t>&amp;</a:t>
            </a:r>
            <a:r>
              <a:rPr sz="1300" b="1" spc="-35" dirty="0">
                <a:solidFill>
                  <a:srgbClr val="1F8A45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8A45"/>
                </a:solidFill>
                <a:latin typeface="Calibri"/>
                <a:cs typeface="Calibri"/>
              </a:rPr>
              <a:t>BENCHMARKS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94759" y="4516906"/>
            <a:ext cx="3571240" cy="12477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57150" indent="-342900">
              <a:lnSpc>
                <a:spcPts val="1080"/>
              </a:lnSpc>
              <a:spcBef>
                <a:spcPts val="185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Curated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pack-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label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corpus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across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food,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cosmetics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household categories.</a:t>
            </a:r>
            <a:endParaRPr sz="950">
              <a:latin typeface="Calibri"/>
              <a:cs typeface="Calibri"/>
            </a:endParaRPr>
          </a:p>
          <a:p>
            <a:pPr marL="342900" marR="321945" indent="-342900">
              <a:lnSpc>
                <a:spcPts val="1080"/>
              </a:lnSpc>
              <a:spcBef>
                <a:spcPts val="305"/>
              </a:spcBef>
              <a:buChar char="•"/>
              <a:tabLst>
                <a:tab pos="342900" algn="l"/>
              </a:tabLst>
            </a:pP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Ground-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truth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annotations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MRP,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net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quantity,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dates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consumer-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care</a:t>
            </a:r>
            <a:r>
              <a:rPr sz="950" spc="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fields.</a:t>
            </a:r>
            <a:endParaRPr sz="950">
              <a:latin typeface="Calibri"/>
              <a:cs typeface="Calibri"/>
            </a:endParaRPr>
          </a:p>
          <a:p>
            <a:pPr marL="342900" marR="67310" indent="-342900">
              <a:lnSpc>
                <a:spcPts val="1080"/>
              </a:lnSpc>
              <a:spcBef>
                <a:spcPts val="305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Metrics: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field-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level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extraction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F1,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rule-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decision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accuracy,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review-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routing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precision.</a:t>
            </a:r>
            <a:endParaRPr sz="950">
              <a:latin typeface="Calibri"/>
              <a:cs typeface="Calibri"/>
            </a:endParaRPr>
          </a:p>
          <a:p>
            <a:pPr marL="342900" marR="5080" indent="-342900">
              <a:lnSpc>
                <a:spcPts val="1080"/>
              </a:lnSpc>
              <a:spcBef>
                <a:spcPts val="309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Adversarial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set: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glare,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curved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packs,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low-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contrast</a:t>
            </a:r>
            <a:r>
              <a:rPr sz="950" spc="-3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multilingual labels.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857490" y="4145026"/>
            <a:ext cx="4018279" cy="2037080"/>
            <a:chOff x="7857490" y="4145026"/>
            <a:chExt cx="4018279" cy="2037080"/>
          </a:xfrm>
        </p:grpSpPr>
        <p:sp>
          <p:nvSpPr>
            <p:cNvPr id="51" name="object 51"/>
            <p:cNvSpPr/>
            <p:nvPr/>
          </p:nvSpPr>
          <p:spPr>
            <a:xfrm>
              <a:off x="7857490" y="4157725"/>
              <a:ext cx="4018279" cy="2024380"/>
            </a:xfrm>
            <a:custGeom>
              <a:avLst/>
              <a:gdLst/>
              <a:ahLst/>
              <a:cxnLst/>
              <a:rect l="l" t="t" r="r" b="b"/>
              <a:pathLst>
                <a:path w="4018279" h="2024379">
                  <a:moveTo>
                    <a:pt x="3962566" y="0"/>
                  </a:moveTo>
                  <a:lnTo>
                    <a:pt x="55204" y="0"/>
                  </a:lnTo>
                  <a:lnTo>
                    <a:pt x="33802" y="4366"/>
                  </a:lnTo>
                  <a:lnTo>
                    <a:pt x="16245" y="16245"/>
                  </a:lnTo>
                  <a:lnTo>
                    <a:pt x="4366" y="33802"/>
                  </a:lnTo>
                  <a:lnTo>
                    <a:pt x="0" y="55204"/>
                  </a:lnTo>
                  <a:lnTo>
                    <a:pt x="0" y="1969174"/>
                  </a:lnTo>
                  <a:lnTo>
                    <a:pt x="4366" y="1990576"/>
                  </a:lnTo>
                  <a:lnTo>
                    <a:pt x="16245" y="2008134"/>
                  </a:lnTo>
                  <a:lnTo>
                    <a:pt x="33802" y="2020012"/>
                  </a:lnTo>
                  <a:lnTo>
                    <a:pt x="55204" y="2024379"/>
                  </a:lnTo>
                  <a:lnTo>
                    <a:pt x="3962566" y="2024379"/>
                  </a:lnTo>
                  <a:lnTo>
                    <a:pt x="3983968" y="2020012"/>
                  </a:lnTo>
                  <a:lnTo>
                    <a:pt x="4001526" y="2008134"/>
                  </a:lnTo>
                  <a:lnTo>
                    <a:pt x="4013404" y="1990576"/>
                  </a:lnTo>
                  <a:lnTo>
                    <a:pt x="4017772" y="1969174"/>
                  </a:lnTo>
                  <a:lnTo>
                    <a:pt x="4017772" y="55204"/>
                  </a:lnTo>
                  <a:lnTo>
                    <a:pt x="4013404" y="33802"/>
                  </a:lnTo>
                  <a:lnTo>
                    <a:pt x="4001526" y="16245"/>
                  </a:lnTo>
                  <a:lnTo>
                    <a:pt x="3983968" y="4366"/>
                  </a:lnTo>
                  <a:lnTo>
                    <a:pt x="3962566" y="0"/>
                  </a:lnTo>
                  <a:close/>
                </a:path>
              </a:pathLst>
            </a:custGeom>
            <a:solidFill>
              <a:srgbClr val="99A9BD">
                <a:alpha val="2196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863840" y="4151375"/>
              <a:ext cx="4005579" cy="2011680"/>
            </a:xfrm>
            <a:custGeom>
              <a:avLst/>
              <a:gdLst/>
              <a:ahLst/>
              <a:cxnLst/>
              <a:rect l="l" t="t" r="r" b="b"/>
              <a:pathLst>
                <a:path w="4005579" h="2011679">
                  <a:moveTo>
                    <a:pt x="3950213" y="0"/>
                  </a:moveTo>
                  <a:lnTo>
                    <a:pt x="54858" y="0"/>
                  </a:lnTo>
                  <a:lnTo>
                    <a:pt x="33590" y="4339"/>
                  </a:lnTo>
                  <a:lnTo>
                    <a:pt x="16143" y="16143"/>
                  </a:lnTo>
                  <a:lnTo>
                    <a:pt x="4339" y="33590"/>
                  </a:lnTo>
                  <a:lnTo>
                    <a:pt x="0" y="54858"/>
                  </a:lnTo>
                  <a:lnTo>
                    <a:pt x="0" y="1956821"/>
                  </a:lnTo>
                  <a:lnTo>
                    <a:pt x="4339" y="1978089"/>
                  </a:lnTo>
                  <a:lnTo>
                    <a:pt x="16143" y="1995536"/>
                  </a:lnTo>
                  <a:lnTo>
                    <a:pt x="33590" y="2007340"/>
                  </a:lnTo>
                  <a:lnTo>
                    <a:pt x="54858" y="2011679"/>
                  </a:lnTo>
                  <a:lnTo>
                    <a:pt x="3950213" y="2011679"/>
                  </a:lnTo>
                  <a:lnTo>
                    <a:pt x="3971481" y="2007340"/>
                  </a:lnTo>
                  <a:lnTo>
                    <a:pt x="3988928" y="1995536"/>
                  </a:lnTo>
                  <a:lnTo>
                    <a:pt x="4000732" y="1978089"/>
                  </a:lnTo>
                  <a:lnTo>
                    <a:pt x="4005072" y="1956821"/>
                  </a:lnTo>
                  <a:lnTo>
                    <a:pt x="4005072" y="54858"/>
                  </a:lnTo>
                  <a:lnTo>
                    <a:pt x="4000732" y="33590"/>
                  </a:lnTo>
                  <a:lnTo>
                    <a:pt x="3988928" y="16143"/>
                  </a:lnTo>
                  <a:lnTo>
                    <a:pt x="3971481" y="4339"/>
                  </a:lnTo>
                  <a:lnTo>
                    <a:pt x="3950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863840" y="4151375"/>
              <a:ext cx="4005579" cy="2011680"/>
            </a:xfrm>
            <a:custGeom>
              <a:avLst/>
              <a:gdLst/>
              <a:ahLst/>
              <a:cxnLst/>
              <a:rect l="l" t="t" r="r" b="b"/>
              <a:pathLst>
                <a:path w="4005579" h="2011679">
                  <a:moveTo>
                    <a:pt x="0" y="54858"/>
                  </a:moveTo>
                  <a:lnTo>
                    <a:pt x="4339" y="33590"/>
                  </a:lnTo>
                  <a:lnTo>
                    <a:pt x="16143" y="16143"/>
                  </a:lnTo>
                  <a:lnTo>
                    <a:pt x="33590" y="4339"/>
                  </a:lnTo>
                  <a:lnTo>
                    <a:pt x="54858" y="0"/>
                  </a:lnTo>
                  <a:lnTo>
                    <a:pt x="3950213" y="0"/>
                  </a:lnTo>
                  <a:lnTo>
                    <a:pt x="3971481" y="4339"/>
                  </a:lnTo>
                  <a:lnTo>
                    <a:pt x="3988928" y="16143"/>
                  </a:lnTo>
                  <a:lnTo>
                    <a:pt x="4000732" y="33590"/>
                  </a:lnTo>
                  <a:lnTo>
                    <a:pt x="4005072" y="54858"/>
                  </a:lnTo>
                  <a:lnTo>
                    <a:pt x="4005072" y="1956821"/>
                  </a:lnTo>
                  <a:lnTo>
                    <a:pt x="4000732" y="1978089"/>
                  </a:lnTo>
                  <a:lnTo>
                    <a:pt x="3988928" y="1995536"/>
                  </a:lnTo>
                  <a:lnTo>
                    <a:pt x="3971481" y="2007340"/>
                  </a:lnTo>
                  <a:lnTo>
                    <a:pt x="3950213" y="2011679"/>
                  </a:lnTo>
                  <a:lnTo>
                    <a:pt x="54858" y="2011679"/>
                  </a:lnTo>
                  <a:lnTo>
                    <a:pt x="33590" y="2007340"/>
                  </a:lnTo>
                  <a:lnTo>
                    <a:pt x="16143" y="1995536"/>
                  </a:lnTo>
                  <a:lnTo>
                    <a:pt x="4339" y="1978089"/>
                  </a:lnTo>
                  <a:lnTo>
                    <a:pt x="0" y="1956821"/>
                  </a:lnTo>
                  <a:lnTo>
                    <a:pt x="0" y="54858"/>
                  </a:lnTo>
                  <a:close/>
                </a:path>
              </a:pathLst>
            </a:custGeom>
            <a:ln w="12699">
              <a:solidFill>
                <a:srgbClr val="C6D6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63840" y="4151375"/>
              <a:ext cx="50800" cy="2011680"/>
            </a:xfrm>
            <a:custGeom>
              <a:avLst/>
              <a:gdLst/>
              <a:ahLst/>
              <a:cxnLst/>
              <a:rect l="l" t="t" r="r" b="b"/>
              <a:pathLst>
                <a:path w="50800" h="2011679">
                  <a:moveTo>
                    <a:pt x="50292" y="0"/>
                  </a:moveTo>
                  <a:lnTo>
                    <a:pt x="0" y="0"/>
                  </a:lnTo>
                  <a:lnTo>
                    <a:pt x="0" y="2011679"/>
                  </a:lnTo>
                  <a:lnTo>
                    <a:pt x="50292" y="2011679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101583" y="4211928"/>
            <a:ext cx="26701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STANDARDS</a:t>
            </a:r>
            <a:r>
              <a:rPr sz="1300" b="1" spc="-50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&amp;</a:t>
            </a:r>
            <a:r>
              <a:rPr sz="1300" b="1" spc="-4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7720C"/>
                </a:solidFill>
                <a:latin typeface="Calibri"/>
                <a:cs typeface="Calibri"/>
              </a:rPr>
              <a:t>COMPLIANCE</a:t>
            </a:r>
            <a:r>
              <a:rPr sz="1300" b="1" spc="-45" dirty="0">
                <a:solidFill>
                  <a:srgbClr val="E7720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E7720C"/>
                </a:solidFill>
                <a:latin typeface="Calibri"/>
                <a:cs typeface="Calibri"/>
              </a:rPr>
              <a:t>PRACTICE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138159" y="4486045"/>
            <a:ext cx="3515995" cy="10033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340"/>
              </a:spcBef>
              <a:buChar char="•"/>
              <a:tabLst>
                <a:tab pos="342265" algn="l"/>
              </a:tabLst>
            </a:pP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Declarations, font-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size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placement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norms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per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PC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Rules,</a:t>
            </a:r>
            <a:r>
              <a:rPr sz="950" spc="-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2011.</a:t>
            </a:r>
            <a:endParaRPr sz="950">
              <a:latin typeface="Calibri"/>
              <a:cs typeface="Calibri"/>
            </a:endParaRPr>
          </a:p>
          <a:p>
            <a:pPr marL="342900" marR="213360" indent="-342900">
              <a:lnSpc>
                <a:spcPts val="1080"/>
              </a:lnSpc>
              <a:spcBef>
                <a:spcPts val="330"/>
              </a:spcBef>
              <a:buChar char="•"/>
              <a:tabLst>
                <a:tab pos="342900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Evidence</a:t>
            </a:r>
            <a:r>
              <a:rPr sz="950" spc="-4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handling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aligned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with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enforcement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record-keeping practice.</a:t>
            </a:r>
            <a:endParaRPr sz="950">
              <a:latin typeface="Calibri"/>
              <a:cs typeface="Calibri"/>
            </a:endParaRPr>
          </a:p>
          <a:p>
            <a:pPr marL="342900" marR="158115" indent="-342900">
              <a:lnSpc>
                <a:spcPts val="1080"/>
              </a:lnSpc>
              <a:spcBef>
                <a:spcPts val="305"/>
              </a:spcBef>
              <a:buChar char="•"/>
              <a:tabLst>
                <a:tab pos="342900" algn="l"/>
              </a:tabLst>
            </a:pP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Role-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based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access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and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audit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logging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for</a:t>
            </a:r>
            <a:r>
              <a:rPr sz="950" spc="-2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admissible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inspection records.</a:t>
            </a:r>
            <a:endParaRPr sz="95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spcBef>
                <a:spcPts val="220"/>
              </a:spcBef>
              <a:buChar char="•"/>
              <a:tabLst>
                <a:tab pos="342265" algn="l"/>
              </a:tabLst>
            </a:pP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Versioned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rules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mapped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amendment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A3544"/>
                </a:solidFill>
                <a:latin typeface="Calibri"/>
                <a:cs typeface="Calibri"/>
              </a:rPr>
              <a:t>effective</a:t>
            </a:r>
            <a:r>
              <a:rPr sz="950" spc="-15" dirty="0">
                <a:solidFill>
                  <a:srgbClr val="2A3544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A3544"/>
                </a:solidFill>
                <a:latin typeface="Calibri"/>
                <a:cs typeface="Calibri"/>
              </a:rPr>
              <a:t>dates.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sp>
          <p:nvSpPr>
            <p:cNvPr id="58" name="object 58"/>
            <p:cNvSpPr/>
            <p:nvPr/>
          </p:nvSpPr>
          <p:spPr>
            <a:xfrm>
              <a:off x="0" y="635507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169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1694" y="45720"/>
                  </a:lnTo>
                  <a:lnTo>
                    <a:pt x="12191694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6355079"/>
              <a:ext cx="6099175" cy="45720"/>
            </a:xfrm>
            <a:custGeom>
              <a:avLst/>
              <a:gdLst/>
              <a:ahLst/>
              <a:cxnLst/>
              <a:rect l="l" t="t" r="r" b="b"/>
              <a:pathLst>
                <a:path w="6099175" h="45720">
                  <a:moveTo>
                    <a:pt x="609904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99048" y="4572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1F8A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06240" y="6400799"/>
              <a:ext cx="7985759" cy="457200"/>
            </a:xfrm>
            <a:custGeom>
              <a:avLst/>
              <a:gdLst/>
              <a:ahLst/>
              <a:cxnLst/>
              <a:rect l="l" t="t" r="r" b="b"/>
              <a:pathLst>
                <a:path w="7985759" h="457200">
                  <a:moveTo>
                    <a:pt x="0" y="457200"/>
                  </a:moveTo>
                  <a:lnTo>
                    <a:pt x="7985454" y="457200"/>
                  </a:lnTo>
                  <a:lnTo>
                    <a:pt x="798545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0" y="6400799"/>
              <a:ext cx="4206240" cy="457200"/>
            </a:xfrm>
            <a:custGeom>
              <a:avLst/>
              <a:gdLst/>
              <a:ahLst/>
              <a:cxnLst/>
              <a:rect l="l" t="t" r="r" b="b"/>
              <a:pathLst>
                <a:path w="4206240" h="457200">
                  <a:moveTo>
                    <a:pt x="420624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206240" y="4572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1F4D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1430000" y="6473951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7" y="0"/>
                  </a:moveTo>
                  <a:lnTo>
                    <a:pt x="106535" y="7980"/>
                  </a:lnTo>
                  <a:lnTo>
                    <a:pt x="63890" y="30158"/>
                  </a:lnTo>
                  <a:lnTo>
                    <a:pt x="30158" y="63890"/>
                  </a:lnTo>
                  <a:lnTo>
                    <a:pt x="7980" y="106535"/>
                  </a:lnTo>
                  <a:lnTo>
                    <a:pt x="0" y="155448"/>
                  </a:lnTo>
                  <a:lnTo>
                    <a:pt x="7980" y="204360"/>
                  </a:lnTo>
                  <a:lnTo>
                    <a:pt x="30158" y="247004"/>
                  </a:lnTo>
                  <a:lnTo>
                    <a:pt x="63890" y="280737"/>
                  </a:lnTo>
                  <a:lnTo>
                    <a:pt x="106535" y="302915"/>
                  </a:lnTo>
                  <a:lnTo>
                    <a:pt x="155447" y="310896"/>
                  </a:lnTo>
                  <a:lnTo>
                    <a:pt x="204360" y="302915"/>
                  </a:lnTo>
                  <a:lnTo>
                    <a:pt x="247004" y="280737"/>
                  </a:lnTo>
                  <a:lnTo>
                    <a:pt x="280737" y="247004"/>
                  </a:lnTo>
                  <a:lnTo>
                    <a:pt x="302915" y="204360"/>
                  </a:lnTo>
                  <a:lnTo>
                    <a:pt x="310895" y="155448"/>
                  </a:lnTo>
                  <a:lnTo>
                    <a:pt x="302915" y="106535"/>
                  </a:lnTo>
                  <a:lnTo>
                    <a:pt x="280737" y="63890"/>
                  </a:lnTo>
                  <a:lnTo>
                    <a:pt x="247004" y="30158"/>
                  </a:lnTo>
                  <a:lnTo>
                    <a:pt x="204360" y="7980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772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VALIDRA</a:t>
            </a:r>
            <a:r>
              <a:rPr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8EB3D8"/>
                </a:solidFill>
              </a:rPr>
              <a:t>|</a:t>
            </a:r>
            <a:r>
              <a:rPr spc="480" dirty="0">
                <a:solidFill>
                  <a:srgbClr val="8EB3D8"/>
                </a:solidFill>
              </a:rPr>
              <a:t> </a:t>
            </a:r>
            <a:r>
              <a:rPr dirty="0"/>
              <a:t>Team</a:t>
            </a:r>
            <a:r>
              <a:rPr spc="-10" dirty="0"/>
              <a:t> VisionMinds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xfrm>
            <a:off x="5426779" y="6558863"/>
            <a:ext cx="4505325" cy="143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5"/>
              </a:lnSpc>
            </a:pPr>
            <a:r>
              <a:rPr dirty="0"/>
              <a:t>@SIH</a:t>
            </a:r>
            <a:r>
              <a:rPr spc="-15" dirty="0"/>
              <a:t> </a:t>
            </a:r>
            <a:r>
              <a:rPr dirty="0"/>
              <a:t>Idea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PS</a:t>
            </a:r>
            <a:r>
              <a:rPr spc="-10" dirty="0"/>
              <a:t> </a:t>
            </a:r>
            <a:r>
              <a:rPr dirty="0"/>
              <a:t>26034</a:t>
            </a:r>
            <a:r>
              <a:rPr spc="470" dirty="0"/>
              <a:t> </a:t>
            </a:r>
            <a:r>
              <a:rPr dirty="0"/>
              <a:t>·</a:t>
            </a:r>
            <a:r>
              <a:rPr spc="470" dirty="0"/>
              <a:t> </a:t>
            </a:r>
            <a:r>
              <a:rPr dirty="0"/>
              <a:t>Legal</a:t>
            </a:r>
            <a:r>
              <a:rPr spc="-10" dirty="0"/>
              <a:t> </a:t>
            </a:r>
            <a:r>
              <a:rPr dirty="0"/>
              <a:t>Metrology</a:t>
            </a:r>
            <a:r>
              <a:rPr spc="-10" dirty="0"/>
              <a:t> Compliance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A1EF46B-75D2-6F0D-963A-2D5DE0327EBF}"/>
              </a:ext>
            </a:extLst>
          </p:cNvPr>
          <p:cNvSpPr/>
          <p:nvPr/>
        </p:nvSpPr>
        <p:spPr>
          <a:xfrm>
            <a:off x="10098935" y="77995"/>
            <a:ext cx="1832285" cy="503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BFF3509-DCA2-9CDC-9E9A-DC65141126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646" y="22037"/>
            <a:ext cx="1210481" cy="571566"/>
          </a:xfrm>
          <a:prstGeom prst="rect">
            <a:avLst/>
          </a:prstGeom>
        </p:spPr>
      </p:pic>
      <p:sp>
        <p:nvSpPr>
          <p:cNvPr id="68" name="Shape 22">
            <a:extLst>
              <a:ext uri="{FF2B5EF4-FFF2-40B4-BE49-F238E27FC236}">
                <a16:creationId xmlns:a16="http://schemas.microsoft.com/office/drawing/2014/main" id="{D4B7A1C7-86A3-92C0-D9F6-0C9D658A8384}"/>
              </a:ext>
            </a:extLst>
          </p:cNvPr>
          <p:cNvSpPr/>
          <p:nvPr/>
        </p:nvSpPr>
        <p:spPr>
          <a:xfrm>
            <a:off x="320040" y="4151376"/>
            <a:ext cx="3017520" cy="201168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12700">
            <a:solidFill>
              <a:srgbClr val="C7D6E8"/>
            </a:solidFill>
            <a:prstDash val="solid"/>
          </a:ln>
          <a:effectLst>
            <a:outerShdw blurRad="76200" dist="12700" dir="5400000" algn="bl" rotWithShape="0">
              <a:srgbClr val="9AA9BD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Shape 23">
            <a:extLst>
              <a:ext uri="{FF2B5EF4-FFF2-40B4-BE49-F238E27FC236}">
                <a16:creationId xmlns:a16="http://schemas.microsoft.com/office/drawing/2014/main" id="{DE1AB9B6-DEA7-D193-CCAB-2DB16F8ABCF1}"/>
              </a:ext>
            </a:extLst>
          </p:cNvPr>
          <p:cNvSpPr/>
          <p:nvPr/>
        </p:nvSpPr>
        <p:spPr>
          <a:xfrm>
            <a:off x="320040" y="4151376"/>
            <a:ext cx="50292" cy="2011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BF8166CD-0239-CD7D-B970-4671CCE19A07}"/>
              </a:ext>
            </a:extLst>
          </p:cNvPr>
          <p:cNvSpPr/>
          <p:nvPr/>
        </p:nvSpPr>
        <p:spPr>
          <a:xfrm>
            <a:off x="466344" y="4197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sz="1300" b="1">
                <a:solidFill>
                  <a:srgbClr val="1F3864"/>
                </a:solidFill>
                <a:latin typeface="Calibri"/>
              </a:rPr>
              <a:t>KEY RESEARCH TAKEAWAYS</a:t>
            </a:r>
            <a:endParaRPr lang="en-US" sz="1300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FD715339-A8CF-AF8E-F244-097F0A7E8826}"/>
              </a:ext>
            </a:extLst>
          </p:cNvPr>
          <p:cNvSpPr/>
          <p:nvPr/>
        </p:nvSpPr>
        <p:spPr>
          <a:xfrm>
            <a:off x="502920" y="452628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Rule-based verdicts outperform end-to-end LLMs on statutory checks.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Confidence gating is essential to keep OCR error out of decisions.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Citation-linked findings are what make AI output admissible.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A3644"/>
                </a:solidFill>
                <a:latin typeface="Calibri" pitchFamily="34" charset="0"/>
              </a:rPr>
              <a:t>Versioned rules absorb amendments without model retraining.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2" name="page-flip.wav"/>
          </p:stSnd>
        </p:sndAc>
      </p:transition>
    </mc:Choice>
    <mc:Fallback xmlns="">
      <p:transition spd="slow">
        <p:fade/>
        <p:sndAc>
          <p:stSnd>
            <p:snd r:embed="rId4" name="page-flip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1880</Words>
  <Application>Microsoft Office PowerPoint</Application>
  <PresentationFormat>Widescreen</PresentationFormat>
  <Paragraphs>302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Times New Roman</vt:lpstr>
      <vt:lpstr>Office Theme</vt:lpstr>
      <vt:lpstr>SMART INDIA HACKATHON 2026</vt:lpstr>
      <vt:lpstr>IDEA / PROPOSED SOLUTION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PATEL</cp:lastModifiedBy>
  <cp:revision>4</cp:revision>
  <dcterms:created xsi:type="dcterms:W3CDTF">2026-08-30T11:25:46Z</dcterms:created>
  <dcterms:modified xsi:type="dcterms:W3CDTF">2026-08-31T05:18:22Z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2026-08-30T00:00:00Z</vt:filetime>
  </property>
  <property fmtid="{D5CDD505-2E9C-101B-9397-08002B2CF9AE}" pid="6" name="Producer">
    <vt:lpwstr>www.smallpdf.com</vt:lpwstr>
  </property>
</Properties>
</file>